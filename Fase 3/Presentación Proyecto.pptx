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Merriweather" panose="00000500000000000000" pitchFamily="2" charset="0"/>
      <p:regular r:id="rId26"/>
    </p:embeddedFont>
    <p:embeddedFont>
      <p:font typeface="Merriweather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5.sv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5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image" Target="../media/image4.pn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3.svg"/><Relationship Id="rId15" Type="http://schemas.openxmlformats.org/officeDocument/2006/relationships/image" Target="../media/image23.sv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6.png"/><Relationship Id="rId4" Type="http://schemas.openxmlformats.org/officeDocument/2006/relationships/image" Target="../media/image3.sv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svg"/><Relationship Id="rId3" Type="http://schemas.openxmlformats.org/officeDocument/2006/relationships/image" Target="../media/image5.svg"/><Relationship Id="rId7" Type="http://schemas.openxmlformats.org/officeDocument/2006/relationships/image" Target="../media/image41.svg"/><Relationship Id="rId12" Type="http://schemas.openxmlformats.org/officeDocument/2006/relationships/image" Target="../media/image46.png"/><Relationship Id="rId2" Type="http://schemas.openxmlformats.org/officeDocument/2006/relationships/image" Target="../media/image4.pn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svg"/><Relationship Id="rId5" Type="http://schemas.openxmlformats.org/officeDocument/2006/relationships/image" Target="../media/image3.svg"/><Relationship Id="rId15" Type="http://schemas.openxmlformats.org/officeDocument/2006/relationships/image" Target="../media/image49.svg"/><Relationship Id="rId10" Type="http://schemas.openxmlformats.org/officeDocument/2006/relationships/image" Target="../media/image44.png"/><Relationship Id="rId4" Type="http://schemas.openxmlformats.org/officeDocument/2006/relationships/image" Target="../media/image2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.svg"/><Relationship Id="rId7" Type="http://schemas.openxmlformats.org/officeDocument/2006/relationships/image" Target="../media/image51.svg"/><Relationship Id="rId12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3.svg"/><Relationship Id="rId10" Type="http://schemas.openxmlformats.org/officeDocument/2006/relationships/image" Target="../media/image54.png"/><Relationship Id="rId4" Type="http://schemas.openxmlformats.org/officeDocument/2006/relationships/image" Target="../media/image2.png"/><Relationship Id="rId9" Type="http://schemas.openxmlformats.org/officeDocument/2006/relationships/image" Target="../media/image5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.png"/><Relationship Id="rId3" Type="http://schemas.openxmlformats.org/officeDocument/2006/relationships/image" Target="../media/image5.svg"/><Relationship Id="rId7" Type="http://schemas.openxmlformats.org/officeDocument/2006/relationships/image" Target="../media/image57.svg"/><Relationship Id="rId12" Type="http://schemas.openxmlformats.org/officeDocument/2006/relationships/image" Target="../media/image6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3.svg"/><Relationship Id="rId10" Type="http://schemas.openxmlformats.org/officeDocument/2006/relationships/image" Target="../media/image60.png"/><Relationship Id="rId4" Type="http://schemas.openxmlformats.org/officeDocument/2006/relationships/image" Target="../media/image2.png"/><Relationship Id="rId9" Type="http://schemas.openxmlformats.org/officeDocument/2006/relationships/image" Target="../media/image5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6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6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jpe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5.svg"/><Relationship Id="rId7" Type="http://schemas.openxmlformats.org/officeDocument/2006/relationships/image" Target="../media/image6.png"/><Relationship Id="rId12" Type="http://schemas.openxmlformats.org/officeDocument/2006/relationships/image" Target="../media/image69.png"/><Relationship Id="rId2" Type="http://schemas.openxmlformats.org/officeDocument/2006/relationships/image" Target="../media/image4.png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11" Type="http://schemas.openxmlformats.org/officeDocument/2006/relationships/image" Target="../media/image68.png"/><Relationship Id="rId5" Type="http://schemas.openxmlformats.org/officeDocument/2006/relationships/image" Target="../media/image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4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jpe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10287000"/>
            <a:chOff x="0" y="0"/>
            <a:chExt cx="812800" cy="914400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812800" cy="914400"/>
            </a:xfrm>
            <a:custGeom>
              <a:avLst/>
              <a:gdLst/>
              <a:ahLst/>
              <a:cxnLst/>
              <a:rect l="l" t="t" r="r" b="b"/>
              <a:pathLst>
                <a:path w="812800" h="914400">
                  <a:moveTo>
                    <a:pt x="812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812800" y="914400"/>
                  </a:lnTo>
                  <a:close/>
                </a:path>
              </a:pathLst>
            </a:custGeom>
            <a:blipFill>
              <a:blip r:embed="rId2"/>
              <a:stretch>
                <a:fillRect l="-63304" r="-555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949679" y="2593317"/>
            <a:ext cx="8265639" cy="5100365"/>
            <a:chOff x="0" y="0"/>
            <a:chExt cx="2176958" cy="13433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76959" cy="1343306"/>
            </a:xfrm>
            <a:custGeom>
              <a:avLst/>
              <a:gdLst/>
              <a:ahLst/>
              <a:cxnLst/>
              <a:rect l="l" t="t" r="r" b="b"/>
              <a:pathLst>
                <a:path w="2176959" h="1343306">
                  <a:moveTo>
                    <a:pt x="42149" y="0"/>
                  </a:moveTo>
                  <a:lnTo>
                    <a:pt x="2134810" y="0"/>
                  </a:lnTo>
                  <a:cubicBezTo>
                    <a:pt x="2145988" y="0"/>
                    <a:pt x="2156709" y="4441"/>
                    <a:pt x="2164614" y="12345"/>
                  </a:cubicBezTo>
                  <a:cubicBezTo>
                    <a:pt x="2172518" y="20250"/>
                    <a:pt x="2176959" y="30970"/>
                    <a:pt x="2176959" y="42149"/>
                  </a:cubicBezTo>
                  <a:lnTo>
                    <a:pt x="2176959" y="1301157"/>
                  </a:lnTo>
                  <a:cubicBezTo>
                    <a:pt x="2176959" y="1324435"/>
                    <a:pt x="2158088" y="1343306"/>
                    <a:pt x="2134810" y="1343306"/>
                  </a:cubicBezTo>
                  <a:lnTo>
                    <a:pt x="42149" y="1343306"/>
                  </a:lnTo>
                  <a:cubicBezTo>
                    <a:pt x="30970" y="1343306"/>
                    <a:pt x="20250" y="1338865"/>
                    <a:pt x="12345" y="1330961"/>
                  </a:cubicBezTo>
                  <a:cubicBezTo>
                    <a:pt x="4441" y="1323057"/>
                    <a:pt x="0" y="1312336"/>
                    <a:pt x="0" y="1301157"/>
                  </a:cubicBezTo>
                  <a:lnTo>
                    <a:pt x="0" y="42149"/>
                  </a:lnTo>
                  <a:cubicBezTo>
                    <a:pt x="0" y="30970"/>
                    <a:pt x="4441" y="20250"/>
                    <a:pt x="12345" y="12345"/>
                  </a:cubicBezTo>
                  <a:cubicBezTo>
                    <a:pt x="20250" y="4441"/>
                    <a:pt x="30970" y="0"/>
                    <a:pt x="42149" y="0"/>
                  </a:cubicBezTo>
                  <a:close/>
                </a:path>
              </a:pathLst>
            </a:custGeom>
            <a:solidFill>
              <a:srgbClr val="5B312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176958" cy="1400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1835434">
            <a:off x="17375001" y="5019606"/>
            <a:ext cx="1521585" cy="870835"/>
          </a:xfrm>
          <a:custGeom>
            <a:avLst/>
            <a:gdLst/>
            <a:ahLst/>
            <a:cxnLst/>
            <a:rect l="l" t="t" r="r" b="b"/>
            <a:pathLst>
              <a:path w="1521585" h="870835">
                <a:moveTo>
                  <a:pt x="0" y="0"/>
                </a:moveTo>
                <a:lnTo>
                  <a:pt x="1521585" y="0"/>
                </a:lnTo>
                <a:lnTo>
                  <a:pt x="1521585" y="870835"/>
                </a:lnTo>
                <a:lnTo>
                  <a:pt x="0" y="870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1513645">
            <a:off x="10796484" y="892873"/>
            <a:ext cx="1152477" cy="884526"/>
          </a:xfrm>
          <a:custGeom>
            <a:avLst/>
            <a:gdLst/>
            <a:ahLst/>
            <a:cxnLst/>
            <a:rect l="l" t="t" r="r" b="b"/>
            <a:pathLst>
              <a:path w="1152477" h="884526">
                <a:moveTo>
                  <a:pt x="0" y="0"/>
                </a:moveTo>
                <a:lnTo>
                  <a:pt x="1152477" y="0"/>
                </a:lnTo>
                <a:lnTo>
                  <a:pt x="1152477" y="884526"/>
                </a:lnTo>
                <a:lnTo>
                  <a:pt x="0" y="8845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 rot="-1998823">
            <a:off x="16375628" y="8779935"/>
            <a:ext cx="1246555" cy="956731"/>
          </a:xfrm>
          <a:custGeom>
            <a:avLst/>
            <a:gdLst/>
            <a:ahLst/>
            <a:cxnLst/>
            <a:rect l="l" t="t" r="r" b="b"/>
            <a:pathLst>
              <a:path w="1246555" h="956731">
                <a:moveTo>
                  <a:pt x="0" y="0"/>
                </a:moveTo>
                <a:lnTo>
                  <a:pt x="1246555" y="0"/>
                </a:lnTo>
                <a:lnTo>
                  <a:pt x="1246555" y="956730"/>
                </a:lnTo>
                <a:lnTo>
                  <a:pt x="0" y="9567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 rot="-1688704">
            <a:off x="8298275" y="9435356"/>
            <a:ext cx="1974488" cy="1130041"/>
          </a:xfrm>
          <a:custGeom>
            <a:avLst/>
            <a:gdLst/>
            <a:ahLst/>
            <a:cxnLst/>
            <a:rect l="l" t="t" r="r" b="b"/>
            <a:pathLst>
              <a:path w="1974488" h="1130041">
                <a:moveTo>
                  <a:pt x="0" y="0"/>
                </a:moveTo>
                <a:lnTo>
                  <a:pt x="1974489" y="0"/>
                </a:lnTo>
                <a:lnTo>
                  <a:pt x="1974489" y="1130041"/>
                </a:lnTo>
                <a:lnTo>
                  <a:pt x="0" y="11300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TextBox 12"/>
          <p:cNvSpPr txBox="1"/>
          <p:nvPr/>
        </p:nvSpPr>
        <p:spPr>
          <a:xfrm>
            <a:off x="8532458" y="5780764"/>
            <a:ext cx="6228660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Automatización del control llevado</a:t>
            </a:r>
          </a:p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sobre la vida de las mascotas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32458" y="4185532"/>
            <a:ext cx="6792382" cy="1510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6800" b="1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PetCare Pro Aplicación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13758">
            <a:off x="587717" y="947122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1420549">
            <a:off x="8037779" y="-462317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4"/>
                </a:lnTo>
                <a:lnTo>
                  <a:pt x="0" y="924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2606717">
            <a:off x="15864597" y="1419600"/>
            <a:ext cx="1472695" cy="842854"/>
          </a:xfrm>
          <a:custGeom>
            <a:avLst/>
            <a:gdLst/>
            <a:ahLst/>
            <a:cxnLst/>
            <a:rect l="l" t="t" r="r" b="b"/>
            <a:pathLst>
              <a:path w="1472695" h="842854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-1420549">
            <a:off x="1785409" y="9066543"/>
            <a:ext cx="1201388" cy="687580"/>
          </a:xfrm>
          <a:custGeom>
            <a:avLst/>
            <a:gdLst/>
            <a:ahLst/>
            <a:cxnLst/>
            <a:rect l="l" t="t" r="r" b="b"/>
            <a:pathLst>
              <a:path w="1201388" h="687580">
                <a:moveTo>
                  <a:pt x="0" y="0"/>
                </a:moveTo>
                <a:lnTo>
                  <a:pt x="1201388" y="0"/>
                </a:lnTo>
                <a:lnTo>
                  <a:pt x="1201388" y="687579"/>
                </a:lnTo>
                <a:lnTo>
                  <a:pt x="0" y="687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rot="-1998823">
            <a:off x="13768978" y="8622192"/>
            <a:ext cx="2509269" cy="1925864"/>
          </a:xfrm>
          <a:custGeom>
            <a:avLst/>
            <a:gdLst/>
            <a:ahLst/>
            <a:cxnLst/>
            <a:rect l="l" t="t" r="r" b="b"/>
            <a:pathLst>
              <a:path w="2509269" h="1925864">
                <a:moveTo>
                  <a:pt x="0" y="0"/>
                </a:moveTo>
                <a:lnTo>
                  <a:pt x="2509269" y="0"/>
                </a:lnTo>
                <a:lnTo>
                  <a:pt x="2509269" y="1925864"/>
                </a:lnTo>
                <a:lnTo>
                  <a:pt x="0" y="1925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rot="-2024627">
            <a:off x="-554037" y="8256975"/>
            <a:ext cx="1472695" cy="842854"/>
          </a:xfrm>
          <a:custGeom>
            <a:avLst/>
            <a:gdLst/>
            <a:ahLst/>
            <a:cxnLst/>
            <a:rect l="l" t="t" r="r" b="b"/>
            <a:pathLst>
              <a:path w="1472695" h="842854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8" name="Group 8"/>
          <p:cNvGrpSpPr/>
          <p:nvPr/>
        </p:nvGrpSpPr>
        <p:grpSpPr>
          <a:xfrm>
            <a:off x="1906275" y="3634033"/>
            <a:ext cx="4476750" cy="5624267"/>
            <a:chOff x="0" y="0"/>
            <a:chExt cx="5969000" cy="7499022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5969000" cy="7499022"/>
              <a:chOff x="0" y="0"/>
              <a:chExt cx="1179091" cy="148136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179091" cy="1481364"/>
              </a:xfrm>
              <a:custGeom>
                <a:avLst/>
                <a:gdLst/>
                <a:ahLst/>
                <a:cxnLst/>
                <a:rect l="l" t="t" r="r" b="b"/>
                <a:pathLst>
                  <a:path w="1179091" h="1481364">
                    <a:moveTo>
                      <a:pt x="1179091" y="60528"/>
                    </a:moveTo>
                    <a:lnTo>
                      <a:pt x="1179091" y="1420837"/>
                    </a:lnTo>
                    <a:cubicBezTo>
                      <a:pt x="1179091" y="1454265"/>
                      <a:pt x="1151992" y="1481364"/>
                      <a:pt x="1118563" y="1481364"/>
                    </a:cubicBezTo>
                    <a:lnTo>
                      <a:pt x="60528" y="1481364"/>
                    </a:lnTo>
                    <a:cubicBezTo>
                      <a:pt x="27099" y="1481364"/>
                      <a:pt x="0" y="1454265"/>
                      <a:pt x="0" y="1420837"/>
                    </a:cubicBezTo>
                    <a:lnTo>
                      <a:pt x="0" y="60528"/>
                    </a:lnTo>
                    <a:cubicBezTo>
                      <a:pt x="0" y="27099"/>
                      <a:pt x="27099" y="0"/>
                      <a:pt x="60528" y="0"/>
                    </a:cubicBezTo>
                    <a:lnTo>
                      <a:pt x="1118563" y="0"/>
                    </a:lnTo>
                    <a:cubicBezTo>
                      <a:pt x="1134616" y="0"/>
                      <a:pt x="1150011" y="6377"/>
                      <a:pt x="1161363" y="17728"/>
                    </a:cubicBezTo>
                    <a:cubicBezTo>
                      <a:pt x="1172714" y="29079"/>
                      <a:pt x="1179091" y="44475"/>
                      <a:pt x="1179091" y="60528"/>
                    </a:cubicBezTo>
                    <a:close/>
                  </a:path>
                </a:pathLst>
              </a:custGeom>
              <a:solidFill>
                <a:srgbClr val="5B3121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57150"/>
                <a:ext cx="1179091" cy="15385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831492" y="762307"/>
              <a:ext cx="4306016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FFFFF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Christopher Pineda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90911" y="1557327"/>
              <a:ext cx="112776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Cargo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2508" y="3215773"/>
              <a:ext cx="4723985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Funciones desempeñadas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75866" y="2129513"/>
              <a:ext cx="3817269" cy="8163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76"/>
                </a:lnSpc>
              </a:pPr>
              <a:r>
                <a:rPr lang="en-US" sz="1769" b="1">
                  <a:solidFill>
                    <a:srgbClr val="FFFFFF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Project Manager</a:t>
              </a:r>
              <a:r>
                <a:rPr lang="en-US" sz="1769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 y Desarrollador Full Stack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8586" y="3957453"/>
              <a:ext cx="5312410" cy="2920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520"/>
                </a:lnSpc>
                <a:buFont typeface="Arial"/>
                <a:buChar char="•"/>
              </a:pPr>
              <a:r>
                <a:rPr lang="en-US" sz="1800" b="1" u="sng">
                  <a:solidFill>
                    <a:srgbClr val="FFFFFF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Planificar y organizar las actividades del proyecto.</a:t>
              </a:r>
            </a:p>
            <a:p>
              <a:pPr marL="388620" lvl="1" indent="-194310" algn="l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Desarrollo frontend y backend de la aplicación web responsiva con React, Vite y TailwindCSS, integrados con Supabase.</a:t>
              </a:r>
            </a:p>
            <a:p>
              <a:pPr marL="388620" lvl="1" indent="-194310" algn="l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Documentador.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905625" y="3634033"/>
            <a:ext cx="4476750" cy="5624267"/>
            <a:chOff x="0" y="0"/>
            <a:chExt cx="5969000" cy="7499022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5969000" cy="7499022"/>
              <a:chOff x="0" y="0"/>
              <a:chExt cx="1179091" cy="148136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179091" cy="1481364"/>
              </a:xfrm>
              <a:custGeom>
                <a:avLst/>
                <a:gdLst/>
                <a:ahLst/>
                <a:cxnLst/>
                <a:rect l="l" t="t" r="r" b="b"/>
                <a:pathLst>
                  <a:path w="1179091" h="1481364">
                    <a:moveTo>
                      <a:pt x="1179091" y="60528"/>
                    </a:moveTo>
                    <a:lnTo>
                      <a:pt x="1179091" y="1420837"/>
                    </a:lnTo>
                    <a:cubicBezTo>
                      <a:pt x="1179091" y="1454265"/>
                      <a:pt x="1151992" y="1481364"/>
                      <a:pt x="1118563" y="1481364"/>
                    </a:cubicBezTo>
                    <a:lnTo>
                      <a:pt x="60528" y="1481364"/>
                    </a:lnTo>
                    <a:cubicBezTo>
                      <a:pt x="27099" y="1481364"/>
                      <a:pt x="0" y="1454265"/>
                      <a:pt x="0" y="1420837"/>
                    </a:cubicBezTo>
                    <a:lnTo>
                      <a:pt x="0" y="60528"/>
                    </a:lnTo>
                    <a:cubicBezTo>
                      <a:pt x="0" y="27099"/>
                      <a:pt x="27099" y="0"/>
                      <a:pt x="60528" y="0"/>
                    </a:cubicBezTo>
                    <a:lnTo>
                      <a:pt x="1118563" y="0"/>
                    </a:lnTo>
                    <a:cubicBezTo>
                      <a:pt x="1134616" y="0"/>
                      <a:pt x="1150011" y="6377"/>
                      <a:pt x="1161363" y="17728"/>
                    </a:cubicBezTo>
                    <a:cubicBezTo>
                      <a:pt x="1172714" y="29079"/>
                      <a:pt x="1179091" y="44475"/>
                      <a:pt x="1179091" y="60528"/>
                    </a:cubicBezTo>
                    <a:close/>
                  </a:path>
                </a:pathLst>
              </a:custGeom>
              <a:solidFill>
                <a:srgbClr val="5B3121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57150"/>
                <a:ext cx="1179091" cy="15385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620635" y="762307"/>
              <a:ext cx="472773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FFFFF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Alessandra Arriagada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60625" y="1557327"/>
              <a:ext cx="104775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Cargo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215" y="3215773"/>
              <a:ext cx="456057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Funciones desempeñadas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42531" y="2129513"/>
              <a:ext cx="2883938" cy="8163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76"/>
                </a:lnSpc>
              </a:pPr>
              <a:r>
                <a:rPr lang="en-US" sz="1769" b="1">
                  <a:solidFill>
                    <a:srgbClr val="FFFFFF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QA</a:t>
              </a:r>
              <a:r>
                <a:rPr lang="en-US" sz="1769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 y Desarrollador Full Stack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6390" y="3957453"/>
              <a:ext cx="5312410" cy="2920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520"/>
                </a:lnSpc>
                <a:buFont typeface="Arial"/>
                <a:buChar char="•"/>
              </a:pPr>
              <a:r>
                <a:rPr lang="en-US" sz="1800" b="1" u="sng">
                  <a:solidFill>
                    <a:srgbClr val="FFFFFF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Pruebas de seguridad con Postman.</a:t>
              </a:r>
            </a:p>
            <a:p>
              <a:pPr marL="388620" lvl="1" indent="-194310" algn="l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Desarrollo frontend y backend de la aplicación web responsiva con React, Vite y TailwindCSS, integrados con Supabase.</a:t>
              </a:r>
            </a:p>
            <a:p>
              <a:pPr marL="388620" lvl="1" indent="-194310" algn="l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Documentador.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906250" y="2123001"/>
            <a:ext cx="4476750" cy="7135299"/>
            <a:chOff x="0" y="0"/>
            <a:chExt cx="5969000" cy="9513732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2014710"/>
              <a:ext cx="5969000" cy="7499022"/>
              <a:chOff x="0" y="0"/>
              <a:chExt cx="1179091" cy="1481364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79091" cy="1481364"/>
              </a:xfrm>
              <a:custGeom>
                <a:avLst/>
                <a:gdLst/>
                <a:ahLst/>
                <a:cxnLst/>
                <a:rect l="l" t="t" r="r" b="b"/>
                <a:pathLst>
                  <a:path w="1179091" h="1481364">
                    <a:moveTo>
                      <a:pt x="1179091" y="60528"/>
                    </a:moveTo>
                    <a:lnTo>
                      <a:pt x="1179091" y="1420837"/>
                    </a:lnTo>
                    <a:cubicBezTo>
                      <a:pt x="1179091" y="1454265"/>
                      <a:pt x="1151992" y="1481364"/>
                      <a:pt x="1118563" y="1481364"/>
                    </a:cubicBezTo>
                    <a:lnTo>
                      <a:pt x="60528" y="1481364"/>
                    </a:lnTo>
                    <a:cubicBezTo>
                      <a:pt x="27099" y="1481364"/>
                      <a:pt x="0" y="1454265"/>
                      <a:pt x="0" y="1420837"/>
                    </a:cubicBezTo>
                    <a:lnTo>
                      <a:pt x="0" y="60528"/>
                    </a:lnTo>
                    <a:cubicBezTo>
                      <a:pt x="0" y="27099"/>
                      <a:pt x="27099" y="0"/>
                      <a:pt x="60528" y="0"/>
                    </a:cubicBezTo>
                    <a:lnTo>
                      <a:pt x="1118563" y="0"/>
                    </a:lnTo>
                    <a:cubicBezTo>
                      <a:pt x="1134616" y="0"/>
                      <a:pt x="1150011" y="6377"/>
                      <a:pt x="1161363" y="17728"/>
                    </a:cubicBezTo>
                    <a:cubicBezTo>
                      <a:pt x="1172714" y="29079"/>
                      <a:pt x="1179091" y="44475"/>
                      <a:pt x="1179091" y="60528"/>
                    </a:cubicBezTo>
                    <a:close/>
                  </a:path>
                </a:pathLst>
              </a:custGeom>
              <a:solidFill>
                <a:srgbClr val="5B3121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57150"/>
                <a:ext cx="1179091" cy="15385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475415" y="2777017"/>
              <a:ext cx="501817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FFFFF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Cristóbal Méndez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30624" y="3572037"/>
              <a:ext cx="1107753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Cargo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4023" y="5230483"/>
              <a:ext cx="4840954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Funciones desempeñadas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7513" y="4144223"/>
              <a:ext cx="4033974" cy="8163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76"/>
                </a:lnSpc>
              </a:pPr>
              <a:r>
                <a:rPr lang="en-US" sz="1769" b="1">
                  <a:solidFill>
                    <a:srgbClr val="FFFFFF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Arquitecto de Software</a:t>
              </a:r>
              <a:r>
                <a:rPr lang="en-US" sz="1769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 y Desarrollador Full Stack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8188" y="5972163"/>
              <a:ext cx="5312625" cy="2920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520"/>
                </a:lnSpc>
                <a:buFont typeface="Arial"/>
                <a:buChar char="•"/>
              </a:pPr>
              <a:r>
                <a:rPr lang="en-US" sz="1800" b="1" u="sng">
                  <a:solidFill>
                    <a:srgbClr val="FFFFFF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Definición de la arquitectura de la aplicación.</a:t>
              </a:r>
            </a:p>
            <a:p>
              <a:pPr marL="388620" lvl="1" indent="-194310" algn="l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Desarrollo frontend y backend de la aplicación web responsiva con React, Vite y TailwindCSS, integrados con Supabase.</a:t>
              </a:r>
            </a:p>
            <a:p>
              <a:pPr marL="388620" lvl="1" indent="-194310" algn="l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Documentador.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2202792" y="0"/>
              <a:ext cx="1563416" cy="2756765"/>
              <a:chOff x="0" y="0"/>
              <a:chExt cx="6350000" cy="1119692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6350000" cy="11196929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11196929">
                    <a:moveTo>
                      <a:pt x="0" y="10629618"/>
                    </a:moveTo>
                    <a:lnTo>
                      <a:pt x="0" y="567311"/>
                    </a:lnTo>
                    <a:cubicBezTo>
                      <a:pt x="0" y="253797"/>
                      <a:pt x="215900" y="0"/>
                      <a:pt x="482600" y="0"/>
                    </a:cubicBezTo>
                    <a:lnTo>
                      <a:pt x="5867400" y="0"/>
                    </a:lnTo>
                    <a:cubicBezTo>
                      <a:pt x="6134100" y="0"/>
                      <a:pt x="6350000" y="255290"/>
                      <a:pt x="6350000" y="567311"/>
                    </a:cubicBezTo>
                    <a:lnTo>
                      <a:pt x="6350000" y="10629618"/>
                    </a:lnTo>
                    <a:cubicBezTo>
                      <a:pt x="6350000" y="10943132"/>
                      <a:pt x="6134100" y="11196929"/>
                      <a:pt x="5867400" y="11196929"/>
                    </a:cubicBezTo>
                    <a:lnTo>
                      <a:pt x="482600" y="11196929"/>
                    </a:lnTo>
                    <a:cubicBezTo>
                      <a:pt x="217170" y="11196929"/>
                      <a:pt x="0" y="10943132"/>
                      <a:pt x="0" y="10629618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t="-24701" b="-1325"/>
                </a:stretch>
              </a:blipFill>
            </p:spPr>
            <p:txBody>
              <a:bodyPr/>
              <a:lstStyle/>
              <a:p>
                <a:endParaRPr lang="es-CL"/>
              </a:p>
            </p:txBody>
          </p:sp>
        </p:grpSp>
      </p:grpSp>
      <p:sp>
        <p:nvSpPr>
          <p:cNvPr id="37" name="Freeform 37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8" name="Group 38"/>
          <p:cNvGrpSpPr/>
          <p:nvPr/>
        </p:nvGrpSpPr>
        <p:grpSpPr>
          <a:xfrm>
            <a:off x="8449050" y="2123001"/>
            <a:ext cx="1389899" cy="2084849"/>
            <a:chOff x="0" y="0"/>
            <a:chExt cx="6350000" cy="9525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8"/>
              <a:stretch>
                <a:fillRect l="-6181" r="-618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0" name="Freeform 40"/>
          <p:cNvSpPr/>
          <p:nvPr/>
        </p:nvSpPr>
        <p:spPr>
          <a:xfrm>
            <a:off x="3449819" y="2123001"/>
            <a:ext cx="1389662" cy="2084849"/>
          </a:xfrm>
          <a:custGeom>
            <a:avLst/>
            <a:gdLst/>
            <a:ahLst/>
            <a:cxnLst/>
            <a:rect l="l" t="t" r="r" b="b"/>
            <a:pathLst>
              <a:path w="1389662" h="2084849">
                <a:moveTo>
                  <a:pt x="0" y="0"/>
                </a:moveTo>
                <a:lnTo>
                  <a:pt x="1389662" y="0"/>
                </a:lnTo>
                <a:lnTo>
                  <a:pt x="1389662" y="2084848"/>
                </a:lnTo>
                <a:lnTo>
                  <a:pt x="0" y="20848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9174" t="-26973" r="-44744" b="-3648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1" name="TextBox 41"/>
          <p:cNvSpPr txBox="1"/>
          <p:nvPr/>
        </p:nvSpPr>
        <p:spPr>
          <a:xfrm>
            <a:off x="3689806" y="828675"/>
            <a:ext cx="10908388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Integrantes del proyecto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62701" y="1095375"/>
            <a:ext cx="12762599" cy="92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Descripción del proyecto</a:t>
            </a:r>
          </a:p>
        </p:txBody>
      </p:sp>
      <p:sp>
        <p:nvSpPr>
          <p:cNvPr id="3" name="Freeform 3"/>
          <p:cNvSpPr/>
          <p:nvPr/>
        </p:nvSpPr>
        <p:spPr>
          <a:xfrm rot="-1998823">
            <a:off x="13768978" y="8622192"/>
            <a:ext cx="2509269" cy="1925864"/>
          </a:xfrm>
          <a:custGeom>
            <a:avLst/>
            <a:gdLst/>
            <a:ahLst/>
            <a:cxnLst/>
            <a:rect l="l" t="t" r="r" b="b"/>
            <a:pathLst>
              <a:path w="2509269" h="1925864">
                <a:moveTo>
                  <a:pt x="0" y="0"/>
                </a:moveTo>
                <a:lnTo>
                  <a:pt x="2509269" y="0"/>
                </a:lnTo>
                <a:lnTo>
                  <a:pt x="2509269" y="1925864"/>
                </a:lnTo>
                <a:lnTo>
                  <a:pt x="0" y="1925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1813758">
            <a:off x="587717" y="947122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2667000" y="2620187"/>
            <a:ext cx="6477000" cy="6638113"/>
            <a:chOff x="0" y="0"/>
            <a:chExt cx="1705877" cy="1748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05876" cy="1748310"/>
            </a:xfrm>
            <a:custGeom>
              <a:avLst/>
              <a:gdLst/>
              <a:ahLst/>
              <a:cxnLst/>
              <a:rect l="l" t="t" r="r" b="b"/>
              <a:pathLst>
                <a:path w="1705876" h="1748310">
                  <a:moveTo>
                    <a:pt x="35859" y="0"/>
                  </a:moveTo>
                  <a:lnTo>
                    <a:pt x="1670018" y="0"/>
                  </a:lnTo>
                  <a:cubicBezTo>
                    <a:pt x="1679528" y="0"/>
                    <a:pt x="1688649" y="3778"/>
                    <a:pt x="1695374" y="10503"/>
                  </a:cubicBezTo>
                  <a:cubicBezTo>
                    <a:pt x="1702098" y="17228"/>
                    <a:pt x="1705876" y="26348"/>
                    <a:pt x="1705876" y="35859"/>
                  </a:cubicBezTo>
                  <a:lnTo>
                    <a:pt x="1705876" y="1712451"/>
                  </a:lnTo>
                  <a:cubicBezTo>
                    <a:pt x="1705876" y="1721961"/>
                    <a:pt x="1702098" y="1731082"/>
                    <a:pt x="1695374" y="1737807"/>
                  </a:cubicBezTo>
                  <a:cubicBezTo>
                    <a:pt x="1688649" y="1744532"/>
                    <a:pt x="1679528" y="1748310"/>
                    <a:pt x="1670018" y="1748310"/>
                  </a:cubicBezTo>
                  <a:lnTo>
                    <a:pt x="35859" y="1748310"/>
                  </a:lnTo>
                  <a:cubicBezTo>
                    <a:pt x="26348" y="1748310"/>
                    <a:pt x="17228" y="1744532"/>
                    <a:pt x="10503" y="1737807"/>
                  </a:cubicBezTo>
                  <a:cubicBezTo>
                    <a:pt x="3778" y="1731082"/>
                    <a:pt x="0" y="1721961"/>
                    <a:pt x="0" y="1712451"/>
                  </a:cubicBezTo>
                  <a:lnTo>
                    <a:pt x="0" y="35859"/>
                  </a:lnTo>
                  <a:cubicBezTo>
                    <a:pt x="0" y="26348"/>
                    <a:pt x="3778" y="17228"/>
                    <a:pt x="10503" y="10503"/>
                  </a:cubicBezTo>
                  <a:cubicBezTo>
                    <a:pt x="17228" y="3778"/>
                    <a:pt x="26348" y="0"/>
                    <a:pt x="35859" y="0"/>
                  </a:cubicBezTo>
                  <a:close/>
                </a:path>
              </a:pathLst>
            </a:custGeom>
            <a:solidFill>
              <a:srgbClr val="5B312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705877" cy="1814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2606717">
            <a:off x="15864597" y="1419600"/>
            <a:ext cx="1472695" cy="842854"/>
          </a:xfrm>
          <a:custGeom>
            <a:avLst/>
            <a:gdLst/>
            <a:ahLst/>
            <a:cxnLst/>
            <a:rect l="l" t="t" r="r" b="b"/>
            <a:pathLst>
              <a:path w="1472695" h="842854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 rot="-1420549">
            <a:off x="1378118" y="9241334"/>
            <a:ext cx="1201388" cy="687580"/>
          </a:xfrm>
          <a:custGeom>
            <a:avLst/>
            <a:gdLst/>
            <a:ahLst/>
            <a:cxnLst/>
            <a:rect l="l" t="t" r="r" b="b"/>
            <a:pathLst>
              <a:path w="1201388" h="687580">
                <a:moveTo>
                  <a:pt x="0" y="0"/>
                </a:moveTo>
                <a:lnTo>
                  <a:pt x="1201388" y="0"/>
                </a:lnTo>
                <a:lnTo>
                  <a:pt x="1201388" y="687580"/>
                </a:lnTo>
                <a:lnTo>
                  <a:pt x="0" y="68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 rot="-1420549">
            <a:off x="8037779" y="-462317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4"/>
                </a:lnTo>
                <a:lnTo>
                  <a:pt x="0" y="924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3048000" y="5095875"/>
            <a:ext cx="5715000" cy="2920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Las rutinas de cuidado de las mascotas suelen quedar desordenadas o se olvidan, afectando su salud y complicando la gestión municipal bajo la Ley de Tenencia Responsable.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10299" y="5095875"/>
            <a:ext cx="5715000" cy="208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Una aplicación web responsiva que permita a los usuarios gestionar y monitorear el cumplimiento de las obligaciones asociadas a la tenencia responsable de sus mascotas.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74291" y="3358140"/>
            <a:ext cx="353924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Problema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71025" y="3358140"/>
            <a:ext cx="353924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B0A0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Solución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sp>
        <p:nvSpPr>
          <p:cNvPr id="16" name="Freeform 16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19705" y="1076325"/>
            <a:ext cx="6172788" cy="2479411"/>
            <a:chOff x="0" y="0"/>
            <a:chExt cx="1625755" cy="653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5755" cy="653014"/>
            </a:xfrm>
            <a:custGeom>
              <a:avLst/>
              <a:gdLst/>
              <a:ahLst/>
              <a:cxnLst/>
              <a:rect l="l" t="t" r="r" b="b"/>
              <a:pathLst>
                <a:path w="1625755" h="653014">
                  <a:moveTo>
                    <a:pt x="56439" y="0"/>
                  </a:moveTo>
                  <a:lnTo>
                    <a:pt x="1569316" y="0"/>
                  </a:lnTo>
                  <a:cubicBezTo>
                    <a:pt x="1600486" y="0"/>
                    <a:pt x="1625755" y="25269"/>
                    <a:pt x="1625755" y="56439"/>
                  </a:cubicBezTo>
                  <a:lnTo>
                    <a:pt x="1625755" y="596575"/>
                  </a:lnTo>
                  <a:cubicBezTo>
                    <a:pt x="1625755" y="627745"/>
                    <a:pt x="1600486" y="653014"/>
                    <a:pt x="1569316" y="653014"/>
                  </a:cubicBezTo>
                  <a:lnTo>
                    <a:pt x="56439" y="653014"/>
                  </a:lnTo>
                  <a:cubicBezTo>
                    <a:pt x="25269" y="653014"/>
                    <a:pt x="0" y="627745"/>
                    <a:pt x="0" y="596575"/>
                  </a:cubicBezTo>
                  <a:lnTo>
                    <a:pt x="0" y="56439"/>
                  </a:lnTo>
                  <a:cubicBezTo>
                    <a:pt x="0" y="25269"/>
                    <a:pt x="25269" y="0"/>
                    <a:pt x="56439" y="0"/>
                  </a:cubicBezTo>
                  <a:close/>
                </a:path>
              </a:pathLst>
            </a:custGeom>
            <a:solidFill>
              <a:srgbClr val="5B312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25755" cy="710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199481" y="1597007"/>
            <a:ext cx="6614031" cy="3252566"/>
            <a:chOff x="0" y="0"/>
            <a:chExt cx="1004918" cy="4941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04918" cy="494186"/>
            </a:xfrm>
            <a:custGeom>
              <a:avLst/>
              <a:gdLst/>
              <a:ahLst/>
              <a:cxnLst/>
              <a:rect l="l" t="t" r="r" b="b"/>
              <a:pathLst>
                <a:path w="1004918" h="494186">
                  <a:moveTo>
                    <a:pt x="52674" y="0"/>
                  </a:moveTo>
                  <a:lnTo>
                    <a:pt x="952244" y="0"/>
                  </a:lnTo>
                  <a:cubicBezTo>
                    <a:pt x="966214" y="0"/>
                    <a:pt x="979612" y="5550"/>
                    <a:pt x="989490" y="15428"/>
                  </a:cubicBezTo>
                  <a:cubicBezTo>
                    <a:pt x="999368" y="25306"/>
                    <a:pt x="1004918" y="38704"/>
                    <a:pt x="1004918" y="52674"/>
                  </a:cubicBezTo>
                  <a:lnTo>
                    <a:pt x="1004918" y="441512"/>
                  </a:lnTo>
                  <a:cubicBezTo>
                    <a:pt x="1004918" y="455482"/>
                    <a:pt x="999368" y="468880"/>
                    <a:pt x="989490" y="478758"/>
                  </a:cubicBezTo>
                  <a:cubicBezTo>
                    <a:pt x="979612" y="488636"/>
                    <a:pt x="966214" y="494186"/>
                    <a:pt x="952244" y="494186"/>
                  </a:cubicBezTo>
                  <a:lnTo>
                    <a:pt x="52674" y="494186"/>
                  </a:lnTo>
                  <a:cubicBezTo>
                    <a:pt x="38704" y="494186"/>
                    <a:pt x="25306" y="488636"/>
                    <a:pt x="15428" y="478758"/>
                  </a:cubicBezTo>
                  <a:cubicBezTo>
                    <a:pt x="5550" y="468880"/>
                    <a:pt x="0" y="455482"/>
                    <a:pt x="0" y="441512"/>
                  </a:cubicBezTo>
                  <a:lnTo>
                    <a:pt x="0" y="52674"/>
                  </a:lnTo>
                  <a:cubicBezTo>
                    <a:pt x="0" y="38704"/>
                    <a:pt x="5550" y="25306"/>
                    <a:pt x="15428" y="15428"/>
                  </a:cubicBezTo>
                  <a:cubicBezTo>
                    <a:pt x="25306" y="5550"/>
                    <a:pt x="38704" y="0"/>
                    <a:pt x="52674" y="0"/>
                  </a:cubicBezTo>
                  <a:close/>
                </a:path>
              </a:pathLst>
            </a:custGeom>
            <a:blipFill>
              <a:blip r:embed="rId2"/>
              <a:stretch>
                <a:fillRect l="-18630" r="-42787" b="-11869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Freeform 7"/>
          <p:cNvSpPr/>
          <p:nvPr/>
        </p:nvSpPr>
        <p:spPr>
          <a:xfrm rot="-1205998">
            <a:off x="8029067" y="9470471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8" name="Group 8"/>
          <p:cNvGrpSpPr/>
          <p:nvPr/>
        </p:nvGrpSpPr>
        <p:grpSpPr>
          <a:xfrm>
            <a:off x="8521983" y="7274644"/>
            <a:ext cx="5762041" cy="2479411"/>
            <a:chOff x="0" y="0"/>
            <a:chExt cx="1517575" cy="6530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17575" cy="653014"/>
            </a:xfrm>
            <a:custGeom>
              <a:avLst/>
              <a:gdLst/>
              <a:ahLst/>
              <a:cxnLst/>
              <a:rect l="l" t="t" r="r" b="b"/>
              <a:pathLst>
                <a:path w="1517575" h="653014">
                  <a:moveTo>
                    <a:pt x="60462" y="0"/>
                  </a:moveTo>
                  <a:lnTo>
                    <a:pt x="1457112" y="0"/>
                  </a:lnTo>
                  <a:cubicBezTo>
                    <a:pt x="1490505" y="0"/>
                    <a:pt x="1517575" y="27070"/>
                    <a:pt x="1517575" y="60462"/>
                  </a:cubicBezTo>
                  <a:lnTo>
                    <a:pt x="1517575" y="592551"/>
                  </a:lnTo>
                  <a:cubicBezTo>
                    <a:pt x="1517575" y="625944"/>
                    <a:pt x="1490505" y="653014"/>
                    <a:pt x="1457112" y="653014"/>
                  </a:cubicBezTo>
                  <a:lnTo>
                    <a:pt x="60462" y="653014"/>
                  </a:lnTo>
                  <a:cubicBezTo>
                    <a:pt x="44427" y="653014"/>
                    <a:pt x="29048" y="646644"/>
                    <a:pt x="17709" y="635305"/>
                  </a:cubicBezTo>
                  <a:cubicBezTo>
                    <a:pt x="6370" y="623966"/>
                    <a:pt x="0" y="608587"/>
                    <a:pt x="0" y="592551"/>
                  </a:cubicBezTo>
                  <a:lnTo>
                    <a:pt x="0" y="60462"/>
                  </a:lnTo>
                  <a:cubicBezTo>
                    <a:pt x="0" y="44427"/>
                    <a:pt x="6370" y="29048"/>
                    <a:pt x="17709" y="17709"/>
                  </a:cubicBezTo>
                  <a:cubicBezTo>
                    <a:pt x="29048" y="6370"/>
                    <a:pt x="44427" y="0"/>
                    <a:pt x="60462" y="0"/>
                  </a:cubicBezTo>
                  <a:close/>
                </a:path>
              </a:pathLst>
            </a:custGeom>
            <a:solidFill>
              <a:srgbClr val="5B312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517575" cy="710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99481" y="5437428"/>
            <a:ext cx="6614031" cy="3252566"/>
            <a:chOff x="0" y="0"/>
            <a:chExt cx="1004918" cy="4941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4918" cy="494186"/>
            </a:xfrm>
            <a:custGeom>
              <a:avLst/>
              <a:gdLst/>
              <a:ahLst/>
              <a:cxnLst/>
              <a:rect l="l" t="t" r="r" b="b"/>
              <a:pathLst>
                <a:path w="1004918" h="494186">
                  <a:moveTo>
                    <a:pt x="52674" y="0"/>
                  </a:moveTo>
                  <a:lnTo>
                    <a:pt x="952244" y="0"/>
                  </a:lnTo>
                  <a:cubicBezTo>
                    <a:pt x="966214" y="0"/>
                    <a:pt x="979612" y="5550"/>
                    <a:pt x="989490" y="15428"/>
                  </a:cubicBezTo>
                  <a:cubicBezTo>
                    <a:pt x="999368" y="25306"/>
                    <a:pt x="1004918" y="38704"/>
                    <a:pt x="1004918" y="52674"/>
                  </a:cubicBezTo>
                  <a:lnTo>
                    <a:pt x="1004918" y="441512"/>
                  </a:lnTo>
                  <a:cubicBezTo>
                    <a:pt x="1004918" y="455482"/>
                    <a:pt x="999368" y="468880"/>
                    <a:pt x="989490" y="478758"/>
                  </a:cubicBezTo>
                  <a:cubicBezTo>
                    <a:pt x="979612" y="488636"/>
                    <a:pt x="966214" y="494186"/>
                    <a:pt x="952244" y="494186"/>
                  </a:cubicBezTo>
                  <a:lnTo>
                    <a:pt x="52674" y="494186"/>
                  </a:lnTo>
                  <a:cubicBezTo>
                    <a:pt x="38704" y="494186"/>
                    <a:pt x="25306" y="488636"/>
                    <a:pt x="15428" y="478758"/>
                  </a:cubicBezTo>
                  <a:cubicBezTo>
                    <a:pt x="5550" y="468880"/>
                    <a:pt x="0" y="455482"/>
                    <a:pt x="0" y="441512"/>
                  </a:cubicBezTo>
                  <a:lnTo>
                    <a:pt x="0" y="52674"/>
                  </a:lnTo>
                  <a:cubicBezTo>
                    <a:pt x="0" y="38704"/>
                    <a:pt x="5550" y="25306"/>
                    <a:pt x="15428" y="15428"/>
                  </a:cubicBezTo>
                  <a:cubicBezTo>
                    <a:pt x="25306" y="5550"/>
                    <a:pt x="38704" y="0"/>
                    <a:pt x="52674" y="0"/>
                  </a:cubicBezTo>
                  <a:close/>
                </a:path>
              </a:pathLst>
            </a:custGeom>
            <a:blipFill>
              <a:blip r:embed="rId2"/>
              <a:stretch>
                <a:fillRect l="-19723" t="-118090" r="-43471" b="-300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3" name="Freeform 13"/>
          <p:cNvSpPr/>
          <p:nvPr/>
        </p:nvSpPr>
        <p:spPr>
          <a:xfrm rot="-1825997">
            <a:off x="314112" y="2616196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6" y="0"/>
                </a:lnTo>
                <a:lnTo>
                  <a:pt x="1429176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 rot="1026429">
            <a:off x="15700410" y="-400020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 rot="2606717">
            <a:off x="8407652" y="900917"/>
            <a:ext cx="1472695" cy="842854"/>
          </a:xfrm>
          <a:custGeom>
            <a:avLst/>
            <a:gdLst/>
            <a:ahLst/>
            <a:cxnLst/>
            <a:rect l="l" t="t" r="r" b="b"/>
            <a:pathLst>
              <a:path w="1472695" h="842854">
                <a:moveTo>
                  <a:pt x="0" y="0"/>
                </a:moveTo>
                <a:lnTo>
                  <a:pt x="1472696" y="0"/>
                </a:lnTo>
                <a:lnTo>
                  <a:pt x="1472696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 rot="-2181285">
            <a:off x="-104743" y="9582211"/>
            <a:ext cx="1472695" cy="842854"/>
          </a:xfrm>
          <a:custGeom>
            <a:avLst/>
            <a:gdLst/>
            <a:ahLst/>
            <a:cxnLst/>
            <a:rect l="l" t="t" r="r" b="b"/>
            <a:pathLst>
              <a:path w="1472695" h="842854">
                <a:moveTo>
                  <a:pt x="0" y="0"/>
                </a:moveTo>
                <a:lnTo>
                  <a:pt x="1472695" y="0"/>
                </a:lnTo>
                <a:lnTo>
                  <a:pt x="1472695" y="842855"/>
                </a:lnTo>
                <a:lnTo>
                  <a:pt x="0" y="8428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 rot="1509718">
            <a:off x="17079296" y="6642283"/>
            <a:ext cx="1472695" cy="842854"/>
          </a:xfrm>
          <a:custGeom>
            <a:avLst/>
            <a:gdLst/>
            <a:ahLst/>
            <a:cxnLst/>
            <a:rect l="l" t="t" r="r" b="b"/>
            <a:pathLst>
              <a:path w="1472695" h="842854">
                <a:moveTo>
                  <a:pt x="0" y="0"/>
                </a:moveTo>
                <a:lnTo>
                  <a:pt x="1472696" y="0"/>
                </a:lnTo>
                <a:lnTo>
                  <a:pt x="1472696" y="842855"/>
                </a:lnTo>
                <a:lnTo>
                  <a:pt x="0" y="8428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TextBox 18"/>
          <p:cNvSpPr txBox="1"/>
          <p:nvPr/>
        </p:nvSpPr>
        <p:spPr>
          <a:xfrm>
            <a:off x="2418136" y="4631254"/>
            <a:ext cx="5693100" cy="208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Desarrollar una aplicación web que permita a los usuarios gestionar y monitorear el cumplimiento de las obligaciones asociadas a la tenencia responsable de sus mascotas.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18136" y="2277546"/>
            <a:ext cx="6725864" cy="180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Objetivo general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sp>
        <p:nvSpPr>
          <p:cNvPr id="21" name="Freeform 21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53133" y="1028700"/>
            <a:ext cx="6929107" cy="8229600"/>
            <a:chOff x="0" y="0"/>
            <a:chExt cx="899880" cy="10687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9880" cy="1068775"/>
            </a:xfrm>
            <a:custGeom>
              <a:avLst/>
              <a:gdLst/>
              <a:ahLst/>
              <a:cxnLst/>
              <a:rect l="l" t="t" r="r" b="b"/>
              <a:pathLst>
                <a:path w="899880" h="1068775">
                  <a:moveTo>
                    <a:pt x="33519" y="0"/>
                  </a:moveTo>
                  <a:lnTo>
                    <a:pt x="866361" y="0"/>
                  </a:lnTo>
                  <a:cubicBezTo>
                    <a:pt x="875251" y="0"/>
                    <a:pt x="883777" y="3531"/>
                    <a:pt x="890063" y="9818"/>
                  </a:cubicBezTo>
                  <a:cubicBezTo>
                    <a:pt x="896349" y="16104"/>
                    <a:pt x="899880" y="24629"/>
                    <a:pt x="899880" y="33519"/>
                  </a:cubicBezTo>
                  <a:lnTo>
                    <a:pt x="899880" y="1035256"/>
                  </a:lnTo>
                  <a:cubicBezTo>
                    <a:pt x="899880" y="1044145"/>
                    <a:pt x="896349" y="1052671"/>
                    <a:pt x="890063" y="1058957"/>
                  </a:cubicBezTo>
                  <a:cubicBezTo>
                    <a:pt x="883777" y="1065243"/>
                    <a:pt x="875251" y="1068775"/>
                    <a:pt x="866361" y="1068775"/>
                  </a:cubicBezTo>
                  <a:lnTo>
                    <a:pt x="33519" y="1068775"/>
                  </a:lnTo>
                  <a:cubicBezTo>
                    <a:pt x="24629" y="1068775"/>
                    <a:pt x="16104" y="1065243"/>
                    <a:pt x="9818" y="1058957"/>
                  </a:cubicBezTo>
                  <a:cubicBezTo>
                    <a:pt x="3531" y="1052671"/>
                    <a:pt x="0" y="1044145"/>
                    <a:pt x="0" y="1035256"/>
                  </a:cubicBezTo>
                  <a:lnTo>
                    <a:pt x="0" y="33519"/>
                  </a:lnTo>
                  <a:cubicBezTo>
                    <a:pt x="0" y="24629"/>
                    <a:pt x="3531" y="16104"/>
                    <a:pt x="9818" y="9818"/>
                  </a:cubicBezTo>
                  <a:cubicBezTo>
                    <a:pt x="16104" y="3531"/>
                    <a:pt x="24629" y="0"/>
                    <a:pt x="33519" y="0"/>
                  </a:cubicBezTo>
                  <a:close/>
                </a:path>
              </a:pathLst>
            </a:custGeom>
            <a:blipFill>
              <a:blip r:embed="rId2"/>
              <a:stretch>
                <a:fillRect t="-23938" r="-9071" b="-13900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16344" y="3529085"/>
            <a:ext cx="3862083" cy="5719690"/>
            <a:chOff x="0" y="0"/>
            <a:chExt cx="1017199" cy="15064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17199" cy="1506498"/>
            </a:xfrm>
            <a:custGeom>
              <a:avLst/>
              <a:gdLst/>
              <a:ahLst/>
              <a:cxnLst/>
              <a:rect l="l" t="t" r="r" b="b"/>
              <a:pathLst>
                <a:path w="1017199" h="1506498">
                  <a:moveTo>
                    <a:pt x="1017199" y="70161"/>
                  </a:moveTo>
                  <a:lnTo>
                    <a:pt x="1017199" y="1436337"/>
                  </a:lnTo>
                  <a:cubicBezTo>
                    <a:pt x="1017199" y="1454945"/>
                    <a:pt x="1009807" y="1472790"/>
                    <a:pt x="996649" y="1485948"/>
                  </a:cubicBezTo>
                  <a:cubicBezTo>
                    <a:pt x="983492" y="1499106"/>
                    <a:pt x="965646" y="1506498"/>
                    <a:pt x="947038" y="1506498"/>
                  </a:cubicBezTo>
                  <a:lnTo>
                    <a:pt x="70161" y="1506498"/>
                  </a:lnTo>
                  <a:cubicBezTo>
                    <a:pt x="51553" y="1506498"/>
                    <a:pt x="33707" y="1499106"/>
                    <a:pt x="20550" y="1485948"/>
                  </a:cubicBezTo>
                  <a:cubicBezTo>
                    <a:pt x="7392" y="1472790"/>
                    <a:pt x="0" y="1454945"/>
                    <a:pt x="0" y="1436337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5B312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017199" cy="1563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420549">
            <a:off x="6428385" y="3933398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8" name="Group 8"/>
          <p:cNvGrpSpPr/>
          <p:nvPr/>
        </p:nvGrpSpPr>
        <p:grpSpPr>
          <a:xfrm>
            <a:off x="6066760" y="3529085"/>
            <a:ext cx="3862083" cy="5729215"/>
            <a:chOff x="0" y="0"/>
            <a:chExt cx="1017199" cy="15090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7199" cy="1509007"/>
            </a:xfrm>
            <a:custGeom>
              <a:avLst/>
              <a:gdLst/>
              <a:ahLst/>
              <a:cxnLst/>
              <a:rect l="l" t="t" r="r" b="b"/>
              <a:pathLst>
                <a:path w="1017199" h="1509007">
                  <a:moveTo>
                    <a:pt x="1017199" y="70161"/>
                  </a:moveTo>
                  <a:lnTo>
                    <a:pt x="1017199" y="1438846"/>
                  </a:lnTo>
                  <a:cubicBezTo>
                    <a:pt x="1017199" y="1457453"/>
                    <a:pt x="1009807" y="1475299"/>
                    <a:pt x="996649" y="1488457"/>
                  </a:cubicBezTo>
                  <a:cubicBezTo>
                    <a:pt x="983492" y="1501615"/>
                    <a:pt x="965646" y="1509007"/>
                    <a:pt x="947038" y="1509007"/>
                  </a:cubicBezTo>
                  <a:lnTo>
                    <a:pt x="70161" y="1509007"/>
                  </a:lnTo>
                  <a:cubicBezTo>
                    <a:pt x="51553" y="1509007"/>
                    <a:pt x="33707" y="1501615"/>
                    <a:pt x="20550" y="1488457"/>
                  </a:cubicBezTo>
                  <a:cubicBezTo>
                    <a:pt x="7392" y="1475299"/>
                    <a:pt x="0" y="1457453"/>
                    <a:pt x="0" y="1438846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5B312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017199" cy="1566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17176" y="3529085"/>
            <a:ext cx="3862083" cy="5729215"/>
            <a:chOff x="0" y="0"/>
            <a:chExt cx="1017199" cy="150900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7199" cy="1509007"/>
            </a:xfrm>
            <a:custGeom>
              <a:avLst/>
              <a:gdLst/>
              <a:ahLst/>
              <a:cxnLst/>
              <a:rect l="l" t="t" r="r" b="b"/>
              <a:pathLst>
                <a:path w="1017199" h="1509007">
                  <a:moveTo>
                    <a:pt x="1017199" y="70161"/>
                  </a:moveTo>
                  <a:lnTo>
                    <a:pt x="1017199" y="1438846"/>
                  </a:lnTo>
                  <a:cubicBezTo>
                    <a:pt x="1017199" y="1457453"/>
                    <a:pt x="1009807" y="1475299"/>
                    <a:pt x="996649" y="1488457"/>
                  </a:cubicBezTo>
                  <a:cubicBezTo>
                    <a:pt x="983492" y="1501615"/>
                    <a:pt x="965646" y="1509007"/>
                    <a:pt x="947038" y="1509007"/>
                  </a:cubicBezTo>
                  <a:lnTo>
                    <a:pt x="70161" y="1509007"/>
                  </a:lnTo>
                  <a:cubicBezTo>
                    <a:pt x="51553" y="1509007"/>
                    <a:pt x="33707" y="1501615"/>
                    <a:pt x="20550" y="1488457"/>
                  </a:cubicBezTo>
                  <a:cubicBezTo>
                    <a:pt x="7392" y="1475299"/>
                    <a:pt x="0" y="1457453"/>
                    <a:pt x="0" y="1438846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5B312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017199" cy="1566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780636" y="3913346"/>
            <a:ext cx="1333500" cy="1230154"/>
          </a:xfrm>
          <a:custGeom>
            <a:avLst/>
            <a:gdLst/>
            <a:ahLst/>
            <a:cxnLst/>
            <a:rect l="l" t="t" r="r" b="b"/>
            <a:pathLst>
              <a:path w="1333500" h="1230154">
                <a:moveTo>
                  <a:pt x="0" y="0"/>
                </a:moveTo>
                <a:lnTo>
                  <a:pt x="1333500" y="0"/>
                </a:lnTo>
                <a:lnTo>
                  <a:pt x="1333500" y="1230154"/>
                </a:lnTo>
                <a:lnTo>
                  <a:pt x="0" y="12301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1808077" y="6893522"/>
            <a:ext cx="3278618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Registren la información personal, clínica y de hábitos de sus mascotas en los primeros 6 meses de uso de la plataforma.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83046" y="6893522"/>
            <a:ext cx="3278618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Programen rutinas con alertas inteligentes en un periodo de 6 meses desde la implementación.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75761" y="5465724"/>
            <a:ext cx="3143250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Lograr que al menos el 50% de los usuarios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50730" y="5465724"/>
            <a:ext cx="3143250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Conseguir que el 80% de los usuarios activos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08909" y="6883997"/>
            <a:ext cx="3278618" cy="175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Utilicen la función de comparativas de gastos durante los primeros 6 meses desde la implementación.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976593" y="5465724"/>
            <a:ext cx="3143250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Lograr que al menos el 60% de los usuarios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16344" y="1661549"/>
            <a:ext cx="9588765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  <a:spcBef>
                <a:spcPct val="0"/>
              </a:spcBef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Objetivos específicos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sp>
        <p:nvSpPr>
          <p:cNvPr id="23" name="Freeform 23"/>
          <p:cNvSpPr/>
          <p:nvPr/>
        </p:nvSpPr>
        <p:spPr>
          <a:xfrm>
            <a:off x="7355605" y="3913346"/>
            <a:ext cx="1333500" cy="1230154"/>
          </a:xfrm>
          <a:custGeom>
            <a:avLst/>
            <a:gdLst/>
            <a:ahLst/>
            <a:cxnLst/>
            <a:rect l="l" t="t" r="r" b="b"/>
            <a:pathLst>
              <a:path w="1333500" h="1230154">
                <a:moveTo>
                  <a:pt x="0" y="0"/>
                </a:moveTo>
                <a:lnTo>
                  <a:pt x="1333500" y="0"/>
                </a:lnTo>
                <a:lnTo>
                  <a:pt x="1333500" y="1230154"/>
                </a:lnTo>
                <a:lnTo>
                  <a:pt x="0" y="12301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4" name="Freeform 24"/>
          <p:cNvSpPr/>
          <p:nvPr/>
        </p:nvSpPr>
        <p:spPr>
          <a:xfrm>
            <a:off x="11881468" y="3913346"/>
            <a:ext cx="1333500" cy="1230154"/>
          </a:xfrm>
          <a:custGeom>
            <a:avLst/>
            <a:gdLst/>
            <a:ahLst/>
            <a:cxnLst/>
            <a:rect l="l" t="t" r="r" b="b"/>
            <a:pathLst>
              <a:path w="1333500" h="1230154">
                <a:moveTo>
                  <a:pt x="0" y="0"/>
                </a:moveTo>
                <a:lnTo>
                  <a:pt x="1333500" y="0"/>
                </a:lnTo>
                <a:lnTo>
                  <a:pt x="1333500" y="1230154"/>
                </a:lnTo>
                <a:lnTo>
                  <a:pt x="0" y="12301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5" name="Freeform 25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78627" y="2125258"/>
            <a:ext cx="6827629" cy="7976659"/>
            <a:chOff x="0" y="0"/>
            <a:chExt cx="1798223" cy="2100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98223" cy="2100849"/>
            </a:xfrm>
            <a:custGeom>
              <a:avLst/>
              <a:gdLst/>
              <a:ahLst/>
              <a:cxnLst/>
              <a:rect l="l" t="t" r="r" b="b"/>
              <a:pathLst>
                <a:path w="1798223" h="2100849">
                  <a:moveTo>
                    <a:pt x="34017" y="0"/>
                  </a:moveTo>
                  <a:lnTo>
                    <a:pt x="1764206" y="0"/>
                  </a:lnTo>
                  <a:cubicBezTo>
                    <a:pt x="1782993" y="0"/>
                    <a:pt x="1798223" y="15230"/>
                    <a:pt x="1798223" y="34017"/>
                  </a:cubicBezTo>
                  <a:lnTo>
                    <a:pt x="1798223" y="2066831"/>
                  </a:lnTo>
                  <a:cubicBezTo>
                    <a:pt x="1798223" y="2085618"/>
                    <a:pt x="1782993" y="2100849"/>
                    <a:pt x="1764206" y="2100849"/>
                  </a:cubicBezTo>
                  <a:lnTo>
                    <a:pt x="34017" y="2100849"/>
                  </a:lnTo>
                  <a:cubicBezTo>
                    <a:pt x="15230" y="2100849"/>
                    <a:pt x="0" y="2085618"/>
                    <a:pt x="0" y="2066831"/>
                  </a:cubicBezTo>
                  <a:lnTo>
                    <a:pt x="0" y="34017"/>
                  </a:lnTo>
                  <a:cubicBezTo>
                    <a:pt x="0" y="15230"/>
                    <a:pt x="15230" y="0"/>
                    <a:pt x="34017" y="0"/>
                  </a:cubicBezTo>
                  <a:close/>
                </a:path>
              </a:pathLst>
            </a:custGeom>
            <a:solidFill>
              <a:srgbClr val="5B312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798223" cy="2167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555976">
            <a:off x="2308940" y="771088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rot="1455677">
            <a:off x="17421544" y="7062173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rot="-785146">
            <a:off x="6092601" y="9405847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-2024627">
            <a:off x="-554037" y="8256975"/>
            <a:ext cx="1472695" cy="842854"/>
          </a:xfrm>
          <a:custGeom>
            <a:avLst/>
            <a:gdLst/>
            <a:ahLst/>
            <a:cxnLst/>
            <a:rect l="l" t="t" r="r" b="b"/>
            <a:pathLst>
              <a:path w="1472695" h="842854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9" name="Group 9"/>
          <p:cNvGrpSpPr/>
          <p:nvPr/>
        </p:nvGrpSpPr>
        <p:grpSpPr>
          <a:xfrm>
            <a:off x="1679118" y="3036980"/>
            <a:ext cx="821282" cy="821282"/>
            <a:chOff x="0" y="0"/>
            <a:chExt cx="1095043" cy="1095043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B3121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302635" y="241413"/>
              <a:ext cx="489774" cy="612217"/>
            </a:xfrm>
            <a:custGeom>
              <a:avLst/>
              <a:gdLst/>
              <a:ahLst/>
              <a:cxnLst/>
              <a:rect l="l" t="t" r="r" b="b"/>
              <a:pathLst>
                <a:path w="489774" h="612217">
                  <a:moveTo>
                    <a:pt x="0" y="0"/>
                  </a:moveTo>
                  <a:lnTo>
                    <a:pt x="489773" y="0"/>
                  </a:lnTo>
                  <a:lnTo>
                    <a:pt x="489773" y="612217"/>
                  </a:lnTo>
                  <a:lnTo>
                    <a:pt x="0" y="612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762250" y="3249184"/>
            <a:ext cx="559028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B0A0A"/>
                </a:solidFill>
                <a:latin typeface="Merriweather"/>
                <a:ea typeface="Merriweather"/>
                <a:cs typeface="Merriweather"/>
                <a:sym typeface="Merriweather"/>
              </a:rPr>
              <a:t>Gestión de usuarios y mascotas.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679118" y="4463579"/>
            <a:ext cx="821282" cy="821282"/>
            <a:chOff x="0" y="0"/>
            <a:chExt cx="1095043" cy="1095043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B3121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233155" y="233155"/>
              <a:ext cx="628732" cy="628732"/>
            </a:xfrm>
            <a:custGeom>
              <a:avLst/>
              <a:gdLst/>
              <a:ahLst/>
              <a:cxnLst/>
              <a:rect l="l" t="t" r="r" b="b"/>
              <a:pathLst>
                <a:path w="628732" h="628732">
                  <a:moveTo>
                    <a:pt x="0" y="0"/>
                  </a:moveTo>
                  <a:lnTo>
                    <a:pt x="628733" y="0"/>
                  </a:lnTo>
                  <a:lnTo>
                    <a:pt x="628733" y="628733"/>
                  </a:lnTo>
                  <a:lnTo>
                    <a:pt x="0" y="628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79118" y="5894461"/>
            <a:ext cx="821282" cy="821282"/>
            <a:chOff x="0" y="0"/>
            <a:chExt cx="1095043" cy="1095043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B3121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273248" y="212299"/>
              <a:ext cx="548546" cy="670445"/>
            </a:xfrm>
            <a:custGeom>
              <a:avLst/>
              <a:gdLst/>
              <a:ahLst/>
              <a:cxnLst/>
              <a:rect l="l" t="t" r="r" b="b"/>
              <a:pathLst>
                <a:path w="548546" h="670445">
                  <a:moveTo>
                    <a:pt x="0" y="0"/>
                  </a:moveTo>
                  <a:lnTo>
                    <a:pt x="548547" y="0"/>
                  </a:lnTo>
                  <a:lnTo>
                    <a:pt x="548547" y="670445"/>
                  </a:lnTo>
                  <a:lnTo>
                    <a:pt x="0" y="670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79118" y="7325344"/>
            <a:ext cx="821282" cy="821282"/>
            <a:chOff x="0" y="0"/>
            <a:chExt cx="1095043" cy="1095043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B3121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204453" y="211743"/>
              <a:ext cx="686138" cy="671557"/>
            </a:xfrm>
            <a:custGeom>
              <a:avLst/>
              <a:gdLst/>
              <a:ahLst/>
              <a:cxnLst/>
              <a:rect l="l" t="t" r="r" b="b"/>
              <a:pathLst>
                <a:path w="686138" h="671557">
                  <a:moveTo>
                    <a:pt x="0" y="0"/>
                  </a:moveTo>
                  <a:lnTo>
                    <a:pt x="686137" y="0"/>
                  </a:lnTo>
                  <a:lnTo>
                    <a:pt x="686137" y="671557"/>
                  </a:lnTo>
                  <a:lnTo>
                    <a:pt x="0" y="671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79118" y="8756226"/>
            <a:ext cx="821282" cy="821282"/>
            <a:chOff x="0" y="0"/>
            <a:chExt cx="1095043" cy="1095043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B3121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34" name="Freeform 34"/>
            <p:cNvSpPr/>
            <p:nvPr/>
          </p:nvSpPr>
          <p:spPr>
            <a:xfrm>
              <a:off x="205420" y="252887"/>
              <a:ext cx="684203" cy="589270"/>
            </a:xfrm>
            <a:custGeom>
              <a:avLst/>
              <a:gdLst/>
              <a:ahLst/>
              <a:cxnLst/>
              <a:rect l="l" t="t" r="r" b="b"/>
              <a:pathLst>
                <a:path w="684203" h="589270">
                  <a:moveTo>
                    <a:pt x="0" y="0"/>
                  </a:moveTo>
                  <a:lnTo>
                    <a:pt x="684203" y="0"/>
                  </a:lnTo>
                  <a:lnTo>
                    <a:pt x="684203" y="589269"/>
                  </a:lnTo>
                  <a:lnTo>
                    <a:pt x="0" y="58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3994056" y="1028700"/>
            <a:ext cx="10526896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Alcances y limitaciones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90548" y="3175505"/>
            <a:ext cx="6203787" cy="669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Funciones de diagnóstico, recomendaciones médicas o cualquier decisión que deba ser realizada por un veterinario.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Integración con dispositivos inteligentes (collares GPS, comederos automáticos, etc.).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Gestión financiera avanzada (pagos electrónicos, integración con bancos o pasarelas de pago).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Procesamiento avanzado con inteligencia artificial.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887731" y="2327432"/>
            <a:ext cx="4244474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B0A0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Alcances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108184" y="2327432"/>
            <a:ext cx="396851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Limitaciones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762250" y="4631015"/>
            <a:ext cx="559028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B0A0A"/>
                </a:solidFill>
                <a:latin typeface="Merriweather"/>
                <a:ea typeface="Merriweather"/>
                <a:cs typeface="Merriweather"/>
                <a:sym typeface="Merriweather"/>
              </a:rPr>
              <a:t>Rutinas y alertas automatizadas.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762250" y="6106665"/>
            <a:ext cx="559028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B0A0A"/>
                </a:solidFill>
                <a:latin typeface="Merriweather"/>
                <a:ea typeface="Merriweather"/>
                <a:cs typeface="Merriweather"/>
                <a:sym typeface="Merriweather"/>
              </a:rPr>
              <a:t>Bitácora clínica y documentos.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62250" y="7537547"/>
            <a:ext cx="524769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B0A0A"/>
                </a:solidFill>
                <a:latin typeface="Merriweather"/>
                <a:ea typeface="Merriweather"/>
                <a:cs typeface="Merriweather"/>
                <a:sym typeface="Merriweather"/>
              </a:rPr>
              <a:t>Módulo de gastos y métricas.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762250" y="8968430"/>
            <a:ext cx="443405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B0A0A"/>
                </a:solidFill>
                <a:latin typeface="Merriweather"/>
                <a:ea typeface="Merriweather"/>
                <a:cs typeface="Merriweather"/>
                <a:sym typeface="Merriweather"/>
              </a:rPr>
              <a:t>Módulo de análisis.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sp>
        <p:nvSpPr>
          <p:cNvPr id="44" name="Freeform 44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00193" y="1474121"/>
            <a:ext cx="6754304" cy="5024800"/>
            <a:chOff x="0" y="0"/>
            <a:chExt cx="993688" cy="7392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3688" cy="739245"/>
            </a:xfrm>
            <a:custGeom>
              <a:avLst/>
              <a:gdLst/>
              <a:ahLst/>
              <a:cxnLst/>
              <a:rect l="l" t="t" r="r" b="b"/>
              <a:pathLst>
                <a:path w="993688" h="739245">
                  <a:moveTo>
                    <a:pt x="51580" y="0"/>
                  </a:moveTo>
                  <a:lnTo>
                    <a:pt x="942109" y="0"/>
                  </a:lnTo>
                  <a:cubicBezTo>
                    <a:pt x="955788" y="0"/>
                    <a:pt x="968908" y="5434"/>
                    <a:pt x="978581" y="15107"/>
                  </a:cubicBezTo>
                  <a:cubicBezTo>
                    <a:pt x="988254" y="24781"/>
                    <a:pt x="993688" y="37900"/>
                    <a:pt x="993688" y="51580"/>
                  </a:cubicBezTo>
                  <a:lnTo>
                    <a:pt x="993688" y="687665"/>
                  </a:lnTo>
                  <a:cubicBezTo>
                    <a:pt x="993688" y="701345"/>
                    <a:pt x="988254" y="714464"/>
                    <a:pt x="978581" y="724138"/>
                  </a:cubicBezTo>
                  <a:cubicBezTo>
                    <a:pt x="968908" y="733811"/>
                    <a:pt x="955788" y="739245"/>
                    <a:pt x="942109" y="739245"/>
                  </a:cubicBezTo>
                  <a:lnTo>
                    <a:pt x="51580" y="739245"/>
                  </a:lnTo>
                  <a:cubicBezTo>
                    <a:pt x="37900" y="739245"/>
                    <a:pt x="24781" y="733811"/>
                    <a:pt x="15107" y="724138"/>
                  </a:cubicBezTo>
                  <a:cubicBezTo>
                    <a:pt x="5434" y="714464"/>
                    <a:pt x="0" y="701345"/>
                    <a:pt x="0" y="687665"/>
                  </a:cubicBezTo>
                  <a:lnTo>
                    <a:pt x="0" y="51580"/>
                  </a:lnTo>
                  <a:cubicBezTo>
                    <a:pt x="0" y="37900"/>
                    <a:pt x="5434" y="24781"/>
                    <a:pt x="15107" y="15107"/>
                  </a:cubicBezTo>
                  <a:cubicBezTo>
                    <a:pt x="24781" y="5434"/>
                    <a:pt x="37900" y="0"/>
                    <a:pt x="51580" y="0"/>
                  </a:cubicBezTo>
                  <a:close/>
                </a:path>
              </a:pathLst>
            </a:custGeom>
            <a:blipFill>
              <a:blip r:embed="rId2"/>
              <a:stretch>
                <a:fillRect t="-50722" b="-5072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Freeform 4"/>
          <p:cNvSpPr/>
          <p:nvPr/>
        </p:nvSpPr>
        <p:spPr>
          <a:xfrm rot="1687147">
            <a:off x="16047433" y="1354851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2266949">
            <a:off x="186195" y="3138067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rot="-1185263">
            <a:off x="16431122" y="8604857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rot="1700383">
            <a:off x="8840844" y="-548446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-1420549">
            <a:off x="1018441" y="8284872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 rot="1687147">
            <a:off x="11220346" y="9821125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5075768" y="6039869"/>
            <a:ext cx="603155" cy="281784"/>
          </a:xfrm>
          <a:custGeom>
            <a:avLst/>
            <a:gdLst/>
            <a:ahLst/>
            <a:cxnLst/>
            <a:rect l="l" t="t" r="r" b="b"/>
            <a:pathLst>
              <a:path w="603155" h="281784">
                <a:moveTo>
                  <a:pt x="0" y="0"/>
                </a:moveTo>
                <a:lnTo>
                  <a:pt x="603155" y="0"/>
                </a:lnTo>
                <a:lnTo>
                  <a:pt x="603155" y="281783"/>
                </a:lnTo>
                <a:lnTo>
                  <a:pt x="0" y="281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3735021" y="5504623"/>
            <a:ext cx="5408979" cy="3753677"/>
          </a:xfrm>
          <a:custGeom>
            <a:avLst/>
            <a:gdLst/>
            <a:ahLst/>
            <a:cxnLst/>
            <a:rect l="l" t="t" r="r" b="b"/>
            <a:pathLst>
              <a:path w="5408979" h="3753677">
                <a:moveTo>
                  <a:pt x="0" y="0"/>
                </a:moveTo>
                <a:lnTo>
                  <a:pt x="5408979" y="0"/>
                </a:lnTo>
                <a:lnTo>
                  <a:pt x="5408979" y="3753677"/>
                </a:lnTo>
                <a:lnTo>
                  <a:pt x="0" y="37536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178" r="-2178"/>
            </a:stretch>
          </a:blipFill>
          <a:ln w="19050" cap="rnd">
            <a:solidFill>
              <a:srgbClr val="F1E8E3"/>
            </a:solidFill>
            <a:prstDash val="solid"/>
            <a:round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Box 12"/>
          <p:cNvSpPr txBox="1"/>
          <p:nvPr/>
        </p:nvSpPr>
        <p:spPr>
          <a:xfrm>
            <a:off x="9629159" y="2367257"/>
            <a:ext cx="6658648" cy="473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Metodología de trabajo para el desarrollo del proyecto</a:t>
            </a:r>
          </a:p>
          <a:p>
            <a:pPr algn="l">
              <a:lnSpc>
                <a:spcPts val="7480"/>
              </a:lnSpc>
            </a:pPr>
            <a:endParaRPr lang="en-US" sz="6800" b="1">
              <a:solidFill>
                <a:srgbClr val="5B3121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629159" y="6665025"/>
            <a:ext cx="6009671" cy="208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Para el desarrollo de este proyecto se ha decidido utilizar una metodología híbrida, que combina elementos del enfoque tradicional en cascada y de la metodología ágil de Scrum.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04758" y="2365375"/>
            <a:ext cx="10078485" cy="3877302"/>
            <a:chOff x="0" y="0"/>
            <a:chExt cx="13437980" cy="51697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437980" cy="2656888"/>
            </a:xfrm>
            <a:custGeom>
              <a:avLst/>
              <a:gdLst/>
              <a:ahLst/>
              <a:cxnLst/>
              <a:rect l="l" t="t" r="r" b="b"/>
              <a:pathLst>
                <a:path w="13437980" h="2656888">
                  <a:moveTo>
                    <a:pt x="0" y="0"/>
                  </a:moveTo>
                  <a:lnTo>
                    <a:pt x="13437980" y="0"/>
                  </a:lnTo>
                  <a:lnTo>
                    <a:pt x="13437980" y="2656888"/>
                  </a:lnTo>
                  <a:lnTo>
                    <a:pt x="0" y="2656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106" b="-2106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2656888"/>
              <a:ext cx="13437980" cy="2512847"/>
            </a:xfrm>
            <a:custGeom>
              <a:avLst/>
              <a:gdLst/>
              <a:ahLst/>
              <a:cxnLst/>
              <a:rect l="l" t="t" r="r" b="b"/>
              <a:pathLst>
                <a:path w="13437980" h="2512847">
                  <a:moveTo>
                    <a:pt x="0" y="0"/>
                  </a:moveTo>
                  <a:lnTo>
                    <a:pt x="13437980" y="0"/>
                  </a:lnTo>
                  <a:lnTo>
                    <a:pt x="13437980" y="2512848"/>
                  </a:lnTo>
                  <a:lnTo>
                    <a:pt x="0" y="2512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403" b="-340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82580" y="1028700"/>
            <a:ext cx="10322840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  <a:spcBef>
                <a:spcPct val="0"/>
              </a:spcBef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Planificación temporal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104758" y="6291581"/>
            <a:ext cx="10078485" cy="3319144"/>
            <a:chOff x="0" y="0"/>
            <a:chExt cx="13437980" cy="4425525"/>
          </a:xfrm>
        </p:grpSpPr>
        <p:sp>
          <p:nvSpPr>
            <p:cNvPr id="8" name="Freeform 8"/>
            <p:cNvSpPr/>
            <p:nvPr/>
          </p:nvSpPr>
          <p:spPr>
            <a:xfrm>
              <a:off x="0" y="2207437"/>
              <a:ext cx="13437980" cy="2218088"/>
            </a:xfrm>
            <a:custGeom>
              <a:avLst/>
              <a:gdLst/>
              <a:ahLst/>
              <a:cxnLst/>
              <a:rect l="l" t="t" r="r" b="b"/>
              <a:pathLst>
                <a:path w="13437980" h="2218088">
                  <a:moveTo>
                    <a:pt x="0" y="0"/>
                  </a:moveTo>
                  <a:lnTo>
                    <a:pt x="13437980" y="0"/>
                  </a:lnTo>
                  <a:lnTo>
                    <a:pt x="13437980" y="2218088"/>
                  </a:lnTo>
                  <a:lnTo>
                    <a:pt x="0" y="2218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8" r="-158" b="-20031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13437980" cy="2207437"/>
            </a:xfrm>
            <a:custGeom>
              <a:avLst/>
              <a:gdLst/>
              <a:ahLst/>
              <a:cxnLst/>
              <a:rect l="l" t="t" r="r" b="b"/>
              <a:pathLst>
                <a:path w="13437980" h="2207437">
                  <a:moveTo>
                    <a:pt x="0" y="0"/>
                  </a:moveTo>
                  <a:lnTo>
                    <a:pt x="13437980" y="0"/>
                  </a:lnTo>
                  <a:lnTo>
                    <a:pt x="13437980" y="2207437"/>
                  </a:lnTo>
                  <a:lnTo>
                    <a:pt x="0" y="2207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8" r="-158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02620" y="2498505"/>
            <a:ext cx="10882761" cy="7382139"/>
          </a:xfrm>
          <a:custGeom>
            <a:avLst/>
            <a:gdLst/>
            <a:ahLst/>
            <a:cxnLst/>
            <a:rect l="l" t="t" r="r" b="b"/>
            <a:pathLst>
              <a:path w="10882761" h="7382139">
                <a:moveTo>
                  <a:pt x="0" y="0"/>
                </a:moveTo>
                <a:lnTo>
                  <a:pt x="10882760" y="0"/>
                </a:lnTo>
                <a:lnTo>
                  <a:pt x="10882760" y="7382139"/>
                </a:lnTo>
                <a:lnTo>
                  <a:pt x="0" y="73821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9050" cap="rnd">
            <a:solidFill>
              <a:srgbClr val="F1E8E3"/>
            </a:solidFill>
            <a:prstDash val="solid"/>
            <a:round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3445992" y="1028700"/>
            <a:ext cx="11396016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  <a:spcBef>
                <a:spcPct val="0"/>
              </a:spcBef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Arquitectura del Software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sp>
        <p:nvSpPr>
          <p:cNvPr id="5" name="Freeform 5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6092" y="2753147"/>
            <a:ext cx="16795817" cy="5944479"/>
          </a:xfrm>
          <a:custGeom>
            <a:avLst/>
            <a:gdLst/>
            <a:ahLst/>
            <a:cxnLst/>
            <a:rect l="l" t="t" r="r" b="b"/>
            <a:pathLst>
              <a:path w="16795817" h="5944479">
                <a:moveTo>
                  <a:pt x="0" y="0"/>
                </a:moveTo>
                <a:lnTo>
                  <a:pt x="16795816" y="0"/>
                </a:lnTo>
                <a:lnTo>
                  <a:pt x="16795816" y="5944480"/>
                </a:lnTo>
                <a:lnTo>
                  <a:pt x="0" y="5944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0" r="-3120"/>
            </a:stretch>
          </a:blipFill>
          <a:ln w="19050" cap="rnd">
            <a:solidFill>
              <a:srgbClr val="F1E8E3"/>
            </a:solidFill>
            <a:prstDash val="solid"/>
            <a:round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3129090" y="1028700"/>
            <a:ext cx="12029821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  <a:spcBef>
                <a:spcPct val="0"/>
              </a:spcBef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Arquitectura de la Solución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29064">
            <a:off x="6104163" y="8161668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4340383" y="2274253"/>
            <a:ext cx="9607234" cy="7475541"/>
          </a:xfrm>
          <a:custGeom>
            <a:avLst/>
            <a:gdLst/>
            <a:ahLst/>
            <a:cxnLst/>
            <a:rect l="l" t="t" r="r" b="b"/>
            <a:pathLst>
              <a:path w="9607234" h="7475541">
                <a:moveTo>
                  <a:pt x="0" y="0"/>
                </a:moveTo>
                <a:lnTo>
                  <a:pt x="9607234" y="0"/>
                </a:lnTo>
                <a:lnTo>
                  <a:pt x="9607234" y="7475541"/>
                </a:lnTo>
                <a:lnTo>
                  <a:pt x="0" y="74755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6227"/>
            </a:stretch>
          </a:blipFill>
          <a:ln w="19050" cap="rnd">
            <a:solidFill>
              <a:srgbClr val="F1E8E3"/>
            </a:solidFill>
            <a:prstDash val="solid"/>
            <a:round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5410200" y="1028700"/>
            <a:ext cx="7373660" cy="984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Modelo de </a:t>
            </a:r>
            <a:r>
              <a:rPr lang="en-US" sz="6999" b="1" dirty="0" err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datos</a:t>
            </a:r>
            <a:endParaRPr lang="en-US" sz="6999" b="1" dirty="0">
              <a:solidFill>
                <a:srgbClr val="5B3121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10084" y="4075709"/>
            <a:ext cx="4621399" cy="5231167"/>
          </a:xfrm>
          <a:custGeom>
            <a:avLst/>
            <a:gdLst/>
            <a:ahLst/>
            <a:cxnLst/>
            <a:rect l="l" t="t" r="r" b="b"/>
            <a:pathLst>
              <a:path w="4621399" h="5231167">
                <a:moveTo>
                  <a:pt x="0" y="0"/>
                </a:moveTo>
                <a:lnTo>
                  <a:pt x="4621399" y="0"/>
                </a:lnTo>
                <a:lnTo>
                  <a:pt x="4621399" y="5231167"/>
                </a:lnTo>
                <a:lnTo>
                  <a:pt x="0" y="5231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4205254" y="1299873"/>
            <a:ext cx="3054046" cy="7958427"/>
          </a:xfrm>
          <a:custGeom>
            <a:avLst/>
            <a:gdLst/>
            <a:ahLst/>
            <a:cxnLst/>
            <a:rect l="l" t="t" r="r" b="b"/>
            <a:pathLst>
              <a:path w="3054046" h="7958427">
                <a:moveTo>
                  <a:pt x="0" y="0"/>
                </a:moveTo>
                <a:lnTo>
                  <a:pt x="3054046" y="0"/>
                </a:lnTo>
                <a:lnTo>
                  <a:pt x="3054046" y="7958427"/>
                </a:lnTo>
                <a:lnTo>
                  <a:pt x="0" y="79584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9767449" y="4027133"/>
            <a:ext cx="3901839" cy="5328318"/>
          </a:xfrm>
          <a:custGeom>
            <a:avLst/>
            <a:gdLst/>
            <a:ahLst/>
            <a:cxnLst/>
            <a:rect l="l" t="t" r="r" b="b"/>
            <a:pathLst>
              <a:path w="3901839" h="5328318">
                <a:moveTo>
                  <a:pt x="0" y="0"/>
                </a:moveTo>
                <a:lnTo>
                  <a:pt x="3901839" y="0"/>
                </a:lnTo>
                <a:lnTo>
                  <a:pt x="3901839" y="5328318"/>
                </a:lnTo>
                <a:lnTo>
                  <a:pt x="0" y="53283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1028700" y="2901342"/>
            <a:ext cx="2987770" cy="6356958"/>
          </a:xfrm>
          <a:custGeom>
            <a:avLst/>
            <a:gdLst/>
            <a:ahLst/>
            <a:cxnLst/>
            <a:rect l="l" t="t" r="r" b="b"/>
            <a:pathLst>
              <a:path w="2987770" h="6356958">
                <a:moveTo>
                  <a:pt x="0" y="0"/>
                </a:moveTo>
                <a:lnTo>
                  <a:pt x="2987770" y="0"/>
                </a:lnTo>
                <a:lnTo>
                  <a:pt x="298777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5504140" y="1028700"/>
            <a:ext cx="7279720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Modelo de datos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sp>
        <p:nvSpPr>
          <p:cNvPr id="8" name="Freeform 8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5982" y="774582"/>
            <a:ext cx="6720450" cy="3145295"/>
            <a:chOff x="0" y="0"/>
            <a:chExt cx="1769995" cy="828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9995" cy="828390"/>
            </a:xfrm>
            <a:custGeom>
              <a:avLst/>
              <a:gdLst/>
              <a:ahLst/>
              <a:cxnLst/>
              <a:rect l="l" t="t" r="r" b="b"/>
              <a:pathLst>
                <a:path w="1769995" h="828390">
                  <a:moveTo>
                    <a:pt x="51840" y="0"/>
                  </a:moveTo>
                  <a:lnTo>
                    <a:pt x="1718155" y="0"/>
                  </a:lnTo>
                  <a:cubicBezTo>
                    <a:pt x="1746786" y="0"/>
                    <a:pt x="1769995" y="23209"/>
                    <a:pt x="1769995" y="51840"/>
                  </a:cubicBezTo>
                  <a:lnTo>
                    <a:pt x="1769995" y="776551"/>
                  </a:lnTo>
                  <a:cubicBezTo>
                    <a:pt x="1769995" y="805181"/>
                    <a:pt x="1746786" y="828390"/>
                    <a:pt x="1718155" y="828390"/>
                  </a:cubicBezTo>
                  <a:lnTo>
                    <a:pt x="51840" y="828390"/>
                  </a:lnTo>
                  <a:cubicBezTo>
                    <a:pt x="23209" y="828390"/>
                    <a:pt x="0" y="805181"/>
                    <a:pt x="0" y="776551"/>
                  </a:cubicBezTo>
                  <a:lnTo>
                    <a:pt x="0" y="51840"/>
                  </a:lnTo>
                  <a:cubicBezTo>
                    <a:pt x="0" y="23209"/>
                    <a:pt x="23209" y="0"/>
                    <a:pt x="51840" y="0"/>
                  </a:cubicBezTo>
                  <a:close/>
                </a:path>
              </a:pathLst>
            </a:custGeom>
            <a:solidFill>
              <a:srgbClr val="5B312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769995" cy="885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12994" y="1199101"/>
            <a:ext cx="6807293" cy="3944399"/>
            <a:chOff x="0" y="0"/>
            <a:chExt cx="1054628" cy="6110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4628" cy="611091"/>
            </a:xfrm>
            <a:custGeom>
              <a:avLst/>
              <a:gdLst/>
              <a:ahLst/>
              <a:cxnLst/>
              <a:rect l="l" t="t" r="r" b="b"/>
              <a:pathLst>
                <a:path w="1054628" h="611091">
                  <a:moveTo>
                    <a:pt x="51178" y="0"/>
                  </a:moveTo>
                  <a:lnTo>
                    <a:pt x="1003450" y="0"/>
                  </a:lnTo>
                  <a:cubicBezTo>
                    <a:pt x="1017023" y="0"/>
                    <a:pt x="1030040" y="5392"/>
                    <a:pt x="1039638" y="14990"/>
                  </a:cubicBezTo>
                  <a:cubicBezTo>
                    <a:pt x="1049236" y="24588"/>
                    <a:pt x="1054628" y="37605"/>
                    <a:pt x="1054628" y="51178"/>
                  </a:cubicBezTo>
                  <a:lnTo>
                    <a:pt x="1054628" y="559912"/>
                  </a:lnTo>
                  <a:cubicBezTo>
                    <a:pt x="1054628" y="573486"/>
                    <a:pt x="1049236" y="586503"/>
                    <a:pt x="1039638" y="596101"/>
                  </a:cubicBezTo>
                  <a:cubicBezTo>
                    <a:pt x="1030040" y="605699"/>
                    <a:pt x="1017023" y="611091"/>
                    <a:pt x="1003450" y="611091"/>
                  </a:cubicBezTo>
                  <a:lnTo>
                    <a:pt x="51178" y="611091"/>
                  </a:lnTo>
                  <a:cubicBezTo>
                    <a:pt x="37605" y="611091"/>
                    <a:pt x="24588" y="605699"/>
                    <a:pt x="14990" y="596101"/>
                  </a:cubicBezTo>
                  <a:cubicBezTo>
                    <a:pt x="5392" y="586503"/>
                    <a:pt x="0" y="573486"/>
                    <a:pt x="0" y="559912"/>
                  </a:cubicBezTo>
                  <a:lnTo>
                    <a:pt x="0" y="51178"/>
                  </a:lnTo>
                  <a:cubicBezTo>
                    <a:pt x="0" y="37605"/>
                    <a:pt x="5392" y="24588"/>
                    <a:pt x="14990" y="14990"/>
                  </a:cubicBezTo>
                  <a:cubicBezTo>
                    <a:pt x="24588" y="5392"/>
                    <a:pt x="37605" y="0"/>
                    <a:pt x="51178" y="0"/>
                  </a:cubicBezTo>
                  <a:close/>
                </a:path>
              </a:pathLst>
            </a:custGeom>
            <a:blipFill>
              <a:blip r:embed="rId2"/>
              <a:stretch>
                <a:fillRect t="-79516" b="-7951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2994" y="5994791"/>
            <a:ext cx="7052705" cy="357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Elementos Analíticos a Incorporar</a:t>
            </a:r>
          </a:p>
          <a:p>
            <a:pPr algn="l">
              <a:lnSpc>
                <a:spcPts val="6999"/>
              </a:lnSpc>
            </a:pPr>
            <a:endParaRPr lang="en-US" sz="6999" b="1">
              <a:solidFill>
                <a:srgbClr val="5B3121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448800" y="276225"/>
            <a:ext cx="7810500" cy="1001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Gasto en Cuidado de Mascotas</a:t>
            </a:r>
          </a:p>
          <a:p>
            <a:pPr algn="just">
              <a:lnSpc>
                <a:spcPts val="3359"/>
              </a:lnSpc>
            </a:pPr>
            <a:endParaRPr lang="en-US" sz="2400" b="1">
              <a:solidFill>
                <a:srgbClr val="000000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Qué: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Comparación del gasto mensual entre 2026-2027 (mes a mes o Q1 vs Q2), segmentado por comuna, categoría y número de mascotas.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Por qué: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Identificar aumentos o caídas de consumo para ajustar promociones, convenios y estrategias comerciales.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Cómo: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Consolidar gasto mensual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Segmentar dueños (1 / 2–4 / 5+)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Calcular promedios y variaciones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Comparar períodos equivalentes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Visualizar en barras y líneas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Periodicidad: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Mensual (monitoreo) / Trimestral (decisiones comerciales).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Umbrales: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Caída ≥15% = reforzar campañas; crecimiento ≥20% = oportunidad.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Valor: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 decisiones comerciales basadas en tendencias reales.</a:t>
            </a:r>
          </a:p>
          <a:p>
            <a:pPr algn="just">
              <a:lnSpc>
                <a:spcPts val="2940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8736806" y="142875"/>
            <a:ext cx="407194" cy="92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5982" y="774147"/>
            <a:ext cx="6720450" cy="3145730"/>
            <a:chOff x="0" y="0"/>
            <a:chExt cx="1769995" cy="8285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9995" cy="828505"/>
            </a:xfrm>
            <a:custGeom>
              <a:avLst/>
              <a:gdLst/>
              <a:ahLst/>
              <a:cxnLst/>
              <a:rect l="l" t="t" r="r" b="b"/>
              <a:pathLst>
                <a:path w="1769995" h="828505">
                  <a:moveTo>
                    <a:pt x="51840" y="0"/>
                  </a:moveTo>
                  <a:lnTo>
                    <a:pt x="1718155" y="0"/>
                  </a:lnTo>
                  <a:cubicBezTo>
                    <a:pt x="1746786" y="0"/>
                    <a:pt x="1769995" y="23209"/>
                    <a:pt x="1769995" y="51840"/>
                  </a:cubicBezTo>
                  <a:lnTo>
                    <a:pt x="1769995" y="776665"/>
                  </a:lnTo>
                  <a:cubicBezTo>
                    <a:pt x="1769995" y="805296"/>
                    <a:pt x="1746786" y="828505"/>
                    <a:pt x="1718155" y="828505"/>
                  </a:cubicBezTo>
                  <a:lnTo>
                    <a:pt x="51840" y="828505"/>
                  </a:lnTo>
                  <a:cubicBezTo>
                    <a:pt x="23209" y="828505"/>
                    <a:pt x="0" y="805296"/>
                    <a:pt x="0" y="776665"/>
                  </a:cubicBezTo>
                  <a:lnTo>
                    <a:pt x="0" y="51840"/>
                  </a:lnTo>
                  <a:cubicBezTo>
                    <a:pt x="0" y="23209"/>
                    <a:pt x="23209" y="0"/>
                    <a:pt x="51840" y="0"/>
                  </a:cubicBezTo>
                  <a:close/>
                </a:path>
              </a:pathLst>
            </a:custGeom>
            <a:solidFill>
              <a:srgbClr val="5B312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769995" cy="885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12994" y="1199101"/>
            <a:ext cx="6807293" cy="3944399"/>
            <a:chOff x="0" y="0"/>
            <a:chExt cx="1054628" cy="6110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4628" cy="611091"/>
            </a:xfrm>
            <a:custGeom>
              <a:avLst/>
              <a:gdLst/>
              <a:ahLst/>
              <a:cxnLst/>
              <a:rect l="l" t="t" r="r" b="b"/>
              <a:pathLst>
                <a:path w="1054628" h="611091">
                  <a:moveTo>
                    <a:pt x="51178" y="0"/>
                  </a:moveTo>
                  <a:lnTo>
                    <a:pt x="1003450" y="0"/>
                  </a:lnTo>
                  <a:cubicBezTo>
                    <a:pt x="1017023" y="0"/>
                    <a:pt x="1030040" y="5392"/>
                    <a:pt x="1039638" y="14990"/>
                  </a:cubicBezTo>
                  <a:cubicBezTo>
                    <a:pt x="1049236" y="24588"/>
                    <a:pt x="1054628" y="37605"/>
                    <a:pt x="1054628" y="51178"/>
                  </a:cubicBezTo>
                  <a:lnTo>
                    <a:pt x="1054628" y="559912"/>
                  </a:lnTo>
                  <a:cubicBezTo>
                    <a:pt x="1054628" y="573486"/>
                    <a:pt x="1049236" y="586503"/>
                    <a:pt x="1039638" y="596101"/>
                  </a:cubicBezTo>
                  <a:cubicBezTo>
                    <a:pt x="1030040" y="605699"/>
                    <a:pt x="1017023" y="611091"/>
                    <a:pt x="1003450" y="611091"/>
                  </a:cubicBezTo>
                  <a:lnTo>
                    <a:pt x="51178" y="611091"/>
                  </a:lnTo>
                  <a:cubicBezTo>
                    <a:pt x="37605" y="611091"/>
                    <a:pt x="24588" y="605699"/>
                    <a:pt x="14990" y="596101"/>
                  </a:cubicBezTo>
                  <a:cubicBezTo>
                    <a:pt x="5392" y="586503"/>
                    <a:pt x="0" y="573486"/>
                    <a:pt x="0" y="559912"/>
                  </a:cubicBezTo>
                  <a:lnTo>
                    <a:pt x="0" y="51178"/>
                  </a:lnTo>
                  <a:cubicBezTo>
                    <a:pt x="0" y="37605"/>
                    <a:pt x="5392" y="24588"/>
                    <a:pt x="14990" y="14990"/>
                  </a:cubicBezTo>
                  <a:cubicBezTo>
                    <a:pt x="24588" y="5392"/>
                    <a:pt x="37605" y="0"/>
                    <a:pt x="51178" y="0"/>
                  </a:cubicBezTo>
                  <a:close/>
                </a:path>
              </a:pathLst>
            </a:custGeom>
            <a:blipFill>
              <a:blip r:embed="rId2"/>
              <a:stretch>
                <a:fillRect t="-79516" b="-7951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2994" y="5994791"/>
            <a:ext cx="7052705" cy="357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Elementos Analíticos a Incorporar</a:t>
            </a:r>
          </a:p>
          <a:p>
            <a:pPr algn="l">
              <a:lnSpc>
                <a:spcPts val="6999"/>
              </a:lnSpc>
            </a:pPr>
            <a:endParaRPr lang="en-US" sz="6999" b="1">
              <a:solidFill>
                <a:srgbClr val="5B3121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448800" y="276225"/>
            <a:ext cx="7810500" cy="995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Cobertura de Vacunación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000000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Qué: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Comparación de cobertura de vacunación entre períodos del 2026-2027 (Q1 vs Q2; S1 vs S2), por comuna y especie.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Por qué: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Detectar tendencias (mejora/caída) y ajustar campañas, focalizar recursos y evaluar impacto municipal.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Cómo: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Filtrar eventos de vacunación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Agrupar por período, comuna y especie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Calcular % cobertura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Comparar períodos equivalentes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Clasificar tendencia (↑ ↓ →)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Visualizar en líneas y mapas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Periodicidad: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Mensual (seguimiento) / Semestral (evaluación estratégica).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Umbrales: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&lt;60% = zona crítica; caída ≥10% = alerta.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Valor: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Permite priorizar campañas y recursos según evolución sanitaria.</a:t>
            </a:r>
          </a:p>
          <a:p>
            <a:pPr algn="l">
              <a:lnSpc>
                <a:spcPts val="2520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8671441" y="142875"/>
            <a:ext cx="537924" cy="92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5982" y="774582"/>
            <a:ext cx="6720450" cy="3145295"/>
            <a:chOff x="0" y="0"/>
            <a:chExt cx="1769995" cy="828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9995" cy="828390"/>
            </a:xfrm>
            <a:custGeom>
              <a:avLst/>
              <a:gdLst/>
              <a:ahLst/>
              <a:cxnLst/>
              <a:rect l="l" t="t" r="r" b="b"/>
              <a:pathLst>
                <a:path w="1769995" h="828390">
                  <a:moveTo>
                    <a:pt x="51840" y="0"/>
                  </a:moveTo>
                  <a:lnTo>
                    <a:pt x="1718155" y="0"/>
                  </a:lnTo>
                  <a:cubicBezTo>
                    <a:pt x="1746786" y="0"/>
                    <a:pt x="1769995" y="23209"/>
                    <a:pt x="1769995" y="51840"/>
                  </a:cubicBezTo>
                  <a:lnTo>
                    <a:pt x="1769995" y="776551"/>
                  </a:lnTo>
                  <a:cubicBezTo>
                    <a:pt x="1769995" y="805181"/>
                    <a:pt x="1746786" y="828390"/>
                    <a:pt x="1718155" y="828390"/>
                  </a:cubicBezTo>
                  <a:lnTo>
                    <a:pt x="51840" y="828390"/>
                  </a:lnTo>
                  <a:cubicBezTo>
                    <a:pt x="23209" y="828390"/>
                    <a:pt x="0" y="805181"/>
                    <a:pt x="0" y="776551"/>
                  </a:cubicBezTo>
                  <a:lnTo>
                    <a:pt x="0" y="51840"/>
                  </a:lnTo>
                  <a:cubicBezTo>
                    <a:pt x="0" y="23209"/>
                    <a:pt x="23209" y="0"/>
                    <a:pt x="51840" y="0"/>
                  </a:cubicBezTo>
                  <a:close/>
                </a:path>
              </a:pathLst>
            </a:custGeom>
            <a:solidFill>
              <a:srgbClr val="5B312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769995" cy="9522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12994" y="1199101"/>
            <a:ext cx="6807293" cy="3944399"/>
            <a:chOff x="0" y="0"/>
            <a:chExt cx="1054628" cy="6110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4628" cy="611091"/>
            </a:xfrm>
            <a:custGeom>
              <a:avLst/>
              <a:gdLst/>
              <a:ahLst/>
              <a:cxnLst/>
              <a:rect l="l" t="t" r="r" b="b"/>
              <a:pathLst>
                <a:path w="1054628" h="611091">
                  <a:moveTo>
                    <a:pt x="51178" y="0"/>
                  </a:moveTo>
                  <a:lnTo>
                    <a:pt x="1003450" y="0"/>
                  </a:lnTo>
                  <a:cubicBezTo>
                    <a:pt x="1017023" y="0"/>
                    <a:pt x="1030040" y="5392"/>
                    <a:pt x="1039638" y="14990"/>
                  </a:cubicBezTo>
                  <a:cubicBezTo>
                    <a:pt x="1049236" y="24588"/>
                    <a:pt x="1054628" y="37605"/>
                    <a:pt x="1054628" y="51178"/>
                  </a:cubicBezTo>
                  <a:lnTo>
                    <a:pt x="1054628" y="559912"/>
                  </a:lnTo>
                  <a:cubicBezTo>
                    <a:pt x="1054628" y="573486"/>
                    <a:pt x="1049236" y="586503"/>
                    <a:pt x="1039638" y="596101"/>
                  </a:cubicBezTo>
                  <a:cubicBezTo>
                    <a:pt x="1030040" y="605699"/>
                    <a:pt x="1017023" y="611091"/>
                    <a:pt x="1003450" y="611091"/>
                  </a:cubicBezTo>
                  <a:lnTo>
                    <a:pt x="51178" y="611091"/>
                  </a:lnTo>
                  <a:cubicBezTo>
                    <a:pt x="37605" y="611091"/>
                    <a:pt x="24588" y="605699"/>
                    <a:pt x="14990" y="596101"/>
                  </a:cubicBezTo>
                  <a:cubicBezTo>
                    <a:pt x="5392" y="586503"/>
                    <a:pt x="0" y="573486"/>
                    <a:pt x="0" y="559912"/>
                  </a:cubicBezTo>
                  <a:lnTo>
                    <a:pt x="0" y="51178"/>
                  </a:lnTo>
                  <a:cubicBezTo>
                    <a:pt x="0" y="37605"/>
                    <a:pt x="5392" y="24588"/>
                    <a:pt x="14990" y="14990"/>
                  </a:cubicBezTo>
                  <a:cubicBezTo>
                    <a:pt x="24588" y="5392"/>
                    <a:pt x="37605" y="0"/>
                    <a:pt x="51178" y="0"/>
                  </a:cubicBezTo>
                  <a:close/>
                </a:path>
              </a:pathLst>
            </a:custGeom>
            <a:blipFill>
              <a:blip r:embed="rId2"/>
              <a:stretch>
                <a:fillRect t="-79516" b="-7951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2994" y="5994791"/>
            <a:ext cx="7052705" cy="357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Elementos Analíticos a Incorporar</a:t>
            </a:r>
          </a:p>
          <a:p>
            <a:pPr algn="l">
              <a:lnSpc>
                <a:spcPts val="6999"/>
              </a:lnSpc>
            </a:pPr>
            <a:endParaRPr lang="en-US" sz="6999" b="1">
              <a:solidFill>
                <a:srgbClr val="5B3121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448800" y="276225"/>
            <a:ext cx="7810500" cy="997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Adherencia a Rutinas de Cuidado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000000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Qué: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Comparación del cumplimiento de rutinas (alimentación, paseos, controles, medicación) entre períodos de 2026 - 2027 (meses o semestres), por comuna, especie y tipo.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Por qué: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Evaluar mejora o deterioro de hábitos para optimizar recordatorios, gamificación y campañas educativas.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Cómo: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Calcular % cumplimiento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Segmentar por rutina, especie y comuna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Medir retrasos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Comparar períodos equivalentes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Visualizar tendencias y rankings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Periodicidad: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Mensual (seguimiento) / Semestral (evaluación funcional).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Umbrales: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&lt;50% = baja adherencia; caída ≥10% = reforzar engagement.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Valor: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Permite mejorar funcionalidades de engagement y promover bienestar animal basado en el comportamiento.</a:t>
            </a:r>
          </a:p>
          <a:p>
            <a:pPr algn="l">
              <a:lnSpc>
                <a:spcPts val="2659"/>
              </a:lnSpc>
            </a:pPr>
            <a:endParaRPr lang="en-US"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8688824" y="142875"/>
            <a:ext cx="503158" cy="92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13758">
            <a:off x="587717" y="947122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1420549">
            <a:off x="8037779" y="-462317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4"/>
                </a:lnTo>
                <a:lnTo>
                  <a:pt x="0" y="924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2606717">
            <a:off x="15864597" y="1419600"/>
            <a:ext cx="1472695" cy="842854"/>
          </a:xfrm>
          <a:custGeom>
            <a:avLst/>
            <a:gdLst/>
            <a:ahLst/>
            <a:cxnLst/>
            <a:rect l="l" t="t" r="r" b="b"/>
            <a:pathLst>
              <a:path w="1472695" h="842854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-1998823">
            <a:off x="13768978" y="8622192"/>
            <a:ext cx="2509269" cy="1925864"/>
          </a:xfrm>
          <a:custGeom>
            <a:avLst/>
            <a:gdLst/>
            <a:ahLst/>
            <a:cxnLst/>
            <a:rect l="l" t="t" r="r" b="b"/>
            <a:pathLst>
              <a:path w="2509269" h="1925864">
                <a:moveTo>
                  <a:pt x="0" y="0"/>
                </a:moveTo>
                <a:lnTo>
                  <a:pt x="2509269" y="0"/>
                </a:lnTo>
                <a:lnTo>
                  <a:pt x="2509269" y="1925864"/>
                </a:lnTo>
                <a:lnTo>
                  <a:pt x="0" y="1925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rot="-2024627">
            <a:off x="-554037" y="8256975"/>
            <a:ext cx="1472695" cy="842854"/>
          </a:xfrm>
          <a:custGeom>
            <a:avLst/>
            <a:gdLst/>
            <a:ahLst/>
            <a:cxnLst/>
            <a:rect l="l" t="t" r="r" b="b"/>
            <a:pathLst>
              <a:path w="1472695" h="842854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887550" y="2473092"/>
            <a:ext cx="3077118" cy="2670408"/>
            <a:chOff x="0" y="0"/>
            <a:chExt cx="4102823" cy="3560544"/>
          </a:xfrm>
        </p:grpSpPr>
        <p:sp>
          <p:nvSpPr>
            <p:cNvPr id="8" name="Freeform 8"/>
            <p:cNvSpPr/>
            <p:nvPr/>
          </p:nvSpPr>
          <p:spPr>
            <a:xfrm>
              <a:off x="0" y="39820"/>
              <a:ext cx="1797761" cy="2535304"/>
            </a:xfrm>
            <a:custGeom>
              <a:avLst/>
              <a:gdLst/>
              <a:ahLst/>
              <a:cxnLst/>
              <a:rect l="l" t="t" r="r" b="b"/>
              <a:pathLst>
                <a:path w="1797761" h="2535304">
                  <a:moveTo>
                    <a:pt x="0" y="0"/>
                  </a:moveTo>
                  <a:lnTo>
                    <a:pt x="1797761" y="0"/>
                  </a:lnTo>
                  <a:lnTo>
                    <a:pt x="1797761" y="2535303"/>
                  </a:lnTo>
                  <a:lnTo>
                    <a:pt x="0" y="2535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Freeform 9"/>
            <p:cNvSpPr/>
            <p:nvPr/>
          </p:nvSpPr>
          <p:spPr>
            <a:xfrm>
              <a:off x="2241599" y="0"/>
              <a:ext cx="1861224" cy="2614943"/>
            </a:xfrm>
            <a:custGeom>
              <a:avLst/>
              <a:gdLst/>
              <a:ahLst/>
              <a:cxnLst/>
              <a:rect l="l" t="t" r="r" b="b"/>
              <a:pathLst>
                <a:path w="1861224" h="2614943">
                  <a:moveTo>
                    <a:pt x="0" y="0"/>
                  </a:moveTo>
                  <a:lnTo>
                    <a:pt x="1861224" y="0"/>
                  </a:lnTo>
                  <a:lnTo>
                    <a:pt x="1861224" y="2614943"/>
                  </a:lnTo>
                  <a:lnTo>
                    <a:pt x="0" y="2614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7879" t="-5838" r="-27939" b="-5067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110514" y="945601"/>
              <a:ext cx="1852145" cy="2614943"/>
            </a:xfrm>
            <a:custGeom>
              <a:avLst/>
              <a:gdLst/>
              <a:ahLst/>
              <a:cxnLst/>
              <a:rect l="l" t="t" r="r" b="b"/>
              <a:pathLst>
                <a:path w="1852145" h="2614943">
                  <a:moveTo>
                    <a:pt x="0" y="0"/>
                  </a:moveTo>
                  <a:lnTo>
                    <a:pt x="1852145" y="0"/>
                  </a:lnTo>
                  <a:lnTo>
                    <a:pt x="1852145" y="2614943"/>
                  </a:lnTo>
                  <a:lnTo>
                    <a:pt x="0" y="2614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1" name="Freeform 11"/>
          <p:cNvSpPr/>
          <p:nvPr/>
        </p:nvSpPr>
        <p:spPr>
          <a:xfrm>
            <a:off x="5697513" y="2473092"/>
            <a:ext cx="2859875" cy="2670408"/>
          </a:xfrm>
          <a:custGeom>
            <a:avLst/>
            <a:gdLst/>
            <a:ahLst/>
            <a:cxnLst/>
            <a:rect l="l" t="t" r="r" b="b"/>
            <a:pathLst>
              <a:path w="2859875" h="2670408">
                <a:moveTo>
                  <a:pt x="0" y="0"/>
                </a:moveTo>
                <a:lnTo>
                  <a:pt x="2859875" y="0"/>
                </a:lnTo>
                <a:lnTo>
                  <a:pt x="2859875" y="2670408"/>
                </a:lnTo>
                <a:lnTo>
                  <a:pt x="0" y="26704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10069434" y="2509275"/>
            <a:ext cx="3003263" cy="2515233"/>
          </a:xfrm>
          <a:custGeom>
            <a:avLst/>
            <a:gdLst/>
            <a:ahLst/>
            <a:cxnLst/>
            <a:rect l="l" t="t" r="r" b="b"/>
            <a:pathLst>
              <a:path w="3003263" h="2515233">
                <a:moveTo>
                  <a:pt x="0" y="0"/>
                </a:moveTo>
                <a:lnTo>
                  <a:pt x="3003263" y="0"/>
                </a:lnTo>
                <a:lnTo>
                  <a:pt x="3003263" y="2515233"/>
                </a:lnTo>
                <a:lnTo>
                  <a:pt x="0" y="25152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14434413" y="2653355"/>
            <a:ext cx="2684242" cy="2550030"/>
          </a:xfrm>
          <a:custGeom>
            <a:avLst/>
            <a:gdLst/>
            <a:ahLst/>
            <a:cxnLst/>
            <a:rect l="l" t="t" r="r" b="b"/>
            <a:pathLst>
              <a:path w="2684242" h="2550030">
                <a:moveTo>
                  <a:pt x="0" y="0"/>
                </a:moveTo>
                <a:lnTo>
                  <a:pt x="2684242" y="0"/>
                </a:lnTo>
                <a:lnTo>
                  <a:pt x="2684242" y="2550029"/>
                </a:lnTo>
                <a:lnTo>
                  <a:pt x="0" y="25500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3978241" y="828675"/>
            <a:ext cx="10015894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 err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Tecnologías</a:t>
            </a:r>
            <a:r>
              <a:rPr lang="en-US" sz="6999" b="1" dirty="0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6999" b="1" dirty="0" err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utilizadas</a:t>
            </a:r>
            <a:endParaRPr lang="en-US" sz="6999" b="1" dirty="0">
              <a:solidFill>
                <a:srgbClr val="5B3121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42291" y="5553075"/>
            <a:ext cx="4286250" cy="429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100"/>
              </a:lnSpc>
              <a:buFont typeface="Arial"/>
              <a:buChar char="•"/>
            </a:pPr>
            <a:r>
              <a:rPr lang="en-US" sz="21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HTML:</a:t>
            </a: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Provee la estructura mínima necesaria para que el navegador cargue los archivos de React, usando el contenedor de “index.html”, donde también se encuentran los metadatos de la aplicación.</a:t>
            </a:r>
          </a:p>
          <a:p>
            <a:pPr algn="l">
              <a:lnSpc>
                <a:spcPts val="2100"/>
              </a:lnSpc>
            </a:pPr>
            <a:endParaRPr lang="en-US" sz="21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3390" lvl="1" indent="-226695" algn="l">
              <a:lnSpc>
                <a:spcPts val="2100"/>
              </a:lnSpc>
              <a:buFont typeface="Arial"/>
              <a:buChar char="•"/>
            </a:pPr>
            <a:r>
              <a:rPr lang="en-US" sz="21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CSS:</a:t>
            </a: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Define la presentación y el diseño visual de la interfaz.</a:t>
            </a:r>
          </a:p>
          <a:p>
            <a:pPr algn="l">
              <a:lnSpc>
                <a:spcPts val="2100"/>
              </a:lnSpc>
            </a:pPr>
            <a:endParaRPr lang="en-US" sz="21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3390" lvl="1" indent="-226695" algn="l">
              <a:lnSpc>
                <a:spcPts val="2100"/>
              </a:lnSpc>
              <a:buFont typeface="Arial"/>
              <a:buChar char="•"/>
            </a:pPr>
            <a:r>
              <a:rPr lang="en-US" sz="21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JS:</a:t>
            </a: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Gestiona la funcionalidad dinámica y la lógica de la aplicación.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96827" y="5553075"/>
            <a:ext cx="3861247" cy="1358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React:</a:t>
            </a: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Librería de JS que permite la construcción de interfaces de usuario complejas y dinámicas.</a:t>
            </a:r>
          </a:p>
          <a:p>
            <a:pPr algn="l">
              <a:lnSpc>
                <a:spcPts val="2100"/>
              </a:lnSpc>
            </a:pPr>
            <a:endParaRPr lang="en-US" sz="21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676385" y="5553075"/>
            <a:ext cx="3789361" cy="1091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SQL:</a:t>
            </a: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Lenguaje estandarizado para definir, consultar y manipular bases de datos relacionales.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63736" y="5553075"/>
            <a:ext cx="3916569" cy="1624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Control de versiones:</a:t>
            </a: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Permite gestionar el historial y las versiones de un proyecto en colaboración. Además, permite registrar y coordinar cambios en el código fuente.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sp>
        <p:nvSpPr>
          <p:cNvPr id="20" name="Freeform 20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13758">
            <a:off x="587717" y="947122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1420549">
            <a:off x="8037779" y="-462317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4"/>
                </a:lnTo>
                <a:lnTo>
                  <a:pt x="0" y="924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2606717">
            <a:off x="15864597" y="1419600"/>
            <a:ext cx="1472695" cy="842854"/>
          </a:xfrm>
          <a:custGeom>
            <a:avLst/>
            <a:gdLst/>
            <a:ahLst/>
            <a:cxnLst/>
            <a:rect l="l" t="t" r="r" b="b"/>
            <a:pathLst>
              <a:path w="1472695" h="842854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-2024627">
            <a:off x="-554037" y="8256975"/>
            <a:ext cx="1472695" cy="842854"/>
          </a:xfrm>
          <a:custGeom>
            <a:avLst/>
            <a:gdLst/>
            <a:ahLst/>
            <a:cxnLst/>
            <a:rect l="l" t="t" r="r" b="b"/>
            <a:pathLst>
              <a:path w="1472695" h="842854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3594680" y="828675"/>
            <a:ext cx="10783015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 err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Herramientas</a:t>
            </a:r>
            <a:r>
              <a:rPr lang="en-US" sz="6999" b="1" dirty="0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6999" b="1" dirty="0" err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utilizadas</a:t>
            </a:r>
            <a:endParaRPr lang="en-US" sz="6999" b="1" dirty="0">
              <a:solidFill>
                <a:srgbClr val="5B3121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2062270" y="2390502"/>
            <a:ext cx="2560254" cy="2670408"/>
          </a:xfrm>
          <a:custGeom>
            <a:avLst/>
            <a:gdLst/>
            <a:ahLst/>
            <a:cxnLst/>
            <a:rect l="l" t="t" r="r" b="b"/>
            <a:pathLst>
              <a:path w="2560254" h="2670408">
                <a:moveTo>
                  <a:pt x="0" y="0"/>
                </a:moveTo>
                <a:lnTo>
                  <a:pt x="2560254" y="0"/>
                </a:lnTo>
                <a:lnTo>
                  <a:pt x="2560254" y="2670409"/>
                </a:lnTo>
                <a:lnTo>
                  <a:pt x="0" y="26704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6356074" y="2386353"/>
            <a:ext cx="2674558" cy="2674558"/>
          </a:xfrm>
          <a:custGeom>
            <a:avLst/>
            <a:gdLst/>
            <a:ahLst/>
            <a:cxnLst/>
            <a:rect l="l" t="t" r="r" b="b"/>
            <a:pathLst>
              <a:path w="2674558" h="2674558">
                <a:moveTo>
                  <a:pt x="0" y="0"/>
                </a:moveTo>
                <a:lnTo>
                  <a:pt x="2674557" y="0"/>
                </a:lnTo>
                <a:lnTo>
                  <a:pt x="2674557" y="2674558"/>
                </a:lnTo>
                <a:lnTo>
                  <a:pt x="0" y="26745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1447716" y="5470486"/>
            <a:ext cx="3789361" cy="215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PostgreSQL:</a:t>
            </a: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Sistema de gestión de bases de datos relacionales que permite almacenar datos de forma segura, gestionar relaciones complejas entre ellos y garantizar la integridad de la información.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54456" y="5470486"/>
            <a:ext cx="3916569" cy="2425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Git:</a:t>
            </a: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Sistema de control de versiones distribuido que permite rastrear y gestionar los cambios en archivos a lo largo del tiempo, volver a versiones anteriores, trabajar en paralelo sin interferencias y fusionar el trabajo de varios colaboradores.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3991583" y="2386353"/>
            <a:ext cx="2684103" cy="2670408"/>
          </a:xfrm>
          <a:custGeom>
            <a:avLst/>
            <a:gdLst/>
            <a:ahLst/>
            <a:cxnLst/>
            <a:rect l="l" t="t" r="r" b="b"/>
            <a:pathLst>
              <a:path w="2684103" h="2670408">
                <a:moveTo>
                  <a:pt x="0" y="0"/>
                </a:moveTo>
                <a:lnTo>
                  <a:pt x="2684103" y="0"/>
                </a:lnTo>
                <a:lnTo>
                  <a:pt x="2684103" y="2670408"/>
                </a:lnTo>
                <a:lnTo>
                  <a:pt x="0" y="26704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7003" t="-17644" r="-16383" b="-16426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10318382" y="2386353"/>
            <a:ext cx="2670408" cy="2670408"/>
          </a:xfrm>
          <a:custGeom>
            <a:avLst/>
            <a:gdLst/>
            <a:ahLst/>
            <a:cxnLst/>
            <a:rect l="l" t="t" r="r" b="b"/>
            <a:pathLst>
              <a:path w="2670408" h="2670408">
                <a:moveTo>
                  <a:pt x="0" y="0"/>
                </a:moveTo>
                <a:lnTo>
                  <a:pt x="2670408" y="0"/>
                </a:lnTo>
                <a:lnTo>
                  <a:pt x="2670408" y="2670408"/>
                </a:lnTo>
                <a:lnTo>
                  <a:pt x="0" y="26704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TextBox 13"/>
          <p:cNvSpPr txBox="1"/>
          <p:nvPr/>
        </p:nvSpPr>
        <p:spPr>
          <a:xfrm>
            <a:off x="13826985" y="5466336"/>
            <a:ext cx="3013298" cy="215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Github:</a:t>
            </a: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Plataforma en línea basada en Git que permite alojar repositorios, colaborar en proyectos, gestionar versiones y revisar código en equipo.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46937" y="5470486"/>
            <a:ext cx="3013298" cy="2425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Supabase:</a:t>
            </a: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Plataforma Backend as a Service (BaaS) que ofrece base de datos PostgreSQL, autenticación, almacenamiento y API automáticas. Facilita el desarrollo rápido de aplicaciones.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sp>
        <p:nvSpPr>
          <p:cNvPr id="16" name="Freeform 16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13758">
            <a:off x="587717" y="947122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1420549">
            <a:off x="8037779" y="-462317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4"/>
                </a:lnTo>
                <a:lnTo>
                  <a:pt x="0" y="924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2606717">
            <a:off x="15864597" y="1419600"/>
            <a:ext cx="1472695" cy="842854"/>
          </a:xfrm>
          <a:custGeom>
            <a:avLst/>
            <a:gdLst/>
            <a:ahLst/>
            <a:cxnLst/>
            <a:rect l="l" t="t" r="r" b="b"/>
            <a:pathLst>
              <a:path w="1472695" h="842854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-1998823">
            <a:off x="13768978" y="8622192"/>
            <a:ext cx="2509269" cy="1925864"/>
          </a:xfrm>
          <a:custGeom>
            <a:avLst/>
            <a:gdLst/>
            <a:ahLst/>
            <a:cxnLst/>
            <a:rect l="l" t="t" r="r" b="b"/>
            <a:pathLst>
              <a:path w="2509269" h="1925864">
                <a:moveTo>
                  <a:pt x="0" y="0"/>
                </a:moveTo>
                <a:lnTo>
                  <a:pt x="2509269" y="0"/>
                </a:lnTo>
                <a:lnTo>
                  <a:pt x="2509269" y="1925864"/>
                </a:lnTo>
                <a:lnTo>
                  <a:pt x="0" y="1925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rot="-2024627">
            <a:off x="-554037" y="8256975"/>
            <a:ext cx="1472695" cy="842854"/>
          </a:xfrm>
          <a:custGeom>
            <a:avLst/>
            <a:gdLst/>
            <a:ahLst/>
            <a:cxnLst/>
            <a:rect l="l" t="t" r="r" b="b"/>
            <a:pathLst>
              <a:path w="1472695" h="842854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392848" y="2653355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0" y="0"/>
                </a:moveTo>
                <a:lnTo>
                  <a:pt x="2857500" y="0"/>
                </a:lnTo>
                <a:lnTo>
                  <a:pt x="28575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5602898" y="2653355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0" y="0"/>
                </a:moveTo>
                <a:lnTo>
                  <a:pt x="2857500" y="0"/>
                </a:lnTo>
                <a:lnTo>
                  <a:pt x="28575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4563606" y="2649105"/>
            <a:ext cx="2861750" cy="2861750"/>
          </a:xfrm>
          <a:custGeom>
            <a:avLst/>
            <a:gdLst/>
            <a:ahLst/>
            <a:cxnLst/>
            <a:rect l="l" t="t" r="r" b="b"/>
            <a:pathLst>
              <a:path w="2861750" h="2861750">
                <a:moveTo>
                  <a:pt x="0" y="0"/>
                </a:moveTo>
                <a:lnTo>
                  <a:pt x="2861749" y="0"/>
                </a:lnTo>
                <a:lnTo>
                  <a:pt x="2861749" y="2861750"/>
                </a:lnTo>
                <a:lnTo>
                  <a:pt x="0" y="2861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9951195" y="2653355"/>
            <a:ext cx="2903668" cy="2903668"/>
          </a:xfrm>
          <a:custGeom>
            <a:avLst/>
            <a:gdLst/>
            <a:ahLst/>
            <a:cxnLst/>
            <a:rect l="l" t="t" r="r" b="b"/>
            <a:pathLst>
              <a:path w="2903668" h="2903668">
                <a:moveTo>
                  <a:pt x="0" y="0"/>
                </a:moveTo>
                <a:lnTo>
                  <a:pt x="2903668" y="0"/>
                </a:lnTo>
                <a:lnTo>
                  <a:pt x="2903668" y="2903668"/>
                </a:lnTo>
                <a:lnTo>
                  <a:pt x="0" y="29036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3866441" y="667528"/>
            <a:ext cx="10535359" cy="1141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1" dirty="0" err="1">
                <a:solidFill>
                  <a:srgbClr val="5B3121"/>
                </a:solidFill>
                <a:latin typeface="Merriweather Bold" panose="020B0604020202020204" charset="0"/>
                <a:ea typeface="Agrandir Bold"/>
                <a:cs typeface="Agrandir Bold"/>
                <a:sym typeface="Agrandir Bold"/>
              </a:rPr>
              <a:t>Herramientas</a:t>
            </a:r>
            <a:r>
              <a:rPr lang="en-US" sz="6800" b="1" dirty="0">
                <a:solidFill>
                  <a:srgbClr val="5B3121"/>
                </a:solidFill>
                <a:latin typeface="Merriweather Bold" panose="020B0604020202020204" charset="0"/>
                <a:ea typeface="Agrandir Bold"/>
                <a:cs typeface="Agrandir Bold"/>
                <a:sym typeface="Agrandir Bold"/>
              </a:rPr>
              <a:t> </a:t>
            </a:r>
            <a:r>
              <a:rPr lang="en-US" sz="6800" b="1" dirty="0" err="1">
                <a:solidFill>
                  <a:srgbClr val="5B3121"/>
                </a:solidFill>
                <a:latin typeface="Merriweather Bold" panose="020B0604020202020204" charset="0"/>
                <a:ea typeface="Agrandir Bold"/>
                <a:cs typeface="Agrandir Bold"/>
                <a:sym typeface="Agrandir Bold"/>
              </a:rPr>
              <a:t>utilizadas</a:t>
            </a:r>
            <a:endParaRPr lang="en-US" sz="6800" b="1" dirty="0">
              <a:solidFill>
                <a:srgbClr val="5B3121"/>
              </a:solidFill>
              <a:latin typeface="Merriweather Bold" panose="020B0604020202020204" charset="0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34196" y="6187130"/>
            <a:ext cx="3574804" cy="2425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Discord:</a:t>
            </a: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Plataforma de comunicación por voz, texto y video utilizada por comunidades y equipos de desarrollo para coordinar proyectos y compartir información en tiempo real.</a:t>
            </a:r>
          </a:p>
          <a:p>
            <a:pPr algn="l">
              <a:lnSpc>
                <a:spcPts val="2100"/>
              </a:lnSpc>
            </a:pPr>
            <a:endParaRPr lang="en-US" sz="21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448609" y="6187130"/>
            <a:ext cx="3166078" cy="2425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Visual Studio Code:</a:t>
            </a: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Editor de código fuente.</a:t>
            </a:r>
          </a:p>
          <a:p>
            <a:pPr algn="l">
              <a:lnSpc>
                <a:spcPts val="2100"/>
              </a:lnSpc>
            </a:pPr>
            <a:endParaRPr lang="en-US" sz="21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2100"/>
              </a:lnSpc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Soporta múltiples lenguajes, extensiones y depuración, ideal para desarrollo web y de software.</a:t>
            </a:r>
          </a:p>
          <a:p>
            <a:pPr algn="l">
              <a:lnSpc>
                <a:spcPts val="2100"/>
              </a:lnSpc>
            </a:pPr>
            <a:endParaRPr lang="en-US" sz="21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452887" y="6187130"/>
            <a:ext cx="4234459" cy="2958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Resend:</a:t>
            </a: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Servicio API en la nube diseñado para enviar correos electrónicos transaccionales desde aplicaciones.</a:t>
            </a:r>
          </a:p>
          <a:p>
            <a:pPr algn="l">
              <a:lnSpc>
                <a:spcPts val="2100"/>
              </a:lnSpc>
            </a:pPr>
            <a:endParaRPr lang="en-US" sz="21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2100"/>
              </a:lnSpc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Facilita la integración mediante REST API o SDK, asegurando una entrega rápida, segura y confiable de mensajes automatizados.</a:t>
            </a:r>
          </a:p>
          <a:p>
            <a:pPr algn="l">
              <a:lnSpc>
                <a:spcPts val="2100"/>
              </a:lnSpc>
            </a:pPr>
            <a:endParaRPr lang="en-US" sz="21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284480" y="6187130"/>
            <a:ext cx="3574804" cy="189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Vercel:</a:t>
            </a: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Plataforma en la nube (PaaS) que permite desplegar y alojar aplicaciones web de manera rápida y automática.</a:t>
            </a:r>
          </a:p>
          <a:p>
            <a:pPr algn="l">
              <a:lnSpc>
                <a:spcPts val="2100"/>
              </a:lnSpc>
            </a:pPr>
            <a:endParaRPr lang="en-US" sz="21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20549">
            <a:off x="7998660" y="8089183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9457379" y="1263557"/>
            <a:ext cx="7041302" cy="7759885"/>
            <a:chOff x="0" y="0"/>
            <a:chExt cx="1069836" cy="11790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9836" cy="1179016"/>
            </a:xfrm>
            <a:custGeom>
              <a:avLst/>
              <a:gdLst/>
              <a:ahLst/>
              <a:cxnLst/>
              <a:rect l="l" t="t" r="r" b="b"/>
              <a:pathLst>
                <a:path w="1069836" h="1179016">
                  <a:moveTo>
                    <a:pt x="49478" y="0"/>
                  </a:moveTo>
                  <a:lnTo>
                    <a:pt x="1020359" y="0"/>
                  </a:lnTo>
                  <a:cubicBezTo>
                    <a:pt x="1033481" y="0"/>
                    <a:pt x="1046066" y="5213"/>
                    <a:pt x="1055345" y="14492"/>
                  </a:cubicBezTo>
                  <a:cubicBezTo>
                    <a:pt x="1064623" y="23770"/>
                    <a:pt x="1069836" y="36355"/>
                    <a:pt x="1069836" y="49478"/>
                  </a:cubicBezTo>
                  <a:lnTo>
                    <a:pt x="1069836" y="1129538"/>
                  </a:lnTo>
                  <a:cubicBezTo>
                    <a:pt x="1069836" y="1142660"/>
                    <a:pt x="1064623" y="1155245"/>
                    <a:pt x="1055345" y="1164524"/>
                  </a:cubicBezTo>
                  <a:cubicBezTo>
                    <a:pt x="1046066" y="1173803"/>
                    <a:pt x="1033481" y="1179016"/>
                    <a:pt x="1020359" y="1179016"/>
                  </a:cubicBezTo>
                  <a:lnTo>
                    <a:pt x="49478" y="1179016"/>
                  </a:lnTo>
                  <a:cubicBezTo>
                    <a:pt x="36355" y="1179016"/>
                    <a:pt x="23770" y="1173803"/>
                    <a:pt x="14492" y="1164524"/>
                  </a:cubicBezTo>
                  <a:cubicBezTo>
                    <a:pt x="5213" y="1155245"/>
                    <a:pt x="0" y="1142660"/>
                    <a:pt x="0" y="1129538"/>
                  </a:cubicBezTo>
                  <a:lnTo>
                    <a:pt x="0" y="49478"/>
                  </a:lnTo>
                  <a:cubicBezTo>
                    <a:pt x="0" y="36355"/>
                    <a:pt x="5213" y="23770"/>
                    <a:pt x="14492" y="14492"/>
                  </a:cubicBezTo>
                  <a:cubicBezTo>
                    <a:pt x="23770" y="5213"/>
                    <a:pt x="36355" y="0"/>
                    <a:pt x="49478" y="0"/>
                  </a:cubicBezTo>
                  <a:close/>
                </a:path>
              </a:pathLst>
            </a:custGeom>
            <a:blipFill>
              <a:blip r:embed="rId4"/>
              <a:stretch>
                <a:fillRect l="-32705" r="-32705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095375"/>
            <a:ext cx="6580374" cy="180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 dirty="0" err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Resultado</a:t>
            </a:r>
            <a:r>
              <a:rPr lang="en-US" sz="6999" b="1" dirty="0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6999" b="1" dirty="0" err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Obtenido</a:t>
            </a:r>
            <a:endParaRPr lang="en-US" sz="6999" b="1" dirty="0">
              <a:solidFill>
                <a:srgbClr val="5B3121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6" name="Freeform 6"/>
          <p:cNvSpPr/>
          <p:nvPr/>
        </p:nvSpPr>
        <p:spPr>
          <a:xfrm rot="-1825997">
            <a:off x="5687123" y="531766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rot="167058">
            <a:off x="14856387" y="9292365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-1858074">
            <a:off x="-714588" y="8756186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6" y="0"/>
                </a:lnTo>
                <a:lnTo>
                  <a:pt x="1429176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 rot="-1420549">
            <a:off x="-704547" y="2379592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428625" y="3476625"/>
            <a:ext cx="8572500" cy="5566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Fase 1: Definición del Proyecto.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 principal: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Se completó la definición, planificación y fundamentación del proyecto PetCare, dejando preparado todo lo necesario para iniciar la construcción.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Logros: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Identificación de la problemática.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Descripción de propuesta de solución: aplicación web PetCare.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Definición del alcance y de los objetivos generales y específicos.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Selección de metodología de trabajo: híbrida Waterfall-Agile.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Definición de requerimientos funcionales y no funcionales.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20549">
            <a:off x="7998660" y="8089183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9457379" y="1263557"/>
            <a:ext cx="7041302" cy="7759885"/>
            <a:chOff x="0" y="0"/>
            <a:chExt cx="1069836" cy="11790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9836" cy="1179016"/>
            </a:xfrm>
            <a:custGeom>
              <a:avLst/>
              <a:gdLst/>
              <a:ahLst/>
              <a:cxnLst/>
              <a:rect l="l" t="t" r="r" b="b"/>
              <a:pathLst>
                <a:path w="1069836" h="117901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1121842"/>
                  </a:lnTo>
                  <a:cubicBezTo>
                    <a:pt x="1069836" y="1137005"/>
                    <a:pt x="1063813" y="1151548"/>
                    <a:pt x="1053090" y="1162270"/>
                  </a:cubicBezTo>
                  <a:cubicBezTo>
                    <a:pt x="1042368" y="1172992"/>
                    <a:pt x="1027826" y="1179016"/>
                    <a:pt x="1012662" y="1179016"/>
                  </a:cubicBezTo>
                  <a:lnTo>
                    <a:pt x="57174" y="1179016"/>
                  </a:lnTo>
                  <a:cubicBezTo>
                    <a:pt x="42011" y="1179016"/>
                    <a:pt x="27468" y="1172992"/>
                    <a:pt x="16746" y="1162270"/>
                  </a:cubicBezTo>
                  <a:cubicBezTo>
                    <a:pt x="6024" y="1151548"/>
                    <a:pt x="0" y="1137005"/>
                    <a:pt x="0" y="1121842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4"/>
              <a:stretch>
                <a:fillRect l="-32705" r="-32705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095375"/>
            <a:ext cx="6580374" cy="180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Resultado Obtenido</a:t>
            </a:r>
          </a:p>
        </p:txBody>
      </p:sp>
      <p:sp>
        <p:nvSpPr>
          <p:cNvPr id="6" name="Freeform 6"/>
          <p:cNvSpPr/>
          <p:nvPr/>
        </p:nvSpPr>
        <p:spPr>
          <a:xfrm rot="-1825997">
            <a:off x="5687123" y="531766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rot="167058">
            <a:off x="14856387" y="9292365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-1858074">
            <a:off x="-714588" y="8756186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6" y="0"/>
                </a:lnTo>
                <a:lnTo>
                  <a:pt x="1429176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 rot="-1420549">
            <a:off x="-704547" y="2379592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428625" y="3476625"/>
            <a:ext cx="8572500" cy="408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Fase 2: Desarrollo del Proyecto (Sprint 1)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 principal: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Finalización exitosa del Primer Sprint y entrega de un Producto Mínimo Viable (MVP) funcional.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Logros: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Desarrollo completo del módulo de gestión de usuarios.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Construcción del módulo de gestión de mascotas.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Entrega de una base sólida del sistema para continuar la expansión de funcionalidades.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20549">
            <a:off x="7998660" y="8089183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1028700" y="1097565"/>
            <a:ext cx="6580374" cy="180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Resultado Obtenido</a:t>
            </a:r>
          </a:p>
        </p:txBody>
      </p:sp>
      <p:sp>
        <p:nvSpPr>
          <p:cNvPr id="4" name="Freeform 4"/>
          <p:cNvSpPr/>
          <p:nvPr/>
        </p:nvSpPr>
        <p:spPr>
          <a:xfrm rot="-1825997">
            <a:off x="5687123" y="531766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167058">
            <a:off x="14856387" y="9292365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rot="-1420549">
            <a:off x="-704547" y="2379592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428625" y="3476625"/>
            <a:ext cx="8572500" cy="3709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Fase 2: Desarrollo de Funcionalidades Avanzadas (Sprint 2, 3 y 4)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 principal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Se implementaron las funcionalidades avanzadas.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Funciones implementadas: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Registro de bitácora clínica por mascota.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Subida y almacenamiento de documentos médicos en PDF.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Gestión de Eventos, Rutinas y Alertas.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Colaboración y Compartición de Perfiles.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57379" y="1263557"/>
            <a:ext cx="7041302" cy="7759885"/>
            <a:chOff x="0" y="0"/>
            <a:chExt cx="1069836" cy="11790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9836" cy="1179016"/>
            </a:xfrm>
            <a:custGeom>
              <a:avLst/>
              <a:gdLst/>
              <a:ahLst/>
              <a:cxnLst/>
              <a:rect l="l" t="t" r="r" b="b"/>
              <a:pathLst>
                <a:path w="1069836" h="117901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1121842"/>
                  </a:lnTo>
                  <a:cubicBezTo>
                    <a:pt x="1069836" y="1137005"/>
                    <a:pt x="1063813" y="1151548"/>
                    <a:pt x="1053090" y="1162270"/>
                  </a:cubicBezTo>
                  <a:cubicBezTo>
                    <a:pt x="1042368" y="1172992"/>
                    <a:pt x="1027826" y="1179016"/>
                    <a:pt x="1012662" y="1179016"/>
                  </a:cubicBezTo>
                  <a:lnTo>
                    <a:pt x="57174" y="1179016"/>
                  </a:lnTo>
                  <a:cubicBezTo>
                    <a:pt x="42011" y="1179016"/>
                    <a:pt x="27468" y="1172992"/>
                    <a:pt x="16746" y="1162270"/>
                  </a:cubicBezTo>
                  <a:cubicBezTo>
                    <a:pt x="6024" y="1151548"/>
                    <a:pt x="0" y="1137005"/>
                    <a:pt x="0" y="1121842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6"/>
              <a:stretch>
                <a:fillRect l="-32705" r="-32705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sp>
        <p:nvSpPr>
          <p:cNvPr id="11" name="Freeform 11"/>
          <p:cNvSpPr/>
          <p:nvPr/>
        </p:nvSpPr>
        <p:spPr>
          <a:xfrm rot="-1858074">
            <a:off x="-714588" y="8756186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6" y="0"/>
                </a:lnTo>
                <a:lnTo>
                  <a:pt x="1429176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25997">
            <a:off x="5687123" y="531766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7452446" y="3313521"/>
            <a:ext cx="10314900" cy="6846515"/>
          </a:xfrm>
          <a:custGeom>
            <a:avLst/>
            <a:gdLst/>
            <a:ahLst/>
            <a:cxnLst/>
            <a:rect l="l" t="t" r="r" b="b"/>
            <a:pathLst>
              <a:path w="10314900" h="6846515">
                <a:moveTo>
                  <a:pt x="0" y="0"/>
                </a:moveTo>
                <a:lnTo>
                  <a:pt x="10314900" y="0"/>
                </a:lnTo>
                <a:lnTo>
                  <a:pt x="10314900" y="6846515"/>
                </a:lnTo>
                <a:lnTo>
                  <a:pt x="0" y="6846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167058">
            <a:off x="14856387" y="9292365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-1420549">
            <a:off x="-704547" y="2379592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2609896" y="4623309"/>
            <a:ext cx="5922157" cy="4226940"/>
          </a:xfrm>
          <a:custGeom>
            <a:avLst/>
            <a:gdLst/>
            <a:ahLst/>
            <a:cxnLst/>
            <a:rect l="l" t="t" r="r" b="b"/>
            <a:pathLst>
              <a:path w="5922157" h="4226940">
                <a:moveTo>
                  <a:pt x="0" y="0"/>
                </a:moveTo>
                <a:lnTo>
                  <a:pt x="5922157" y="0"/>
                </a:lnTo>
                <a:lnTo>
                  <a:pt x="5922157" y="4226940"/>
                </a:lnTo>
                <a:lnTo>
                  <a:pt x="0" y="42269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0163221" y="1345602"/>
            <a:ext cx="5359527" cy="8229600"/>
          </a:xfrm>
          <a:custGeom>
            <a:avLst/>
            <a:gdLst/>
            <a:ahLst/>
            <a:cxnLst/>
            <a:rect l="l" t="t" r="r" b="b"/>
            <a:pathLst>
              <a:path w="5359527" h="8229600">
                <a:moveTo>
                  <a:pt x="0" y="0"/>
                </a:moveTo>
                <a:lnTo>
                  <a:pt x="5359527" y="0"/>
                </a:lnTo>
                <a:lnTo>
                  <a:pt x="535952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0163221" y="4436700"/>
            <a:ext cx="3466719" cy="4114800"/>
          </a:xfrm>
          <a:custGeom>
            <a:avLst/>
            <a:gdLst/>
            <a:ahLst/>
            <a:cxnLst/>
            <a:rect l="l" t="t" r="r" b="b"/>
            <a:pathLst>
              <a:path w="3466719" h="4114800">
                <a:moveTo>
                  <a:pt x="0" y="0"/>
                </a:moveTo>
                <a:lnTo>
                  <a:pt x="3466719" y="0"/>
                </a:lnTo>
                <a:lnTo>
                  <a:pt x="34667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2414549" y="5460402"/>
            <a:ext cx="3549198" cy="3549198"/>
          </a:xfrm>
          <a:custGeom>
            <a:avLst/>
            <a:gdLst/>
            <a:ahLst/>
            <a:cxnLst/>
            <a:rect l="l" t="t" r="r" b="b"/>
            <a:pathLst>
              <a:path w="3549198" h="3549198">
                <a:moveTo>
                  <a:pt x="0" y="0"/>
                </a:moveTo>
                <a:lnTo>
                  <a:pt x="3549198" y="0"/>
                </a:lnTo>
                <a:lnTo>
                  <a:pt x="3549198" y="3549198"/>
                </a:lnTo>
                <a:lnTo>
                  <a:pt x="0" y="354919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0191652" y="7629094"/>
            <a:ext cx="1704928" cy="1221155"/>
          </a:xfrm>
          <a:custGeom>
            <a:avLst/>
            <a:gdLst/>
            <a:ahLst/>
            <a:cxnLst/>
            <a:rect l="l" t="t" r="r" b="b"/>
            <a:pathLst>
              <a:path w="1704928" h="1221155">
                <a:moveTo>
                  <a:pt x="0" y="0"/>
                </a:moveTo>
                <a:lnTo>
                  <a:pt x="1704928" y="0"/>
                </a:lnTo>
                <a:lnTo>
                  <a:pt x="1704928" y="1221155"/>
                </a:lnTo>
                <a:lnTo>
                  <a:pt x="0" y="122115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11547598" y="8065203"/>
            <a:ext cx="1701997" cy="785046"/>
          </a:xfrm>
          <a:custGeom>
            <a:avLst/>
            <a:gdLst/>
            <a:ahLst/>
            <a:cxnLst/>
            <a:rect l="l" t="t" r="r" b="b"/>
            <a:pathLst>
              <a:path w="1701997" h="785046">
                <a:moveTo>
                  <a:pt x="0" y="0"/>
                </a:moveTo>
                <a:lnTo>
                  <a:pt x="1701997" y="0"/>
                </a:lnTo>
                <a:lnTo>
                  <a:pt x="1701997" y="785046"/>
                </a:lnTo>
                <a:lnTo>
                  <a:pt x="0" y="78504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 flipH="1">
            <a:off x="8953500" y="6589400"/>
            <a:ext cx="1845761" cy="2428632"/>
          </a:xfrm>
          <a:custGeom>
            <a:avLst/>
            <a:gdLst/>
            <a:ahLst/>
            <a:cxnLst/>
            <a:rect l="l" t="t" r="r" b="b"/>
            <a:pathLst>
              <a:path w="1845761" h="2428632">
                <a:moveTo>
                  <a:pt x="1845761" y="0"/>
                </a:moveTo>
                <a:lnTo>
                  <a:pt x="0" y="0"/>
                </a:lnTo>
                <a:lnTo>
                  <a:pt x="0" y="2428632"/>
                </a:lnTo>
                <a:lnTo>
                  <a:pt x="1845761" y="2428632"/>
                </a:lnTo>
                <a:lnTo>
                  <a:pt x="1845761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 flipH="1">
            <a:off x="15069390" y="6248408"/>
            <a:ext cx="2870997" cy="2601841"/>
          </a:xfrm>
          <a:custGeom>
            <a:avLst/>
            <a:gdLst/>
            <a:ahLst/>
            <a:cxnLst/>
            <a:rect l="l" t="t" r="r" b="b"/>
            <a:pathLst>
              <a:path w="2870997" h="2601841">
                <a:moveTo>
                  <a:pt x="2870997" y="0"/>
                </a:moveTo>
                <a:lnTo>
                  <a:pt x="0" y="0"/>
                </a:lnTo>
                <a:lnTo>
                  <a:pt x="0" y="2601841"/>
                </a:lnTo>
                <a:lnTo>
                  <a:pt x="2870997" y="2601841"/>
                </a:lnTo>
                <a:lnTo>
                  <a:pt x="2870997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4189148" y="7803716"/>
            <a:ext cx="3089264" cy="1100550"/>
          </a:xfrm>
          <a:custGeom>
            <a:avLst/>
            <a:gdLst/>
            <a:ahLst/>
            <a:cxnLst/>
            <a:rect l="l" t="t" r="r" b="b"/>
            <a:pathLst>
              <a:path w="3089264" h="1100550">
                <a:moveTo>
                  <a:pt x="0" y="0"/>
                </a:moveTo>
                <a:lnTo>
                  <a:pt x="3089264" y="0"/>
                </a:lnTo>
                <a:lnTo>
                  <a:pt x="3089264" y="1100550"/>
                </a:lnTo>
                <a:lnTo>
                  <a:pt x="0" y="11005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1028700" y="1223087"/>
            <a:ext cx="8249066" cy="357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Obstáculos presentados durante el desarrollo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7297" y="5644446"/>
            <a:ext cx="8272413" cy="2709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React + Tailwind CSS.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Utilización de Supabase.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Asociar archivos al Bucket de Supabase.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Creación y configuración de alertas.</a:t>
            </a:r>
          </a:p>
          <a:p>
            <a:pPr algn="l">
              <a:lnSpc>
                <a:spcPts val="4759"/>
              </a:lnSpc>
            </a:pPr>
            <a:endParaRPr lang="en-US" sz="3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20549">
            <a:off x="7998660" y="8089183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1825997">
            <a:off x="5687123" y="531766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167058">
            <a:off x="14856387" y="9292365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-1420549">
            <a:off x="-704547" y="2379592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9344967" y="0"/>
            <a:ext cx="4640071" cy="10287000"/>
          </a:xfrm>
          <a:custGeom>
            <a:avLst/>
            <a:gdLst/>
            <a:ahLst/>
            <a:cxnLst/>
            <a:rect l="l" t="t" r="r" b="b"/>
            <a:pathLst>
              <a:path w="4640071" h="10287000">
                <a:moveTo>
                  <a:pt x="0" y="0"/>
                </a:moveTo>
                <a:lnTo>
                  <a:pt x="4640071" y="0"/>
                </a:lnTo>
                <a:lnTo>
                  <a:pt x="464007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1136676" y="4033787"/>
            <a:ext cx="7669778" cy="269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Demostración del resultado del proyecto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  <p:sp>
        <p:nvSpPr>
          <p:cNvPr id="9" name="Freeform 9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5068" y="1600448"/>
            <a:ext cx="6987981" cy="5049169"/>
            <a:chOff x="0" y="0"/>
            <a:chExt cx="946411" cy="6838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6411" cy="683830"/>
            </a:xfrm>
            <a:custGeom>
              <a:avLst/>
              <a:gdLst/>
              <a:ahLst/>
              <a:cxnLst/>
              <a:rect l="l" t="t" r="r" b="b"/>
              <a:pathLst>
                <a:path w="946411" h="683830">
                  <a:moveTo>
                    <a:pt x="38776" y="0"/>
                  </a:moveTo>
                  <a:lnTo>
                    <a:pt x="907635" y="0"/>
                  </a:lnTo>
                  <a:cubicBezTo>
                    <a:pt x="917919" y="0"/>
                    <a:pt x="927782" y="4085"/>
                    <a:pt x="935054" y="11357"/>
                  </a:cubicBezTo>
                  <a:cubicBezTo>
                    <a:pt x="942326" y="18629"/>
                    <a:pt x="946411" y="28492"/>
                    <a:pt x="946411" y="38776"/>
                  </a:cubicBezTo>
                  <a:lnTo>
                    <a:pt x="946411" y="645054"/>
                  </a:lnTo>
                  <a:cubicBezTo>
                    <a:pt x="946411" y="655338"/>
                    <a:pt x="942326" y="665201"/>
                    <a:pt x="935054" y="672473"/>
                  </a:cubicBezTo>
                  <a:cubicBezTo>
                    <a:pt x="927782" y="679745"/>
                    <a:pt x="917919" y="683830"/>
                    <a:pt x="907635" y="683830"/>
                  </a:cubicBezTo>
                  <a:lnTo>
                    <a:pt x="38776" y="683830"/>
                  </a:lnTo>
                  <a:cubicBezTo>
                    <a:pt x="28492" y="683830"/>
                    <a:pt x="18629" y="679745"/>
                    <a:pt x="11357" y="672473"/>
                  </a:cubicBezTo>
                  <a:cubicBezTo>
                    <a:pt x="4085" y="665201"/>
                    <a:pt x="0" y="655338"/>
                    <a:pt x="0" y="645054"/>
                  </a:cubicBezTo>
                  <a:lnTo>
                    <a:pt x="0" y="38776"/>
                  </a:lnTo>
                  <a:cubicBezTo>
                    <a:pt x="0" y="28492"/>
                    <a:pt x="4085" y="18629"/>
                    <a:pt x="11357" y="11357"/>
                  </a:cubicBezTo>
                  <a:cubicBezTo>
                    <a:pt x="18629" y="4085"/>
                    <a:pt x="28492" y="0"/>
                    <a:pt x="38776" y="0"/>
                  </a:cubicBezTo>
                  <a:close/>
                </a:path>
              </a:pathLst>
            </a:custGeom>
            <a:blipFill>
              <a:blip r:embed="rId2"/>
              <a:stretch>
                <a:fillRect t="-70133" b="-37594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Freeform 4"/>
          <p:cNvSpPr/>
          <p:nvPr/>
        </p:nvSpPr>
        <p:spPr>
          <a:xfrm rot="-1825997">
            <a:off x="15650774" y="4160260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2549672">
            <a:off x="314112" y="8851444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6" y="0"/>
                </a:lnTo>
                <a:lnTo>
                  <a:pt x="1429176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rot="733537">
            <a:off x="7331847" y="-365089"/>
            <a:ext cx="1429175" cy="1096892"/>
          </a:xfrm>
          <a:custGeom>
            <a:avLst/>
            <a:gdLst/>
            <a:ahLst/>
            <a:cxnLst/>
            <a:rect l="l" t="t" r="r" b="b"/>
            <a:pathLst>
              <a:path w="1429175" h="1096892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rot="1896309">
            <a:off x="16721966" y="9303460"/>
            <a:ext cx="1615588" cy="924635"/>
          </a:xfrm>
          <a:custGeom>
            <a:avLst/>
            <a:gdLst/>
            <a:ahLst/>
            <a:cxnLst/>
            <a:rect l="l" t="t" r="r" b="b"/>
            <a:pathLst>
              <a:path w="1615588" h="924635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5097125" y="95250"/>
            <a:ext cx="3096381" cy="762000"/>
          </a:xfrm>
          <a:custGeom>
            <a:avLst/>
            <a:gdLst/>
            <a:ahLst/>
            <a:cxnLst/>
            <a:rect l="l" t="t" r="r" b="b"/>
            <a:pathLst>
              <a:path w="3096381" h="762000">
                <a:moveTo>
                  <a:pt x="0" y="0"/>
                </a:moveTo>
                <a:lnTo>
                  <a:pt x="3096381" y="0"/>
                </a:lnTo>
                <a:lnTo>
                  <a:pt x="309638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3697976" y="5764669"/>
            <a:ext cx="5446024" cy="3635221"/>
          </a:xfrm>
          <a:custGeom>
            <a:avLst/>
            <a:gdLst/>
            <a:ahLst/>
            <a:cxnLst/>
            <a:rect l="l" t="t" r="r" b="b"/>
            <a:pathLst>
              <a:path w="5446024" h="3635221">
                <a:moveTo>
                  <a:pt x="0" y="0"/>
                </a:moveTo>
                <a:lnTo>
                  <a:pt x="5446024" y="0"/>
                </a:lnTo>
                <a:lnTo>
                  <a:pt x="5446024" y="3635221"/>
                </a:lnTo>
                <a:lnTo>
                  <a:pt x="0" y="36352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9654411" y="3495675"/>
            <a:ext cx="5799699" cy="21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399"/>
              </a:lnSpc>
            </a:pPr>
            <a:r>
              <a:rPr lang="en-US" sz="6999" b="1">
                <a:solidFill>
                  <a:srgbClr val="5B3121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Comentario final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2291" y="197742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B3121">
                    <a:alpha val="60000"/>
                  </a:srgbClr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Proyecto “PetCare Pro”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1539</Words>
  <Application>Microsoft Office PowerPoint</Application>
  <PresentationFormat>Personalizado</PresentationFormat>
  <Paragraphs>223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Merriweather</vt:lpstr>
      <vt:lpstr>Merriweather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</dc:title>
  <cp:lastModifiedBy>ALESSANDRA . ARRIAGADA RECABAL</cp:lastModifiedBy>
  <cp:revision>2</cp:revision>
  <dcterms:created xsi:type="dcterms:W3CDTF">2006-08-16T00:00:00Z</dcterms:created>
  <dcterms:modified xsi:type="dcterms:W3CDTF">2025-12-08T22:26:42Z</dcterms:modified>
  <dc:identifier>DAG3p5dE7o8</dc:identifier>
</cp:coreProperties>
</file>