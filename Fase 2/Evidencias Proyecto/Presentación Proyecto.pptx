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Poppins" charset="1" panose="00000500000000000000"/>
      <p:regular r:id="rId30"/>
    </p:embeddedFont>
    <p:embeddedFont>
      <p:font typeface="Agrandir Bold" charset="1" panose="00000800000000000000"/>
      <p:regular r:id="rId31"/>
    </p:embeddedFont>
    <p:embeddedFont>
      <p:font typeface="Open Sans" charset="1" panose="020B0606030504020204"/>
      <p:regular r:id="rId32"/>
    </p:embeddedFont>
    <p:embeddedFont>
      <p:font typeface="Poppins Bold" charset="1" panose="00000800000000000000"/>
      <p:regular r:id="rId33"/>
    </p:embeddedFont>
    <p:embeddedFont>
      <p:font typeface="Poppins Italics" charset="1" panose="000005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6.pn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12" Target="../media/image6.png" Type="http://schemas.openxmlformats.org/officeDocument/2006/relationships/image"/><Relationship Id="rId2" Target="../media/image23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6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31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32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33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png" Type="http://schemas.openxmlformats.org/officeDocument/2006/relationships/image"/><Relationship Id="rId12" Target="../media/image6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34.png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media/image6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png" Type="http://schemas.openxmlformats.org/officeDocument/2006/relationships/image"/><Relationship Id="rId12" Target="../media/image6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1.svg" Type="http://schemas.openxmlformats.org/officeDocument/2006/relationships/image"/><Relationship Id="rId13" Target="../media/image6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2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2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3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6.png" Type="http://schemas.openxmlformats.org/officeDocument/2006/relationships/image"/><Relationship Id="rId9" Target="../media/image6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812800" cy="9144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812800" cy="914400"/>
            </a:xfrm>
            <a:custGeom>
              <a:avLst/>
              <a:gdLst/>
              <a:ahLst/>
              <a:cxnLst/>
              <a:rect r="r" b="b" t="t" l="l"/>
              <a:pathLst>
                <a:path h="914400" w="812800">
                  <a:moveTo>
                    <a:pt x="812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812800" y="914400"/>
                  </a:lnTo>
                  <a:close/>
                </a:path>
              </a:pathLst>
            </a:custGeom>
            <a:blipFill>
              <a:blip r:embed="rId2"/>
              <a:stretch>
                <a:fillRect l="-63304" t="0" r="-555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949679" y="2593317"/>
            <a:ext cx="8265639" cy="5100365"/>
            <a:chOff x="0" y="0"/>
            <a:chExt cx="2176958" cy="13433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6959" cy="1343306"/>
            </a:xfrm>
            <a:custGeom>
              <a:avLst/>
              <a:gdLst/>
              <a:ahLst/>
              <a:cxnLst/>
              <a:rect r="r" b="b" t="t" l="l"/>
              <a:pathLst>
                <a:path h="1343306" w="2176959">
                  <a:moveTo>
                    <a:pt x="28099" y="0"/>
                  </a:moveTo>
                  <a:lnTo>
                    <a:pt x="2148859" y="0"/>
                  </a:lnTo>
                  <a:cubicBezTo>
                    <a:pt x="2156312" y="0"/>
                    <a:pt x="2163459" y="2960"/>
                    <a:pt x="2168728" y="8230"/>
                  </a:cubicBezTo>
                  <a:cubicBezTo>
                    <a:pt x="2173998" y="13500"/>
                    <a:pt x="2176959" y="20647"/>
                    <a:pt x="2176959" y="28099"/>
                  </a:cubicBezTo>
                  <a:lnTo>
                    <a:pt x="2176959" y="1315207"/>
                  </a:lnTo>
                  <a:cubicBezTo>
                    <a:pt x="2176959" y="1330726"/>
                    <a:pt x="2164378" y="1343306"/>
                    <a:pt x="2148859" y="1343306"/>
                  </a:cubicBezTo>
                  <a:lnTo>
                    <a:pt x="28099" y="1343306"/>
                  </a:lnTo>
                  <a:cubicBezTo>
                    <a:pt x="20647" y="1343306"/>
                    <a:pt x="13500" y="1340346"/>
                    <a:pt x="8230" y="1335076"/>
                  </a:cubicBezTo>
                  <a:cubicBezTo>
                    <a:pt x="2960" y="1329806"/>
                    <a:pt x="0" y="1322659"/>
                    <a:pt x="0" y="1315207"/>
                  </a:cubicBezTo>
                  <a:lnTo>
                    <a:pt x="0" y="28099"/>
                  </a:lnTo>
                  <a:cubicBezTo>
                    <a:pt x="0" y="20647"/>
                    <a:pt x="2960" y="13500"/>
                    <a:pt x="8230" y="8230"/>
                  </a:cubicBezTo>
                  <a:cubicBezTo>
                    <a:pt x="13500" y="2960"/>
                    <a:pt x="20647" y="0"/>
                    <a:pt x="28099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76958" cy="14004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835434">
            <a:off x="17375001" y="5019606"/>
            <a:ext cx="1521585" cy="870835"/>
          </a:xfrm>
          <a:custGeom>
            <a:avLst/>
            <a:gdLst/>
            <a:ahLst/>
            <a:cxnLst/>
            <a:rect r="r" b="b" t="t" l="l"/>
            <a:pathLst>
              <a:path h="870835" w="1521585">
                <a:moveTo>
                  <a:pt x="0" y="0"/>
                </a:moveTo>
                <a:lnTo>
                  <a:pt x="1521585" y="0"/>
                </a:lnTo>
                <a:lnTo>
                  <a:pt x="1521585" y="870835"/>
                </a:lnTo>
                <a:lnTo>
                  <a:pt x="0" y="870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513645">
            <a:off x="10796484" y="892873"/>
            <a:ext cx="1152477" cy="884526"/>
          </a:xfrm>
          <a:custGeom>
            <a:avLst/>
            <a:gdLst/>
            <a:ahLst/>
            <a:cxnLst/>
            <a:rect r="r" b="b" t="t" l="l"/>
            <a:pathLst>
              <a:path h="884526" w="1152477">
                <a:moveTo>
                  <a:pt x="0" y="0"/>
                </a:moveTo>
                <a:lnTo>
                  <a:pt x="1152477" y="0"/>
                </a:lnTo>
                <a:lnTo>
                  <a:pt x="1152477" y="884526"/>
                </a:lnTo>
                <a:lnTo>
                  <a:pt x="0" y="8845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32458" y="5761714"/>
            <a:ext cx="622866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Automatización del control llevado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sobre la vida de las mascotas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998823">
            <a:off x="16375628" y="8779935"/>
            <a:ext cx="1246555" cy="956731"/>
          </a:xfrm>
          <a:custGeom>
            <a:avLst/>
            <a:gdLst/>
            <a:ahLst/>
            <a:cxnLst/>
            <a:rect r="r" b="b" t="t" l="l"/>
            <a:pathLst>
              <a:path h="956731" w="1246555">
                <a:moveTo>
                  <a:pt x="0" y="0"/>
                </a:moveTo>
                <a:lnTo>
                  <a:pt x="1246555" y="0"/>
                </a:lnTo>
                <a:lnTo>
                  <a:pt x="1246555" y="956730"/>
                </a:lnTo>
                <a:lnTo>
                  <a:pt x="0" y="9567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88704">
            <a:off x="8298275" y="9435356"/>
            <a:ext cx="1974488" cy="1130041"/>
          </a:xfrm>
          <a:custGeom>
            <a:avLst/>
            <a:gdLst/>
            <a:ahLst/>
            <a:cxnLst/>
            <a:rect r="r" b="b" t="t" l="l"/>
            <a:pathLst>
              <a:path h="1130041" w="1974488">
                <a:moveTo>
                  <a:pt x="0" y="0"/>
                </a:moveTo>
                <a:lnTo>
                  <a:pt x="1974489" y="0"/>
                </a:lnTo>
                <a:lnTo>
                  <a:pt x="1974489" y="1130041"/>
                </a:lnTo>
                <a:lnTo>
                  <a:pt x="0" y="11300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877004">
            <a:off x="14130364" y="5977244"/>
            <a:ext cx="1637486" cy="1256770"/>
          </a:xfrm>
          <a:custGeom>
            <a:avLst/>
            <a:gdLst/>
            <a:ahLst/>
            <a:cxnLst/>
            <a:rect r="r" b="b" t="t" l="l"/>
            <a:pathLst>
              <a:path h="1256770" w="1637486">
                <a:moveTo>
                  <a:pt x="0" y="0"/>
                </a:moveTo>
                <a:lnTo>
                  <a:pt x="1637486" y="0"/>
                </a:lnTo>
                <a:lnTo>
                  <a:pt x="1637486" y="1256771"/>
                </a:lnTo>
                <a:lnTo>
                  <a:pt x="0" y="12567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610084" y="2822670"/>
            <a:ext cx="1350871" cy="773132"/>
          </a:xfrm>
          <a:custGeom>
            <a:avLst/>
            <a:gdLst/>
            <a:ahLst/>
            <a:cxnLst/>
            <a:rect r="r" b="b" t="t" l="l"/>
            <a:pathLst>
              <a:path h="773132" w="1350871">
                <a:moveTo>
                  <a:pt x="0" y="0"/>
                </a:moveTo>
                <a:lnTo>
                  <a:pt x="1350871" y="0"/>
                </a:lnTo>
                <a:lnTo>
                  <a:pt x="1350871" y="773132"/>
                </a:lnTo>
                <a:lnTo>
                  <a:pt x="0" y="7731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390381" y="1028700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19" y="0"/>
                </a:lnTo>
                <a:lnTo>
                  <a:pt x="3868919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532458" y="4004557"/>
            <a:ext cx="6572781" cy="169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44"/>
              </a:lnSpc>
            </a:pPr>
            <a:r>
              <a:rPr lang="en-US" sz="68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PetCare Aplicación Web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13758">
            <a:off x="587717" y="94712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20549">
            <a:off x="8037779" y="-462317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4"/>
                </a:lnTo>
                <a:lnTo>
                  <a:pt x="0" y="924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606717">
            <a:off x="15864597" y="1419600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420549">
            <a:off x="1785409" y="9066543"/>
            <a:ext cx="1201388" cy="687580"/>
          </a:xfrm>
          <a:custGeom>
            <a:avLst/>
            <a:gdLst/>
            <a:ahLst/>
            <a:cxnLst/>
            <a:rect r="r" b="b" t="t" l="l"/>
            <a:pathLst>
              <a:path h="687580" w="1201388">
                <a:moveTo>
                  <a:pt x="0" y="0"/>
                </a:moveTo>
                <a:lnTo>
                  <a:pt x="1201388" y="0"/>
                </a:lnTo>
                <a:lnTo>
                  <a:pt x="1201388" y="687579"/>
                </a:lnTo>
                <a:lnTo>
                  <a:pt x="0" y="687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504730" y="2653355"/>
            <a:ext cx="3862083" cy="6595420"/>
            <a:chOff x="0" y="0"/>
            <a:chExt cx="1017199" cy="17371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7199" cy="1737154"/>
            </a:xfrm>
            <a:custGeom>
              <a:avLst/>
              <a:gdLst/>
              <a:ahLst/>
              <a:cxnLst/>
              <a:rect r="r" b="b" t="t" l="l"/>
              <a:pathLst>
                <a:path h="1737154" w="1017199">
                  <a:moveTo>
                    <a:pt x="1017199" y="70161"/>
                  </a:moveTo>
                  <a:lnTo>
                    <a:pt x="1017199" y="1666994"/>
                  </a:lnTo>
                  <a:cubicBezTo>
                    <a:pt x="1017199" y="1685601"/>
                    <a:pt x="1009807" y="1703447"/>
                    <a:pt x="996649" y="1716605"/>
                  </a:cubicBezTo>
                  <a:cubicBezTo>
                    <a:pt x="983492" y="1729762"/>
                    <a:pt x="965646" y="1737154"/>
                    <a:pt x="947038" y="1737154"/>
                  </a:cubicBezTo>
                  <a:lnTo>
                    <a:pt x="70161" y="1737154"/>
                  </a:lnTo>
                  <a:cubicBezTo>
                    <a:pt x="51553" y="1737154"/>
                    <a:pt x="33707" y="1729762"/>
                    <a:pt x="20550" y="1716605"/>
                  </a:cubicBezTo>
                  <a:cubicBezTo>
                    <a:pt x="7392" y="1703447"/>
                    <a:pt x="0" y="1685601"/>
                    <a:pt x="0" y="1666994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017199" cy="1794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055146" y="2653355"/>
            <a:ext cx="3862083" cy="6604945"/>
            <a:chOff x="0" y="0"/>
            <a:chExt cx="1017199" cy="17396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7199" cy="1739663"/>
            </a:xfrm>
            <a:custGeom>
              <a:avLst/>
              <a:gdLst/>
              <a:ahLst/>
              <a:cxnLst/>
              <a:rect r="r" b="b" t="t" l="l"/>
              <a:pathLst>
                <a:path h="1739663" w="1017199">
                  <a:moveTo>
                    <a:pt x="1017199" y="70161"/>
                  </a:moveTo>
                  <a:lnTo>
                    <a:pt x="1017199" y="1669502"/>
                  </a:lnTo>
                  <a:cubicBezTo>
                    <a:pt x="1017199" y="1688110"/>
                    <a:pt x="1009807" y="1705956"/>
                    <a:pt x="996649" y="1719113"/>
                  </a:cubicBezTo>
                  <a:cubicBezTo>
                    <a:pt x="983492" y="1732271"/>
                    <a:pt x="965646" y="1739663"/>
                    <a:pt x="947038" y="1739663"/>
                  </a:cubicBezTo>
                  <a:lnTo>
                    <a:pt x="70161" y="1739663"/>
                  </a:lnTo>
                  <a:cubicBezTo>
                    <a:pt x="51553" y="1739663"/>
                    <a:pt x="33707" y="1732271"/>
                    <a:pt x="20550" y="1719113"/>
                  </a:cubicBezTo>
                  <a:cubicBezTo>
                    <a:pt x="7392" y="1705956"/>
                    <a:pt x="0" y="1688110"/>
                    <a:pt x="0" y="1669502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017199" cy="179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998823">
            <a:off x="13768978" y="8622192"/>
            <a:ext cx="2509269" cy="1925864"/>
          </a:xfrm>
          <a:custGeom>
            <a:avLst/>
            <a:gdLst/>
            <a:ahLst/>
            <a:cxnLst/>
            <a:rect r="r" b="b" t="t" l="l"/>
            <a:pathLst>
              <a:path h="1925864" w="2509269">
                <a:moveTo>
                  <a:pt x="0" y="0"/>
                </a:moveTo>
                <a:lnTo>
                  <a:pt x="2509269" y="0"/>
                </a:lnTo>
                <a:lnTo>
                  <a:pt x="2509269" y="1925864"/>
                </a:lnTo>
                <a:lnTo>
                  <a:pt x="0" y="1925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605562" y="2653355"/>
            <a:ext cx="3862083" cy="6604945"/>
            <a:chOff x="0" y="0"/>
            <a:chExt cx="1017199" cy="17396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7199" cy="1739663"/>
            </a:xfrm>
            <a:custGeom>
              <a:avLst/>
              <a:gdLst/>
              <a:ahLst/>
              <a:cxnLst/>
              <a:rect r="r" b="b" t="t" l="l"/>
              <a:pathLst>
                <a:path h="1739663" w="1017199">
                  <a:moveTo>
                    <a:pt x="1017199" y="70161"/>
                  </a:moveTo>
                  <a:lnTo>
                    <a:pt x="1017199" y="1669502"/>
                  </a:lnTo>
                  <a:cubicBezTo>
                    <a:pt x="1017199" y="1688110"/>
                    <a:pt x="1009807" y="1705956"/>
                    <a:pt x="996649" y="1719113"/>
                  </a:cubicBezTo>
                  <a:cubicBezTo>
                    <a:pt x="983492" y="1732271"/>
                    <a:pt x="965646" y="1739663"/>
                    <a:pt x="947038" y="1739663"/>
                  </a:cubicBezTo>
                  <a:lnTo>
                    <a:pt x="70161" y="1739663"/>
                  </a:lnTo>
                  <a:cubicBezTo>
                    <a:pt x="51553" y="1739663"/>
                    <a:pt x="33707" y="1732271"/>
                    <a:pt x="20550" y="1719113"/>
                  </a:cubicBezTo>
                  <a:cubicBezTo>
                    <a:pt x="7392" y="1705956"/>
                    <a:pt x="0" y="1688110"/>
                    <a:pt x="0" y="1669502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017199" cy="1796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710168" y="3107351"/>
            <a:ext cx="1451207" cy="1451207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12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162560" y="6350000"/>
                    <a:pt x="364490" y="6350000"/>
                  </a:cubicBezTo>
                  <a:lnTo>
                    <a:pt x="5986780" y="6350000"/>
                  </a:lnTo>
                  <a:cubicBezTo>
                    <a:pt x="6187440" y="6350000"/>
                    <a:pt x="6351270" y="6187440"/>
                    <a:pt x="6351270" y="5985510"/>
                  </a:cubicBezTo>
                  <a:lnTo>
                    <a:pt x="6351270" y="364490"/>
                  </a:lnTo>
                  <a:cubicBezTo>
                    <a:pt x="6350000" y="162560"/>
                    <a:pt x="6187440" y="0"/>
                    <a:pt x="5985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260584" y="3107351"/>
            <a:ext cx="1451207" cy="1451207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12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162560" y="6350000"/>
                    <a:pt x="364490" y="6350000"/>
                  </a:cubicBezTo>
                  <a:lnTo>
                    <a:pt x="5986780" y="6350000"/>
                  </a:lnTo>
                  <a:cubicBezTo>
                    <a:pt x="6187440" y="6350000"/>
                    <a:pt x="6351270" y="6187440"/>
                    <a:pt x="6351270" y="5985510"/>
                  </a:cubicBezTo>
                  <a:lnTo>
                    <a:pt x="6351270" y="364490"/>
                  </a:lnTo>
                  <a:cubicBezTo>
                    <a:pt x="6350000" y="162560"/>
                    <a:pt x="6187440" y="0"/>
                    <a:pt x="5985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835144" y="3107351"/>
            <a:ext cx="1451207" cy="1451207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127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127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162560" y="6350000"/>
                    <a:pt x="364490" y="6350000"/>
                  </a:cubicBezTo>
                  <a:lnTo>
                    <a:pt x="5986780" y="6350000"/>
                  </a:lnTo>
                  <a:cubicBezTo>
                    <a:pt x="6187440" y="6350000"/>
                    <a:pt x="6351270" y="6187440"/>
                    <a:pt x="6351270" y="5985510"/>
                  </a:cubicBezTo>
                  <a:lnTo>
                    <a:pt x="6351270" y="364490"/>
                  </a:lnTo>
                  <a:cubicBezTo>
                    <a:pt x="6350000" y="162560"/>
                    <a:pt x="6187440" y="0"/>
                    <a:pt x="598551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2" id="22"/>
          <p:cNvSpPr/>
          <p:nvPr/>
        </p:nvSpPr>
        <p:spPr>
          <a:xfrm flipH="false" flipV="false" rot="-2024627">
            <a:off x="-554037" y="8256975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620756" y="667528"/>
            <a:ext cx="10730865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b="true" sz="6800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Integrantes del Proyecto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13289" y="4661535"/>
            <a:ext cx="3545798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Cristóbal Méndez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21848" y="4661535"/>
            <a:ext cx="3229512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Christopher Pineda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62873" y="4661535"/>
            <a:ext cx="3545798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Alessandra Arriagada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12862" y="5190994"/>
            <a:ext cx="84582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Cargo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69016" y="6242554"/>
            <a:ext cx="3333512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Funciones desempeñadas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563278" y="5161442"/>
            <a:ext cx="84582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Cargo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319432" y="6213002"/>
            <a:ext cx="3333512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Funciones desempeñadas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37838" y="5161442"/>
            <a:ext cx="84582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Cargo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69730" y="6184427"/>
            <a:ext cx="3333512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Funciones desempeñadas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434868" y="5681854"/>
            <a:ext cx="2001809" cy="61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"/>
              </a:lnSpc>
            </a:pPr>
            <a:r>
              <a:rPr lang="en-US" sz="17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QA y Desarrollador Full Stack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559751" y="5616345"/>
            <a:ext cx="2852874" cy="61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"/>
              </a:lnSpc>
            </a:pPr>
            <a:r>
              <a:rPr lang="en-US" sz="17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Arquitecto de Software y Desarrollador Full Stack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264989" y="5616345"/>
            <a:ext cx="2591517" cy="61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6"/>
              </a:lnSpc>
            </a:pPr>
            <a:r>
              <a:rPr lang="en-US" sz="17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Project Manager y Desarrollador Full Stack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684515" y="6845462"/>
            <a:ext cx="3703940" cy="1987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162" indent="-175581" lvl="1">
              <a:lnSpc>
                <a:spcPts val="2277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f</a:t>
            </a:r>
            <a:r>
              <a:rPr lang="en-US" sz="16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rontend y backend de la aplicación web responsiva con React, Vite y TailwindCSS integrados con Supabase.</a:t>
            </a:r>
          </a:p>
          <a:p>
            <a:pPr algn="l" marL="351162" indent="-175581" lvl="1">
              <a:lnSpc>
                <a:spcPts val="2277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Planificar y organizar las actividades del proyecto.</a:t>
            </a:r>
          </a:p>
          <a:p>
            <a:pPr algn="l" marL="351162" indent="-175581" lvl="1">
              <a:lnSpc>
                <a:spcPts val="2277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Documentador.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583802" y="6741436"/>
            <a:ext cx="3703940" cy="1987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162" indent="-175581" lvl="1">
              <a:lnSpc>
                <a:spcPts val="2277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f</a:t>
            </a:r>
            <a:r>
              <a:rPr lang="en-US" sz="16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rontend y backend de la aplicación web responsiva con React, Vite y TailwindCSS integrados con Supabase.</a:t>
            </a:r>
          </a:p>
          <a:p>
            <a:pPr algn="l" marL="351162" indent="-175581" lvl="1">
              <a:lnSpc>
                <a:spcPts val="2277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Pruebas de seguridad con Postman.</a:t>
            </a:r>
          </a:p>
          <a:p>
            <a:pPr algn="l" marL="351162" indent="-175581" lvl="1">
              <a:lnSpc>
                <a:spcPts val="2277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Documentador.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34218" y="6737405"/>
            <a:ext cx="3703940" cy="1130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162" indent="-175581" lvl="1">
              <a:lnSpc>
                <a:spcPts val="2277"/>
              </a:lnSpc>
              <a:buFont typeface="Arial"/>
              <a:buChar char="•"/>
            </a:pPr>
            <a:r>
              <a:rPr lang="en-US" sz="16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Desarrollo f</a:t>
            </a:r>
            <a:r>
              <a:rPr lang="en-US" sz="1626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rontend y backend de la aplicación web responsiva con React, Vite y TailwindCSS integrados con Supabase.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125745" y="7962917"/>
            <a:ext cx="3439655" cy="272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916" indent="-175958" lvl="1">
              <a:lnSpc>
                <a:spcPts val="2281"/>
              </a:lnSpc>
              <a:buFont typeface="Arial"/>
              <a:buChar char="•"/>
            </a:pPr>
            <a:r>
              <a:rPr lang="en-US" sz="16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Documentador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134218" y="8384778"/>
            <a:ext cx="3743423" cy="558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1916" indent="-175958" lvl="1">
              <a:lnSpc>
                <a:spcPts val="2281"/>
              </a:lnSpc>
              <a:buFont typeface="Arial"/>
              <a:buChar char="•"/>
            </a:pPr>
            <a:r>
              <a:rPr lang="en-US" sz="16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162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efinición de la arquitectura de la aplicación web responsiva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2701" y="971550"/>
            <a:ext cx="12762599" cy="1087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Descripción del proyecto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998823">
            <a:off x="13768978" y="8622192"/>
            <a:ext cx="2509269" cy="1925864"/>
          </a:xfrm>
          <a:custGeom>
            <a:avLst/>
            <a:gdLst/>
            <a:ahLst/>
            <a:cxnLst/>
            <a:rect r="r" b="b" t="t" l="l"/>
            <a:pathLst>
              <a:path h="1925864" w="2509269">
                <a:moveTo>
                  <a:pt x="0" y="0"/>
                </a:moveTo>
                <a:lnTo>
                  <a:pt x="2509269" y="0"/>
                </a:lnTo>
                <a:lnTo>
                  <a:pt x="2509269" y="1925864"/>
                </a:lnTo>
                <a:lnTo>
                  <a:pt x="0" y="1925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776534" y="3382270"/>
            <a:ext cx="2221798" cy="5471993"/>
            <a:chOff x="0" y="0"/>
            <a:chExt cx="585165" cy="144118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165" cy="1441183"/>
            </a:xfrm>
            <a:custGeom>
              <a:avLst/>
              <a:gdLst/>
              <a:ahLst/>
              <a:cxnLst/>
              <a:rect r="r" b="b" t="t" l="l"/>
              <a:pathLst>
                <a:path h="1441183" w="585165">
                  <a:moveTo>
                    <a:pt x="104536" y="0"/>
                  </a:moveTo>
                  <a:lnTo>
                    <a:pt x="480629" y="0"/>
                  </a:lnTo>
                  <a:cubicBezTo>
                    <a:pt x="508354" y="0"/>
                    <a:pt x="534943" y="11014"/>
                    <a:pt x="554547" y="30618"/>
                  </a:cubicBezTo>
                  <a:cubicBezTo>
                    <a:pt x="574151" y="50222"/>
                    <a:pt x="585165" y="76811"/>
                    <a:pt x="585165" y="104536"/>
                  </a:cubicBezTo>
                  <a:lnTo>
                    <a:pt x="585165" y="1336647"/>
                  </a:lnTo>
                  <a:cubicBezTo>
                    <a:pt x="585165" y="1394381"/>
                    <a:pt x="538362" y="1441183"/>
                    <a:pt x="480629" y="1441183"/>
                  </a:cubicBezTo>
                  <a:lnTo>
                    <a:pt x="104536" y="1441183"/>
                  </a:lnTo>
                  <a:cubicBezTo>
                    <a:pt x="46802" y="1441183"/>
                    <a:pt x="0" y="1394381"/>
                    <a:pt x="0" y="1336647"/>
                  </a:cubicBezTo>
                  <a:lnTo>
                    <a:pt x="0" y="104536"/>
                  </a:lnTo>
                  <a:cubicBezTo>
                    <a:pt x="0" y="46802"/>
                    <a:pt x="46802" y="0"/>
                    <a:pt x="104536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165" cy="1498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1813758">
            <a:off x="587717" y="94712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720470">
            <a:off x="6562285" y="7382759"/>
            <a:ext cx="1145284" cy="879005"/>
          </a:xfrm>
          <a:custGeom>
            <a:avLst/>
            <a:gdLst/>
            <a:ahLst/>
            <a:cxnLst/>
            <a:rect r="r" b="b" t="t" l="l"/>
            <a:pathLst>
              <a:path h="879005" w="1145284">
                <a:moveTo>
                  <a:pt x="0" y="0"/>
                </a:moveTo>
                <a:lnTo>
                  <a:pt x="1145284" y="0"/>
                </a:lnTo>
                <a:lnTo>
                  <a:pt x="1145284" y="879005"/>
                </a:lnTo>
                <a:lnTo>
                  <a:pt x="0" y="879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606717">
            <a:off x="15864597" y="1419600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420549">
            <a:off x="1785409" y="9066543"/>
            <a:ext cx="1201388" cy="687580"/>
          </a:xfrm>
          <a:custGeom>
            <a:avLst/>
            <a:gdLst/>
            <a:ahLst/>
            <a:cxnLst/>
            <a:rect r="r" b="b" t="t" l="l"/>
            <a:pathLst>
              <a:path h="687580" w="1201388">
                <a:moveTo>
                  <a:pt x="0" y="0"/>
                </a:moveTo>
                <a:lnTo>
                  <a:pt x="1201388" y="0"/>
                </a:lnTo>
                <a:lnTo>
                  <a:pt x="1201388" y="687579"/>
                </a:lnTo>
                <a:lnTo>
                  <a:pt x="0" y="6875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420549">
            <a:off x="8037779" y="-462317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4"/>
                </a:lnTo>
                <a:lnTo>
                  <a:pt x="0" y="924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919493" y="5939746"/>
            <a:ext cx="1328260" cy="2444282"/>
            <a:chOff x="0" y="0"/>
            <a:chExt cx="349830" cy="64376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9830" cy="643761"/>
            </a:xfrm>
            <a:custGeom>
              <a:avLst/>
              <a:gdLst/>
              <a:ahLst/>
              <a:cxnLst/>
              <a:rect r="r" b="b" t="t" l="l"/>
              <a:pathLst>
                <a:path h="643761" w="349830">
                  <a:moveTo>
                    <a:pt x="174859" y="0"/>
                  </a:moveTo>
                  <a:lnTo>
                    <a:pt x="174971" y="0"/>
                  </a:lnTo>
                  <a:cubicBezTo>
                    <a:pt x="271543" y="0"/>
                    <a:pt x="349830" y="78287"/>
                    <a:pt x="349830" y="174859"/>
                  </a:cubicBezTo>
                  <a:lnTo>
                    <a:pt x="349830" y="468903"/>
                  </a:lnTo>
                  <a:cubicBezTo>
                    <a:pt x="349830" y="565475"/>
                    <a:pt x="271543" y="643761"/>
                    <a:pt x="174971" y="643761"/>
                  </a:cubicBezTo>
                  <a:lnTo>
                    <a:pt x="174859" y="643761"/>
                  </a:lnTo>
                  <a:cubicBezTo>
                    <a:pt x="128483" y="643761"/>
                    <a:pt x="84007" y="625339"/>
                    <a:pt x="51215" y="592547"/>
                  </a:cubicBezTo>
                  <a:cubicBezTo>
                    <a:pt x="18423" y="559754"/>
                    <a:pt x="0" y="515278"/>
                    <a:pt x="0" y="468903"/>
                  </a:cubicBezTo>
                  <a:lnTo>
                    <a:pt x="0" y="174859"/>
                  </a:lnTo>
                  <a:cubicBezTo>
                    <a:pt x="0" y="78287"/>
                    <a:pt x="78287" y="0"/>
                    <a:pt x="174859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49830" cy="7009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97916" y="3885236"/>
            <a:ext cx="5738076" cy="213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Las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rutinas de cuidado de las mascotas suelen quedar desordenadas o se olvidan, afectando su salud y complicando la gestión municipal bajo la Ley de Tenencia Responsable.</a:t>
            </a:r>
          </a:p>
          <a:p>
            <a:pPr algn="just">
              <a:lnSpc>
                <a:spcPts val="28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285537" y="3786229"/>
            <a:ext cx="5738076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Una apli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cación web responsiva que permita a los usuarios gestionar y monitorear el cumplimiento de las obligaciones asociadas a la tenencia responsable de sus mascotas.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17464" y="3136525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16240" y="2957455"/>
            <a:ext cx="353924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Solución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19705" y="1076325"/>
            <a:ext cx="6172788" cy="2479411"/>
            <a:chOff x="0" y="0"/>
            <a:chExt cx="1625755" cy="6530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755" cy="653014"/>
            </a:xfrm>
            <a:custGeom>
              <a:avLst/>
              <a:gdLst/>
              <a:ahLst/>
              <a:cxnLst/>
              <a:rect r="r" b="b" t="t" l="l"/>
              <a:pathLst>
                <a:path h="653014" w="1625755">
                  <a:moveTo>
                    <a:pt x="37626" y="0"/>
                  </a:moveTo>
                  <a:lnTo>
                    <a:pt x="1588129" y="0"/>
                  </a:lnTo>
                  <a:cubicBezTo>
                    <a:pt x="1608909" y="0"/>
                    <a:pt x="1625755" y="16846"/>
                    <a:pt x="1625755" y="37626"/>
                  </a:cubicBezTo>
                  <a:lnTo>
                    <a:pt x="1625755" y="615388"/>
                  </a:lnTo>
                  <a:cubicBezTo>
                    <a:pt x="1625755" y="625367"/>
                    <a:pt x="1621791" y="634937"/>
                    <a:pt x="1614734" y="641993"/>
                  </a:cubicBezTo>
                  <a:cubicBezTo>
                    <a:pt x="1607678" y="649050"/>
                    <a:pt x="1598108" y="653014"/>
                    <a:pt x="1588129" y="653014"/>
                  </a:cubicBezTo>
                  <a:lnTo>
                    <a:pt x="37626" y="653014"/>
                  </a:lnTo>
                  <a:cubicBezTo>
                    <a:pt x="27647" y="653014"/>
                    <a:pt x="18077" y="649050"/>
                    <a:pt x="11020" y="641993"/>
                  </a:cubicBezTo>
                  <a:cubicBezTo>
                    <a:pt x="3964" y="634937"/>
                    <a:pt x="0" y="625367"/>
                    <a:pt x="0" y="615388"/>
                  </a:cubicBezTo>
                  <a:lnTo>
                    <a:pt x="0" y="37626"/>
                  </a:lnTo>
                  <a:cubicBezTo>
                    <a:pt x="0" y="27647"/>
                    <a:pt x="3964" y="18077"/>
                    <a:pt x="11020" y="11020"/>
                  </a:cubicBezTo>
                  <a:cubicBezTo>
                    <a:pt x="18077" y="3964"/>
                    <a:pt x="27647" y="0"/>
                    <a:pt x="37626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625755" cy="710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199481" y="1597007"/>
            <a:ext cx="6614031" cy="3252566"/>
            <a:chOff x="0" y="0"/>
            <a:chExt cx="1004918" cy="4941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433318"/>
                  </a:lnTo>
                  <a:cubicBezTo>
                    <a:pt x="1004918" y="466935"/>
                    <a:pt x="977667" y="494186"/>
                    <a:pt x="944050" y="494186"/>
                  </a:cubicBezTo>
                  <a:lnTo>
                    <a:pt x="60868" y="494186"/>
                  </a:lnTo>
                  <a:cubicBezTo>
                    <a:pt x="27251" y="494186"/>
                    <a:pt x="0" y="466935"/>
                    <a:pt x="0" y="433318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2"/>
              <a:stretch>
                <a:fillRect l="-18630" t="0" r="-42787" b="-11869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1205998">
            <a:off x="8029067" y="9470471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521983" y="7274644"/>
            <a:ext cx="5762041" cy="2479411"/>
            <a:chOff x="0" y="0"/>
            <a:chExt cx="1517575" cy="6530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17575" cy="653014"/>
            </a:xfrm>
            <a:custGeom>
              <a:avLst/>
              <a:gdLst/>
              <a:ahLst/>
              <a:cxnLst/>
              <a:rect r="r" b="b" t="t" l="l"/>
              <a:pathLst>
                <a:path h="653014" w="1517575">
                  <a:moveTo>
                    <a:pt x="40308" y="0"/>
                  </a:moveTo>
                  <a:lnTo>
                    <a:pt x="1477267" y="0"/>
                  </a:lnTo>
                  <a:cubicBezTo>
                    <a:pt x="1499528" y="0"/>
                    <a:pt x="1517575" y="18047"/>
                    <a:pt x="1517575" y="40308"/>
                  </a:cubicBezTo>
                  <a:lnTo>
                    <a:pt x="1517575" y="612705"/>
                  </a:lnTo>
                  <a:cubicBezTo>
                    <a:pt x="1517575" y="634967"/>
                    <a:pt x="1499528" y="653014"/>
                    <a:pt x="1477267" y="653014"/>
                  </a:cubicBezTo>
                  <a:lnTo>
                    <a:pt x="40308" y="653014"/>
                  </a:lnTo>
                  <a:cubicBezTo>
                    <a:pt x="29618" y="653014"/>
                    <a:pt x="19365" y="648767"/>
                    <a:pt x="11806" y="641208"/>
                  </a:cubicBezTo>
                  <a:cubicBezTo>
                    <a:pt x="4247" y="633648"/>
                    <a:pt x="0" y="623396"/>
                    <a:pt x="0" y="612705"/>
                  </a:cubicBezTo>
                  <a:lnTo>
                    <a:pt x="0" y="40308"/>
                  </a:lnTo>
                  <a:cubicBezTo>
                    <a:pt x="0" y="29618"/>
                    <a:pt x="4247" y="19365"/>
                    <a:pt x="11806" y="11806"/>
                  </a:cubicBezTo>
                  <a:cubicBezTo>
                    <a:pt x="19365" y="4247"/>
                    <a:pt x="29618" y="0"/>
                    <a:pt x="40308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517575" cy="710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199481" y="5437428"/>
            <a:ext cx="6614031" cy="3252566"/>
            <a:chOff x="0" y="0"/>
            <a:chExt cx="1004918" cy="4941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4918" cy="494186"/>
            </a:xfrm>
            <a:custGeom>
              <a:avLst/>
              <a:gdLst/>
              <a:ahLst/>
              <a:cxnLst/>
              <a:rect r="r" b="b" t="t" l="l"/>
              <a:pathLst>
                <a:path h="494186" w="1004918">
                  <a:moveTo>
                    <a:pt x="60868" y="0"/>
                  </a:moveTo>
                  <a:lnTo>
                    <a:pt x="944050" y="0"/>
                  </a:lnTo>
                  <a:cubicBezTo>
                    <a:pt x="977667" y="0"/>
                    <a:pt x="1004918" y="27251"/>
                    <a:pt x="1004918" y="60868"/>
                  </a:cubicBezTo>
                  <a:lnTo>
                    <a:pt x="1004918" y="433318"/>
                  </a:lnTo>
                  <a:cubicBezTo>
                    <a:pt x="1004918" y="466935"/>
                    <a:pt x="977667" y="494186"/>
                    <a:pt x="944050" y="494186"/>
                  </a:cubicBezTo>
                  <a:lnTo>
                    <a:pt x="60868" y="494186"/>
                  </a:lnTo>
                  <a:cubicBezTo>
                    <a:pt x="27251" y="494186"/>
                    <a:pt x="0" y="466935"/>
                    <a:pt x="0" y="433318"/>
                  </a:cubicBezTo>
                  <a:lnTo>
                    <a:pt x="0" y="60868"/>
                  </a:lnTo>
                  <a:cubicBezTo>
                    <a:pt x="0" y="27251"/>
                    <a:pt x="27251" y="0"/>
                    <a:pt x="60868" y="0"/>
                  </a:cubicBezTo>
                  <a:close/>
                </a:path>
              </a:pathLst>
            </a:custGeom>
            <a:blipFill>
              <a:blip r:embed="rId2"/>
              <a:stretch>
                <a:fillRect l="-19723" t="-118090" r="-43471" b="-3006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-1825997">
            <a:off x="314112" y="261619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6" y="0"/>
                </a:lnTo>
                <a:lnTo>
                  <a:pt x="1429176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1026429">
            <a:off x="15700410" y="-400020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606717">
            <a:off x="8407652" y="900917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6" y="0"/>
                </a:lnTo>
                <a:lnTo>
                  <a:pt x="1472696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2181285">
            <a:off x="-104743" y="9582211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5"/>
                </a:lnTo>
                <a:lnTo>
                  <a:pt x="0" y="8428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509718">
            <a:off x="17079296" y="6642283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6" y="0"/>
                </a:lnTo>
                <a:lnTo>
                  <a:pt x="1472696" y="842855"/>
                </a:lnTo>
                <a:lnTo>
                  <a:pt x="0" y="8428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2329797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18136" y="4612204"/>
            <a:ext cx="5693100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Desarrollar una aplicación web que permita a los usuarios gestionar y monitorear el cumplimiento de las obligaciones asociadas a la tenencia responsable de sus mascotas.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18136" y="2077521"/>
            <a:ext cx="672586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Objetivo General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53133" y="1028700"/>
            <a:ext cx="6929107" cy="8229600"/>
            <a:chOff x="0" y="0"/>
            <a:chExt cx="899880" cy="10687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99880" cy="1068775"/>
            </a:xfrm>
            <a:custGeom>
              <a:avLst/>
              <a:gdLst/>
              <a:ahLst/>
              <a:cxnLst/>
              <a:rect r="r" b="b" t="t" l="l"/>
              <a:pathLst>
                <a:path h="1068775" w="899880">
                  <a:moveTo>
                    <a:pt x="33519" y="0"/>
                  </a:moveTo>
                  <a:lnTo>
                    <a:pt x="866361" y="0"/>
                  </a:lnTo>
                  <a:cubicBezTo>
                    <a:pt x="875251" y="0"/>
                    <a:pt x="883777" y="3531"/>
                    <a:pt x="890063" y="9818"/>
                  </a:cubicBezTo>
                  <a:cubicBezTo>
                    <a:pt x="896349" y="16104"/>
                    <a:pt x="899880" y="24629"/>
                    <a:pt x="899880" y="33519"/>
                  </a:cubicBezTo>
                  <a:lnTo>
                    <a:pt x="899880" y="1035256"/>
                  </a:lnTo>
                  <a:cubicBezTo>
                    <a:pt x="899880" y="1044145"/>
                    <a:pt x="896349" y="1052671"/>
                    <a:pt x="890063" y="1058957"/>
                  </a:cubicBezTo>
                  <a:cubicBezTo>
                    <a:pt x="883777" y="1065243"/>
                    <a:pt x="875251" y="1068775"/>
                    <a:pt x="866361" y="1068775"/>
                  </a:cubicBezTo>
                  <a:lnTo>
                    <a:pt x="33519" y="1068775"/>
                  </a:lnTo>
                  <a:cubicBezTo>
                    <a:pt x="24629" y="1068775"/>
                    <a:pt x="16104" y="1065243"/>
                    <a:pt x="9818" y="1058957"/>
                  </a:cubicBezTo>
                  <a:cubicBezTo>
                    <a:pt x="3531" y="1052671"/>
                    <a:pt x="0" y="1044145"/>
                    <a:pt x="0" y="1035256"/>
                  </a:cubicBezTo>
                  <a:lnTo>
                    <a:pt x="0" y="33519"/>
                  </a:lnTo>
                  <a:cubicBezTo>
                    <a:pt x="0" y="24629"/>
                    <a:pt x="3531" y="16104"/>
                    <a:pt x="9818" y="9818"/>
                  </a:cubicBezTo>
                  <a:cubicBezTo>
                    <a:pt x="16104" y="3531"/>
                    <a:pt x="24629" y="0"/>
                    <a:pt x="3351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3938" r="-9071" b="-1390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16344" y="3529085"/>
            <a:ext cx="3862083" cy="5719690"/>
            <a:chOff x="0" y="0"/>
            <a:chExt cx="1017199" cy="15064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7199" cy="1506498"/>
            </a:xfrm>
            <a:custGeom>
              <a:avLst/>
              <a:gdLst/>
              <a:ahLst/>
              <a:cxnLst/>
              <a:rect r="r" b="b" t="t" l="l"/>
              <a:pathLst>
                <a:path h="1506498" w="1017199">
                  <a:moveTo>
                    <a:pt x="1017199" y="70161"/>
                  </a:moveTo>
                  <a:lnTo>
                    <a:pt x="1017199" y="1436337"/>
                  </a:lnTo>
                  <a:cubicBezTo>
                    <a:pt x="1017199" y="1454945"/>
                    <a:pt x="1009807" y="1472790"/>
                    <a:pt x="996649" y="1485948"/>
                  </a:cubicBezTo>
                  <a:cubicBezTo>
                    <a:pt x="983492" y="1499106"/>
                    <a:pt x="965646" y="1506498"/>
                    <a:pt x="947038" y="1506498"/>
                  </a:cubicBezTo>
                  <a:lnTo>
                    <a:pt x="70161" y="1506498"/>
                  </a:lnTo>
                  <a:cubicBezTo>
                    <a:pt x="51553" y="1506498"/>
                    <a:pt x="33707" y="1499106"/>
                    <a:pt x="20550" y="1485948"/>
                  </a:cubicBezTo>
                  <a:cubicBezTo>
                    <a:pt x="7392" y="1472790"/>
                    <a:pt x="0" y="1454945"/>
                    <a:pt x="0" y="1436337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017199" cy="1563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420549">
            <a:off x="6428385" y="3933398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066760" y="3529085"/>
            <a:ext cx="3862083" cy="5729215"/>
            <a:chOff x="0" y="0"/>
            <a:chExt cx="1017199" cy="15090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7199" cy="1509007"/>
            </a:xfrm>
            <a:custGeom>
              <a:avLst/>
              <a:gdLst/>
              <a:ahLst/>
              <a:cxnLst/>
              <a:rect r="r" b="b" t="t" l="l"/>
              <a:pathLst>
                <a:path h="1509007" w="1017199">
                  <a:moveTo>
                    <a:pt x="1017199" y="70161"/>
                  </a:moveTo>
                  <a:lnTo>
                    <a:pt x="1017199" y="1438846"/>
                  </a:lnTo>
                  <a:cubicBezTo>
                    <a:pt x="1017199" y="1457453"/>
                    <a:pt x="1009807" y="1475299"/>
                    <a:pt x="996649" y="1488457"/>
                  </a:cubicBezTo>
                  <a:cubicBezTo>
                    <a:pt x="983492" y="1501615"/>
                    <a:pt x="965646" y="1509007"/>
                    <a:pt x="947038" y="1509007"/>
                  </a:cubicBezTo>
                  <a:lnTo>
                    <a:pt x="70161" y="1509007"/>
                  </a:lnTo>
                  <a:cubicBezTo>
                    <a:pt x="51553" y="1509007"/>
                    <a:pt x="33707" y="1501615"/>
                    <a:pt x="20550" y="1488457"/>
                  </a:cubicBezTo>
                  <a:cubicBezTo>
                    <a:pt x="7392" y="1475299"/>
                    <a:pt x="0" y="1457453"/>
                    <a:pt x="0" y="1438846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17199" cy="1566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949143" y="4147014"/>
            <a:ext cx="996486" cy="996486"/>
          </a:xfrm>
          <a:custGeom>
            <a:avLst/>
            <a:gdLst/>
            <a:ahLst/>
            <a:cxnLst/>
            <a:rect r="r" b="b" t="t" l="l"/>
            <a:pathLst>
              <a:path h="996486" w="996486">
                <a:moveTo>
                  <a:pt x="0" y="0"/>
                </a:moveTo>
                <a:lnTo>
                  <a:pt x="996486" y="0"/>
                </a:lnTo>
                <a:lnTo>
                  <a:pt x="996486" y="996486"/>
                </a:lnTo>
                <a:lnTo>
                  <a:pt x="0" y="996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499559" y="4147014"/>
            <a:ext cx="996486" cy="996486"/>
          </a:xfrm>
          <a:custGeom>
            <a:avLst/>
            <a:gdLst/>
            <a:ahLst/>
            <a:cxnLst/>
            <a:rect r="r" b="b" t="t" l="l"/>
            <a:pathLst>
              <a:path h="996486" w="996486">
                <a:moveTo>
                  <a:pt x="0" y="0"/>
                </a:moveTo>
                <a:lnTo>
                  <a:pt x="996486" y="0"/>
                </a:lnTo>
                <a:lnTo>
                  <a:pt x="996486" y="996486"/>
                </a:lnTo>
                <a:lnTo>
                  <a:pt x="0" y="996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825997">
            <a:off x="10218874" y="9134564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617176" y="3529085"/>
            <a:ext cx="3862083" cy="5729215"/>
            <a:chOff x="0" y="0"/>
            <a:chExt cx="1017199" cy="15090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7199" cy="1509007"/>
            </a:xfrm>
            <a:custGeom>
              <a:avLst/>
              <a:gdLst/>
              <a:ahLst/>
              <a:cxnLst/>
              <a:rect r="r" b="b" t="t" l="l"/>
              <a:pathLst>
                <a:path h="1509007" w="1017199">
                  <a:moveTo>
                    <a:pt x="1017199" y="70161"/>
                  </a:moveTo>
                  <a:lnTo>
                    <a:pt x="1017199" y="1438846"/>
                  </a:lnTo>
                  <a:cubicBezTo>
                    <a:pt x="1017199" y="1457453"/>
                    <a:pt x="1009807" y="1475299"/>
                    <a:pt x="996649" y="1488457"/>
                  </a:cubicBezTo>
                  <a:cubicBezTo>
                    <a:pt x="983492" y="1501615"/>
                    <a:pt x="965646" y="1509007"/>
                    <a:pt x="947038" y="1509007"/>
                  </a:cubicBezTo>
                  <a:lnTo>
                    <a:pt x="70161" y="1509007"/>
                  </a:lnTo>
                  <a:cubicBezTo>
                    <a:pt x="51553" y="1509007"/>
                    <a:pt x="33707" y="1501615"/>
                    <a:pt x="20550" y="1488457"/>
                  </a:cubicBezTo>
                  <a:cubicBezTo>
                    <a:pt x="7392" y="1475299"/>
                    <a:pt x="0" y="1457453"/>
                    <a:pt x="0" y="1438846"/>
                  </a:cubicBezTo>
                  <a:lnTo>
                    <a:pt x="0" y="70161"/>
                  </a:lnTo>
                  <a:cubicBezTo>
                    <a:pt x="0" y="51553"/>
                    <a:pt x="7392" y="33707"/>
                    <a:pt x="20550" y="20550"/>
                  </a:cubicBezTo>
                  <a:cubicBezTo>
                    <a:pt x="33707" y="7392"/>
                    <a:pt x="51553" y="0"/>
                    <a:pt x="70161" y="0"/>
                  </a:cubicBezTo>
                  <a:lnTo>
                    <a:pt x="947038" y="0"/>
                  </a:lnTo>
                  <a:cubicBezTo>
                    <a:pt x="965646" y="0"/>
                    <a:pt x="983492" y="7392"/>
                    <a:pt x="996649" y="20550"/>
                  </a:cubicBezTo>
                  <a:cubicBezTo>
                    <a:pt x="1009807" y="33707"/>
                    <a:pt x="1017199" y="51553"/>
                    <a:pt x="1017199" y="70161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17199" cy="1566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2049975" y="4147014"/>
            <a:ext cx="996486" cy="996486"/>
          </a:xfrm>
          <a:custGeom>
            <a:avLst/>
            <a:gdLst/>
            <a:ahLst/>
            <a:cxnLst/>
            <a:rect r="r" b="b" t="t" l="l"/>
            <a:pathLst>
              <a:path h="996486" w="996486">
                <a:moveTo>
                  <a:pt x="0" y="0"/>
                </a:moveTo>
                <a:lnTo>
                  <a:pt x="996486" y="0"/>
                </a:lnTo>
                <a:lnTo>
                  <a:pt x="996486" y="996486"/>
                </a:lnTo>
                <a:lnTo>
                  <a:pt x="0" y="9964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235456">
            <a:off x="-99028" y="350310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1294656">
            <a:off x="12631286" y="-37394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1760731">
            <a:off x="-709802" y="8564334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808077" y="7050684"/>
            <a:ext cx="3278618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regi</a:t>
            </a: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stren la información personal, clínica y de hábitos de sus mascotas en los primeros 6 meses de uso de la plataforma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83046" y="7050684"/>
            <a:ext cx="3278618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progra</a:t>
            </a: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 y cumpla rutinas con alertas inteligentes en un periodo de 6 meses, desde la implementación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32630" y="5446674"/>
            <a:ext cx="3229512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Lograr que al menos el 50% de los usuarios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24903" y="5446674"/>
            <a:ext cx="3545798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Conseguir que el 80% de los usuarios activos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840358" y="7050684"/>
            <a:ext cx="3278618" cy="141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utilice la función de comparat</a:t>
            </a: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ivas de gastos durante los primeros 6 meses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58015" y="5446674"/>
            <a:ext cx="3229512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Lograr que al menos el 60% de los usuarios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6344" y="1471049"/>
            <a:ext cx="9588765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80"/>
              </a:lnSpc>
              <a:spcBef>
                <a:spcPct val="0"/>
              </a:spcBef>
            </a:pPr>
            <a:r>
              <a:rPr lang="en-US" b="true" sz="6800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Objetivos específicos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06717">
            <a:off x="9199312" y="2181026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5"/>
                </a:lnTo>
                <a:lnTo>
                  <a:pt x="0" y="8428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78627" y="1977634"/>
            <a:ext cx="6827629" cy="7976659"/>
            <a:chOff x="0" y="0"/>
            <a:chExt cx="1798223" cy="2100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98223" cy="2100849"/>
            </a:xfrm>
            <a:custGeom>
              <a:avLst/>
              <a:gdLst/>
              <a:ahLst/>
              <a:cxnLst/>
              <a:rect r="r" b="b" t="t" l="l"/>
              <a:pathLst>
                <a:path h="2100849" w="1798223">
                  <a:moveTo>
                    <a:pt x="34017" y="0"/>
                  </a:moveTo>
                  <a:lnTo>
                    <a:pt x="1764206" y="0"/>
                  </a:lnTo>
                  <a:cubicBezTo>
                    <a:pt x="1782993" y="0"/>
                    <a:pt x="1798223" y="15230"/>
                    <a:pt x="1798223" y="34017"/>
                  </a:cubicBezTo>
                  <a:lnTo>
                    <a:pt x="1798223" y="2066831"/>
                  </a:lnTo>
                  <a:cubicBezTo>
                    <a:pt x="1798223" y="2085618"/>
                    <a:pt x="1782993" y="2100849"/>
                    <a:pt x="1764206" y="2100849"/>
                  </a:cubicBezTo>
                  <a:lnTo>
                    <a:pt x="34017" y="2100849"/>
                  </a:lnTo>
                  <a:cubicBezTo>
                    <a:pt x="15230" y="2100849"/>
                    <a:pt x="0" y="2085618"/>
                    <a:pt x="0" y="2066831"/>
                  </a:cubicBezTo>
                  <a:lnTo>
                    <a:pt x="0" y="34017"/>
                  </a:lnTo>
                  <a:cubicBezTo>
                    <a:pt x="0" y="15230"/>
                    <a:pt x="15230" y="0"/>
                    <a:pt x="34017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798223" cy="2167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555976">
            <a:off x="2308940" y="771088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55677">
            <a:off x="17421544" y="7062173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785146">
            <a:off x="6092601" y="9405847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024627">
            <a:off x="14923519" y="8836873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024627">
            <a:off x="-554037" y="8256975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220222" y="2384582"/>
            <a:ext cx="1109449" cy="3772709"/>
            <a:chOff x="0" y="0"/>
            <a:chExt cx="292201" cy="9936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201" cy="993635"/>
            </a:xfrm>
            <a:custGeom>
              <a:avLst/>
              <a:gdLst/>
              <a:ahLst/>
              <a:cxnLst/>
              <a:rect r="r" b="b" t="t" l="l"/>
              <a:pathLst>
                <a:path h="993635" w="292201">
                  <a:moveTo>
                    <a:pt x="146100" y="0"/>
                  </a:moveTo>
                  <a:lnTo>
                    <a:pt x="146100" y="0"/>
                  </a:lnTo>
                  <a:cubicBezTo>
                    <a:pt x="184848" y="0"/>
                    <a:pt x="222010" y="15393"/>
                    <a:pt x="249409" y="42792"/>
                  </a:cubicBezTo>
                  <a:cubicBezTo>
                    <a:pt x="276808" y="70191"/>
                    <a:pt x="292201" y="107352"/>
                    <a:pt x="292201" y="146100"/>
                  </a:cubicBezTo>
                  <a:lnTo>
                    <a:pt x="292201" y="847535"/>
                  </a:lnTo>
                  <a:cubicBezTo>
                    <a:pt x="292201" y="886283"/>
                    <a:pt x="276808" y="923444"/>
                    <a:pt x="249409" y="950844"/>
                  </a:cubicBezTo>
                  <a:cubicBezTo>
                    <a:pt x="222010" y="978243"/>
                    <a:pt x="184848" y="993635"/>
                    <a:pt x="146100" y="993635"/>
                  </a:cubicBezTo>
                  <a:lnTo>
                    <a:pt x="146100" y="993635"/>
                  </a:lnTo>
                  <a:cubicBezTo>
                    <a:pt x="107352" y="993635"/>
                    <a:pt x="70191" y="978243"/>
                    <a:pt x="42792" y="950844"/>
                  </a:cubicBezTo>
                  <a:cubicBezTo>
                    <a:pt x="15393" y="923444"/>
                    <a:pt x="0" y="886283"/>
                    <a:pt x="0" y="847535"/>
                  </a:cubicBezTo>
                  <a:lnTo>
                    <a:pt x="0" y="146100"/>
                  </a:lnTo>
                  <a:cubicBezTo>
                    <a:pt x="0" y="107352"/>
                    <a:pt x="15393" y="70191"/>
                    <a:pt x="42792" y="42792"/>
                  </a:cubicBezTo>
                  <a:cubicBezTo>
                    <a:pt x="70191" y="15393"/>
                    <a:pt x="107352" y="0"/>
                    <a:pt x="146100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92201" cy="1050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79118" y="3036980"/>
            <a:ext cx="821282" cy="821282"/>
            <a:chOff x="0" y="0"/>
            <a:chExt cx="1095043" cy="109504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18" id="18"/>
            <p:cNvSpPr/>
            <p:nvPr/>
          </p:nvSpPr>
          <p:spPr>
            <a:xfrm flipH="false" flipV="false" rot="0">
              <a:off x="302635" y="241413"/>
              <a:ext cx="489774" cy="612217"/>
            </a:xfrm>
            <a:custGeom>
              <a:avLst/>
              <a:gdLst/>
              <a:ahLst/>
              <a:cxnLst/>
              <a:rect r="r" b="b" t="t" l="l"/>
              <a:pathLst>
                <a:path h="612217" w="489774">
                  <a:moveTo>
                    <a:pt x="0" y="0"/>
                  </a:moveTo>
                  <a:lnTo>
                    <a:pt x="489773" y="0"/>
                  </a:lnTo>
                  <a:lnTo>
                    <a:pt x="489773" y="612217"/>
                  </a:lnTo>
                  <a:lnTo>
                    <a:pt x="0" y="612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792941" y="3230134"/>
            <a:ext cx="5590287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Gestión de usuario</a:t>
            </a:r>
            <a:r>
              <a:rPr lang="en-US" sz="25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 y mascotas.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679118" y="4463579"/>
            <a:ext cx="821282" cy="821282"/>
            <a:chOff x="0" y="0"/>
            <a:chExt cx="1095043" cy="1095043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24" id="24"/>
            <p:cNvSpPr/>
            <p:nvPr/>
          </p:nvSpPr>
          <p:spPr>
            <a:xfrm flipH="false" flipV="false" rot="0">
              <a:off x="233155" y="233155"/>
              <a:ext cx="628732" cy="628732"/>
            </a:xfrm>
            <a:custGeom>
              <a:avLst/>
              <a:gdLst/>
              <a:ahLst/>
              <a:cxnLst/>
              <a:rect r="r" b="b" t="t" l="l"/>
              <a:pathLst>
                <a:path h="628732" w="628732">
                  <a:moveTo>
                    <a:pt x="0" y="0"/>
                  </a:moveTo>
                  <a:lnTo>
                    <a:pt x="628733" y="0"/>
                  </a:lnTo>
                  <a:lnTo>
                    <a:pt x="628733" y="628733"/>
                  </a:lnTo>
                  <a:lnTo>
                    <a:pt x="0" y="628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79118" y="5894461"/>
            <a:ext cx="821282" cy="821282"/>
            <a:chOff x="0" y="0"/>
            <a:chExt cx="1095043" cy="1095043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273248" y="212299"/>
              <a:ext cx="548546" cy="670445"/>
            </a:xfrm>
            <a:custGeom>
              <a:avLst/>
              <a:gdLst/>
              <a:ahLst/>
              <a:cxnLst/>
              <a:rect r="r" b="b" t="t" l="l"/>
              <a:pathLst>
                <a:path h="670445" w="548546">
                  <a:moveTo>
                    <a:pt x="0" y="0"/>
                  </a:moveTo>
                  <a:lnTo>
                    <a:pt x="548547" y="0"/>
                  </a:lnTo>
                  <a:lnTo>
                    <a:pt x="548547" y="670445"/>
                  </a:lnTo>
                  <a:lnTo>
                    <a:pt x="0" y="670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79118" y="7325344"/>
            <a:ext cx="821282" cy="821282"/>
            <a:chOff x="0" y="0"/>
            <a:chExt cx="1095043" cy="1095043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204453" y="211743"/>
              <a:ext cx="686138" cy="671557"/>
            </a:xfrm>
            <a:custGeom>
              <a:avLst/>
              <a:gdLst/>
              <a:ahLst/>
              <a:cxnLst/>
              <a:rect r="r" b="b" t="t" l="l"/>
              <a:pathLst>
                <a:path h="671557" w="686138">
                  <a:moveTo>
                    <a:pt x="0" y="0"/>
                  </a:moveTo>
                  <a:lnTo>
                    <a:pt x="686137" y="0"/>
                  </a:lnTo>
                  <a:lnTo>
                    <a:pt x="686137" y="671557"/>
                  </a:lnTo>
                  <a:lnTo>
                    <a:pt x="0" y="671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679118" y="8756226"/>
            <a:ext cx="821282" cy="821282"/>
            <a:chOff x="0" y="0"/>
            <a:chExt cx="1095043" cy="1095043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1095043" cy="1095043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B3121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Freeform 39" id="39"/>
            <p:cNvSpPr/>
            <p:nvPr/>
          </p:nvSpPr>
          <p:spPr>
            <a:xfrm flipH="false" flipV="false" rot="0">
              <a:off x="205420" y="252887"/>
              <a:ext cx="684203" cy="589270"/>
            </a:xfrm>
            <a:custGeom>
              <a:avLst/>
              <a:gdLst/>
              <a:ahLst/>
              <a:cxnLst/>
              <a:rect r="r" b="b" t="t" l="l"/>
              <a:pathLst>
                <a:path h="589270" w="684203">
                  <a:moveTo>
                    <a:pt x="0" y="0"/>
                  </a:moveTo>
                  <a:lnTo>
                    <a:pt x="684203" y="0"/>
                  </a:lnTo>
                  <a:lnTo>
                    <a:pt x="684203" y="589269"/>
                  </a:lnTo>
                  <a:lnTo>
                    <a:pt x="0" y="58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3994056" y="518017"/>
            <a:ext cx="10299887" cy="1143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Alcance y limitaciones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97002" y="3001515"/>
            <a:ext cx="6203787" cy="594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689" indent="-226344" lvl="1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Funciones de diagnóstico, recomendaciones médicas o cualquier decisión que deba ser realizada por un veterinario.</a:t>
            </a:r>
          </a:p>
          <a:p>
            <a:pPr algn="l">
              <a:lnSpc>
                <a:spcPts val="2935"/>
              </a:lnSpc>
            </a:pPr>
          </a:p>
          <a:p>
            <a:pPr algn="l" marL="452689" indent="-226344" lvl="1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Integración </a:t>
            </a:r>
            <a:r>
              <a:rPr lang="en-US" sz="20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 dispositivos inteligentes (collares GPS, comederos automáticos, etc.).</a:t>
            </a:r>
          </a:p>
          <a:p>
            <a:pPr algn="l">
              <a:lnSpc>
                <a:spcPts val="2935"/>
              </a:lnSpc>
            </a:pPr>
          </a:p>
          <a:p>
            <a:pPr algn="l" marL="452689" indent="-226344" lvl="1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Procesamiento avanzado con inteligencia artificial.</a:t>
            </a:r>
          </a:p>
          <a:p>
            <a:pPr algn="l">
              <a:lnSpc>
                <a:spcPts val="2935"/>
              </a:lnSpc>
            </a:pPr>
          </a:p>
          <a:p>
            <a:pPr algn="l" marL="452689" indent="-226344" lvl="1">
              <a:lnSpc>
                <a:spcPts val="2935"/>
              </a:lnSpc>
              <a:buFont typeface="Arial"/>
              <a:buChar char="•"/>
            </a:pPr>
            <a:r>
              <a:rPr lang="en-US" sz="209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Gestión financiera avanzada (pagos electrónicos, integración con bancos o pasarelas de pago).</a:t>
            </a:r>
          </a:p>
          <a:p>
            <a:pPr algn="l">
              <a:lnSpc>
                <a:spcPts val="2935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2490875" y="2308382"/>
            <a:ext cx="424447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Alcances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108184" y="2317907"/>
            <a:ext cx="396851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Limitaciones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92941" y="4656733"/>
            <a:ext cx="5590287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Rutinas y alerta</a:t>
            </a:r>
            <a:r>
              <a:rPr lang="en-US" sz="25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 automatizadas.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792941" y="6087615"/>
            <a:ext cx="5590287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Bitácora clínica</a:t>
            </a:r>
            <a:r>
              <a:rPr lang="en-US" sz="25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y documentos.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792941" y="7518497"/>
            <a:ext cx="5247699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Módulo de gasto</a:t>
            </a:r>
            <a:r>
              <a:rPr lang="en-US" sz="25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 y métricas.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792941" y="8949380"/>
            <a:ext cx="4434055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Módulo</a:t>
            </a:r>
            <a:r>
              <a:rPr lang="en-US" sz="25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de análisis.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00193" y="1474121"/>
            <a:ext cx="6754304" cy="5024800"/>
            <a:chOff x="0" y="0"/>
            <a:chExt cx="993688" cy="739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3688" cy="739245"/>
            </a:xfrm>
            <a:custGeom>
              <a:avLst/>
              <a:gdLst/>
              <a:ahLst/>
              <a:cxnLst/>
              <a:rect r="r" b="b" t="t" l="l"/>
              <a:pathLst>
                <a:path h="739245" w="993688">
                  <a:moveTo>
                    <a:pt x="57311" y="0"/>
                  </a:moveTo>
                  <a:lnTo>
                    <a:pt x="936377" y="0"/>
                  </a:lnTo>
                  <a:cubicBezTo>
                    <a:pt x="968029" y="0"/>
                    <a:pt x="993688" y="25659"/>
                    <a:pt x="993688" y="57311"/>
                  </a:cubicBezTo>
                  <a:lnTo>
                    <a:pt x="993688" y="681934"/>
                  </a:lnTo>
                  <a:cubicBezTo>
                    <a:pt x="993688" y="713586"/>
                    <a:pt x="968029" y="739245"/>
                    <a:pt x="936377" y="739245"/>
                  </a:cubicBezTo>
                  <a:lnTo>
                    <a:pt x="57311" y="739245"/>
                  </a:lnTo>
                  <a:cubicBezTo>
                    <a:pt x="42111" y="739245"/>
                    <a:pt x="27534" y="733207"/>
                    <a:pt x="16786" y="722459"/>
                  </a:cubicBezTo>
                  <a:cubicBezTo>
                    <a:pt x="6038" y="711711"/>
                    <a:pt x="0" y="697134"/>
                    <a:pt x="0" y="681934"/>
                  </a:cubicBezTo>
                  <a:lnTo>
                    <a:pt x="0" y="57311"/>
                  </a:lnTo>
                  <a:cubicBezTo>
                    <a:pt x="0" y="25659"/>
                    <a:pt x="25659" y="0"/>
                    <a:pt x="5731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0722" r="0" b="-5072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1687147">
            <a:off x="16047433" y="1354851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1026928"/>
            <a:ext cx="2221798" cy="5471993"/>
            <a:chOff x="0" y="0"/>
            <a:chExt cx="585165" cy="14411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165" cy="1441183"/>
            </a:xfrm>
            <a:custGeom>
              <a:avLst/>
              <a:gdLst/>
              <a:ahLst/>
              <a:cxnLst/>
              <a:rect r="r" b="b" t="t" l="l"/>
              <a:pathLst>
                <a:path h="1441183" w="585165">
                  <a:moveTo>
                    <a:pt x="104536" y="0"/>
                  </a:moveTo>
                  <a:lnTo>
                    <a:pt x="480629" y="0"/>
                  </a:lnTo>
                  <a:cubicBezTo>
                    <a:pt x="508354" y="0"/>
                    <a:pt x="534943" y="11014"/>
                    <a:pt x="554547" y="30618"/>
                  </a:cubicBezTo>
                  <a:cubicBezTo>
                    <a:pt x="574151" y="50222"/>
                    <a:pt x="585165" y="76811"/>
                    <a:pt x="585165" y="104536"/>
                  </a:cubicBezTo>
                  <a:lnTo>
                    <a:pt x="585165" y="1336647"/>
                  </a:lnTo>
                  <a:cubicBezTo>
                    <a:pt x="585165" y="1394381"/>
                    <a:pt x="538362" y="1441183"/>
                    <a:pt x="480629" y="1441183"/>
                  </a:cubicBezTo>
                  <a:lnTo>
                    <a:pt x="104536" y="1441183"/>
                  </a:lnTo>
                  <a:cubicBezTo>
                    <a:pt x="46802" y="1441183"/>
                    <a:pt x="0" y="1394381"/>
                    <a:pt x="0" y="1336647"/>
                  </a:cubicBezTo>
                  <a:lnTo>
                    <a:pt x="0" y="104536"/>
                  </a:lnTo>
                  <a:cubicBezTo>
                    <a:pt x="0" y="46802"/>
                    <a:pt x="46802" y="0"/>
                    <a:pt x="104536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85165" cy="1498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2266949">
            <a:off x="186195" y="3138067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185263">
            <a:off x="16431122" y="8604857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700383">
            <a:off x="8840844" y="-54844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420549">
            <a:off x="1018441" y="8284872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1687147">
            <a:off x="11220346" y="9821125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28231" y="8747190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075768" y="6039869"/>
            <a:ext cx="603155" cy="281784"/>
          </a:xfrm>
          <a:custGeom>
            <a:avLst/>
            <a:gdLst/>
            <a:ahLst/>
            <a:cxnLst/>
            <a:rect r="r" b="b" t="t" l="l"/>
            <a:pathLst>
              <a:path h="281784" w="603155">
                <a:moveTo>
                  <a:pt x="0" y="0"/>
                </a:moveTo>
                <a:lnTo>
                  <a:pt x="603155" y="0"/>
                </a:lnTo>
                <a:lnTo>
                  <a:pt x="603155" y="281783"/>
                </a:lnTo>
                <a:lnTo>
                  <a:pt x="0" y="2817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248630" y="5524582"/>
            <a:ext cx="5408979" cy="3753677"/>
          </a:xfrm>
          <a:custGeom>
            <a:avLst/>
            <a:gdLst/>
            <a:ahLst/>
            <a:cxnLst/>
            <a:rect r="r" b="b" t="t" l="l"/>
            <a:pathLst>
              <a:path h="3753677" w="5408979">
                <a:moveTo>
                  <a:pt x="0" y="0"/>
                </a:moveTo>
                <a:lnTo>
                  <a:pt x="5408979" y="0"/>
                </a:lnTo>
                <a:lnTo>
                  <a:pt x="5408979" y="3753677"/>
                </a:lnTo>
                <a:lnTo>
                  <a:pt x="0" y="37536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178" t="0" r="-2178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29159" y="2186282"/>
            <a:ext cx="6658648" cy="4915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Metodología de trabajo para el desarrollo del proyecto</a:t>
            </a:r>
          </a:p>
          <a:p>
            <a:pPr algn="l">
              <a:lnSpc>
                <a:spcPts val="748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629159" y="6815983"/>
            <a:ext cx="6009671" cy="142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desarrollo de este proyecto se ha decidido utilizar una metodología híbrida, que combina elementos del enfoque tradicional en cascada y de la metodología ágil de Scrum.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43809" y="5819928"/>
            <a:ext cx="1380745" cy="5471993"/>
            <a:chOff x="0" y="0"/>
            <a:chExt cx="363653" cy="144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3653" cy="1441183"/>
            </a:xfrm>
            <a:custGeom>
              <a:avLst/>
              <a:gdLst/>
              <a:ahLst/>
              <a:cxnLst/>
              <a:rect r="r" b="b" t="t" l="l"/>
              <a:pathLst>
                <a:path h="1441183" w="363653">
                  <a:moveTo>
                    <a:pt x="168212" y="0"/>
                  </a:moveTo>
                  <a:lnTo>
                    <a:pt x="195441" y="0"/>
                  </a:lnTo>
                  <a:cubicBezTo>
                    <a:pt x="240054" y="0"/>
                    <a:pt x="282839" y="17722"/>
                    <a:pt x="314385" y="49268"/>
                  </a:cubicBezTo>
                  <a:cubicBezTo>
                    <a:pt x="345931" y="80814"/>
                    <a:pt x="363653" y="123599"/>
                    <a:pt x="363653" y="168212"/>
                  </a:cubicBezTo>
                  <a:lnTo>
                    <a:pt x="363653" y="1272972"/>
                  </a:lnTo>
                  <a:cubicBezTo>
                    <a:pt x="363653" y="1317584"/>
                    <a:pt x="345931" y="1360369"/>
                    <a:pt x="314385" y="1391915"/>
                  </a:cubicBezTo>
                  <a:cubicBezTo>
                    <a:pt x="282839" y="1423461"/>
                    <a:pt x="240054" y="1441183"/>
                    <a:pt x="195441" y="1441183"/>
                  </a:cubicBezTo>
                  <a:lnTo>
                    <a:pt x="168212" y="1441183"/>
                  </a:lnTo>
                  <a:cubicBezTo>
                    <a:pt x="123599" y="1441183"/>
                    <a:pt x="80814" y="1423461"/>
                    <a:pt x="49268" y="1391915"/>
                  </a:cubicBezTo>
                  <a:cubicBezTo>
                    <a:pt x="17722" y="1360369"/>
                    <a:pt x="0" y="1317584"/>
                    <a:pt x="0" y="1272972"/>
                  </a:cubicBezTo>
                  <a:lnTo>
                    <a:pt x="0" y="168212"/>
                  </a:lnTo>
                  <a:cubicBezTo>
                    <a:pt x="0" y="123599"/>
                    <a:pt x="17722" y="80814"/>
                    <a:pt x="49268" y="49268"/>
                  </a:cubicBezTo>
                  <a:cubicBezTo>
                    <a:pt x="80814" y="17722"/>
                    <a:pt x="123599" y="0"/>
                    <a:pt x="168212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63653" cy="1498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825997">
            <a:off x="41005" y="218459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042705">
            <a:off x="15159228" y="937500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29064">
            <a:off x="6104163" y="8161668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76524">
            <a:off x="15110487" y="-392409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33798">
            <a:off x="13381662" y="7154827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53614">
            <a:off x="17332115" y="1587458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665914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0921" y="1530465"/>
            <a:ext cx="11067655" cy="2280423"/>
          </a:xfrm>
          <a:custGeom>
            <a:avLst/>
            <a:gdLst/>
            <a:ahLst/>
            <a:cxnLst/>
            <a:rect r="r" b="b" t="t" l="l"/>
            <a:pathLst>
              <a:path h="2280423" w="11067655">
                <a:moveTo>
                  <a:pt x="0" y="0"/>
                </a:moveTo>
                <a:lnTo>
                  <a:pt x="11067655" y="0"/>
                </a:lnTo>
                <a:lnTo>
                  <a:pt x="11067655" y="2280423"/>
                </a:lnTo>
                <a:lnTo>
                  <a:pt x="0" y="22804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00921" y="8062620"/>
            <a:ext cx="11067655" cy="2224380"/>
          </a:xfrm>
          <a:custGeom>
            <a:avLst/>
            <a:gdLst/>
            <a:ahLst/>
            <a:cxnLst/>
            <a:rect r="r" b="b" t="t" l="l"/>
            <a:pathLst>
              <a:path h="2224380" w="11067655">
                <a:moveTo>
                  <a:pt x="0" y="0"/>
                </a:moveTo>
                <a:lnTo>
                  <a:pt x="11067655" y="0"/>
                </a:lnTo>
                <a:lnTo>
                  <a:pt x="11067655" y="2224380"/>
                </a:lnTo>
                <a:lnTo>
                  <a:pt x="0" y="22243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0" r="0" b="-3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00921" y="3896613"/>
            <a:ext cx="11060956" cy="2209144"/>
          </a:xfrm>
          <a:custGeom>
            <a:avLst/>
            <a:gdLst/>
            <a:ahLst/>
            <a:cxnLst/>
            <a:rect r="r" b="b" t="t" l="l"/>
            <a:pathLst>
              <a:path h="2209144" w="11060956">
                <a:moveTo>
                  <a:pt x="0" y="0"/>
                </a:moveTo>
                <a:lnTo>
                  <a:pt x="11060956" y="0"/>
                </a:lnTo>
                <a:lnTo>
                  <a:pt x="11060956" y="2209145"/>
                </a:lnTo>
                <a:lnTo>
                  <a:pt x="0" y="22091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0921" y="6196902"/>
            <a:ext cx="11067655" cy="1869947"/>
          </a:xfrm>
          <a:custGeom>
            <a:avLst/>
            <a:gdLst/>
            <a:ahLst/>
            <a:cxnLst/>
            <a:rect r="r" b="b" t="t" l="l"/>
            <a:pathLst>
              <a:path h="1869947" w="11067655">
                <a:moveTo>
                  <a:pt x="0" y="0"/>
                </a:moveTo>
                <a:lnTo>
                  <a:pt x="11067655" y="0"/>
                </a:lnTo>
                <a:lnTo>
                  <a:pt x="11067655" y="1869947"/>
                </a:lnTo>
                <a:lnTo>
                  <a:pt x="0" y="18699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49531" y="331878"/>
            <a:ext cx="10567195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0"/>
              </a:lnSpc>
              <a:spcBef>
                <a:spcPct val="0"/>
              </a:spcBef>
            </a:pPr>
            <a:r>
              <a:rPr lang="en-US" b="true" sz="6500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Planificacion Temporal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2042705">
            <a:off x="11306053" y="41795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042705">
            <a:off x="13699350" y="2790753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033798">
            <a:off x="11915709" y="4412226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48401" y="3238121"/>
            <a:ext cx="1380745" cy="5471993"/>
            <a:chOff x="0" y="0"/>
            <a:chExt cx="363653" cy="144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3653" cy="1441183"/>
            </a:xfrm>
            <a:custGeom>
              <a:avLst/>
              <a:gdLst/>
              <a:ahLst/>
              <a:cxnLst/>
              <a:rect r="r" b="b" t="t" l="l"/>
              <a:pathLst>
                <a:path h="1441183" w="363653">
                  <a:moveTo>
                    <a:pt x="168212" y="0"/>
                  </a:moveTo>
                  <a:lnTo>
                    <a:pt x="195441" y="0"/>
                  </a:lnTo>
                  <a:cubicBezTo>
                    <a:pt x="240054" y="0"/>
                    <a:pt x="282839" y="17722"/>
                    <a:pt x="314385" y="49268"/>
                  </a:cubicBezTo>
                  <a:cubicBezTo>
                    <a:pt x="345931" y="80814"/>
                    <a:pt x="363653" y="123599"/>
                    <a:pt x="363653" y="168212"/>
                  </a:cubicBezTo>
                  <a:lnTo>
                    <a:pt x="363653" y="1272972"/>
                  </a:lnTo>
                  <a:cubicBezTo>
                    <a:pt x="363653" y="1317584"/>
                    <a:pt x="345931" y="1360369"/>
                    <a:pt x="314385" y="1391915"/>
                  </a:cubicBezTo>
                  <a:cubicBezTo>
                    <a:pt x="282839" y="1423461"/>
                    <a:pt x="240054" y="1441183"/>
                    <a:pt x="195441" y="1441183"/>
                  </a:cubicBezTo>
                  <a:lnTo>
                    <a:pt x="168212" y="1441183"/>
                  </a:lnTo>
                  <a:cubicBezTo>
                    <a:pt x="123599" y="1441183"/>
                    <a:pt x="80814" y="1423461"/>
                    <a:pt x="49268" y="1391915"/>
                  </a:cubicBezTo>
                  <a:cubicBezTo>
                    <a:pt x="17722" y="1360369"/>
                    <a:pt x="0" y="1317584"/>
                    <a:pt x="0" y="1272972"/>
                  </a:cubicBezTo>
                  <a:lnTo>
                    <a:pt x="0" y="168212"/>
                  </a:lnTo>
                  <a:cubicBezTo>
                    <a:pt x="0" y="123599"/>
                    <a:pt x="17722" y="80814"/>
                    <a:pt x="49268" y="49268"/>
                  </a:cubicBezTo>
                  <a:cubicBezTo>
                    <a:pt x="80814" y="17722"/>
                    <a:pt x="123599" y="0"/>
                    <a:pt x="168212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63653" cy="1498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825997">
            <a:off x="41005" y="218459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042705">
            <a:off x="15159228" y="937500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29064">
            <a:off x="6104163" y="8161668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76524">
            <a:off x="15110487" y="-392409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33798">
            <a:off x="13381662" y="7154827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53614">
            <a:off x="10251485" y="9894124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28700" y="665914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84899" y="1911105"/>
            <a:ext cx="11804557" cy="8012343"/>
          </a:xfrm>
          <a:custGeom>
            <a:avLst/>
            <a:gdLst/>
            <a:ahLst/>
            <a:cxnLst/>
            <a:rect r="r" b="b" t="t" l="l"/>
            <a:pathLst>
              <a:path h="8012343" w="11804557">
                <a:moveTo>
                  <a:pt x="0" y="0"/>
                </a:moveTo>
                <a:lnTo>
                  <a:pt x="11804557" y="0"/>
                </a:lnTo>
                <a:lnTo>
                  <a:pt x="11804557" y="8012343"/>
                </a:lnTo>
                <a:lnTo>
                  <a:pt x="0" y="80123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89957" y="-53916"/>
            <a:ext cx="10567195" cy="201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50"/>
              </a:lnSpc>
              <a:spcBef>
                <a:spcPct val="0"/>
              </a:spcBef>
            </a:pPr>
            <a:r>
              <a:rPr lang="en-US" b="true" sz="6500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Arquitectura del Software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48401" y="3238121"/>
            <a:ext cx="1380745" cy="5471993"/>
            <a:chOff x="0" y="0"/>
            <a:chExt cx="363653" cy="144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3653" cy="1441183"/>
            </a:xfrm>
            <a:custGeom>
              <a:avLst/>
              <a:gdLst/>
              <a:ahLst/>
              <a:cxnLst/>
              <a:rect r="r" b="b" t="t" l="l"/>
              <a:pathLst>
                <a:path h="1441183" w="363653">
                  <a:moveTo>
                    <a:pt x="168212" y="0"/>
                  </a:moveTo>
                  <a:lnTo>
                    <a:pt x="195441" y="0"/>
                  </a:lnTo>
                  <a:cubicBezTo>
                    <a:pt x="240054" y="0"/>
                    <a:pt x="282839" y="17722"/>
                    <a:pt x="314385" y="49268"/>
                  </a:cubicBezTo>
                  <a:cubicBezTo>
                    <a:pt x="345931" y="80814"/>
                    <a:pt x="363653" y="123599"/>
                    <a:pt x="363653" y="168212"/>
                  </a:cubicBezTo>
                  <a:lnTo>
                    <a:pt x="363653" y="1272972"/>
                  </a:lnTo>
                  <a:cubicBezTo>
                    <a:pt x="363653" y="1317584"/>
                    <a:pt x="345931" y="1360369"/>
                    <a:pt x="314385" y="1391915"/>
                  </a:cubicBezTo>
                  <a:cubicBezTo>
                    <a:pt x="282839" y="1423461"/>
                    <a:pt x="240054" y="1441183"/>
                    <a:pt x="195441" y="1441183"/>
                  </a:cubicBezTo>
                  <a:lnTo>
                    <a:pt x="168212" y="1441183"/>
                  </a:lnTo>
                  <a:cubicBezTo>
                    <a:pt x="123599" y="1441183"/>
                    <a:pt x="80814" y="1423461"/>
                    <a:pt x="49268" y="1391915"/>
                  </a:cubicBezTo>
                  <a:cubicBezTo>
                    <a:pt x="17722" y="1360369"/>
                    <a:pt x="0" y="1317584"/>
                    <a:pt x="0" y="1272972"/>
                  </a:cubicBezTo>
                  <a:lnTo>
                    <a:pt x="0" y="168212"/>
                  </a:lnTo>
                  <a:cubicBezTo>
                    <a:pt x="0" y="123599"/>
                    <a:pt x="17722" y="80814"/>
                    <a:pt x="49268" y="49268"/>
                  </a:cubicBezTo>
                  <a:cubicBezTo>
                    <a:pt x="80814" y="17722"/>
                    <a:pt x="123599" y="0"/>
                    <a:pt x="168212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63653" cy="1498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825997">
            <a:off x="41005" y="1315098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042705">
            <a:off x="15159228" y="937500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29064">
            <a:off x="6104163" y="8161668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76524">
            <a:off x="15110487" y="-392409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33798">
            <a:off x="13381662" y="7154827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53614">
            <a:off x="10251485" y="9894124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18462" y="497631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401979" y="1236176"/>
            <a:ext cx="10757822" cy="8333899"/>
          </a:xfrm>
          <a:custGeom>
            <a:avLst/>
            <a:gdLst/>
            <a:ahLst/>
            <a:cxnLst/>
            <a:rect r="r" b="b" t="t" l="l"/>
            <a:pathLst>
              <a:path h="8333899" w="10757822">
                <a:moveTo>
                  <a:pt x="0" y="0"/>
                </a:moveTo>
                <a:lnTo>
                  <a:pt x="10757822" y="0"/>
                </a:lnTo>
                <a:lnTo>
                  <a:pt x="10757822" y="8333900"/>
                </a:lnTo>
                <a:lnTo>
                  <a:pt x="0" y="83339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8" t="0" r="-918" b="-140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74785" y="285290"/>
            <a:ext cx="10567195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40"/>
              </a:lnSpc>
              <a:spcBef>
                <a:spcPct val="0"/>
              </a:spcBef>
            </a:pPr>
            <a:r>
              <a:rPr lang="en-US" b="true" sz="5400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Arquitectura de la Solucion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48401" y="3238121"/>
            <a:ext cx="1380745" cy="5471993"/>
            <a:chOff x="0" y="0"/>
            <a:chExt cx="363653" cy="144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3653" cy="1441183"/>
            </a:xfrm>
            <a:custGeom>
              <a:avLst/>
              <a:gdLst/>
              <a:ahLst/>
              <a:cxnLst/>
              <a:rect r="r" b="b" t="t" l="l"/>
              <a:pathLst>
                <a:path h="1441183" w="363653">
                  <a:moveTo>
                    <a:pt x="168212" y="0"/>
                  </a:moveTo>
                  <a:lnTo>
                    <a:pt x="195441" y="0"/>
                  </a:lnTo>
                  <a:cubicBezTo>
                    <a:pt x="240054" y="0"/>
                    <a:pt x="282839" y="17722"/>
                    <a:pt x="314385" y="49268"/>
                  </a:cubicBezTo>
                  <a:cubicBezTo>
                    <a:pt x="345931" y="80814"/>
                    <a:pt x="363653" y="123599"/>
                    <a:pt x="363653" y="168212"/>
                  </a:cubicBezTo>
                  <a:lnTo>
                    <a:pt x="363653" y="1272972"/>
                  </a:lnTo>
                  <a:cubicBezTo>
                    <a:pt x="363653" y="1317584"/>
                    <a:pt x="345931" y="1360369"/>
                    <a:pt x="314385" y="1391915"/>
                  </a:cubicBezTo>
                  <a:cubicBezTo>
                    <a:pt x="282839" y="1423461"/>
                    <a:pt x="240054" y="1441183"/>
                    <a:pt x="195441" y="1441183"/>
                  </a:cubicBezTo>
                  <a:lnTo>
                    <a:pt x="168212" y="1441183"/>
                  </a:lnTo>
                  <a:cubicBezTo>
                    <a:pt x="123599" y="1441183"/>
                    <a:pt x="80814" y="1423461"/>
                    <a:pt x="49268" y="1391915"/>
                  </a:cubicBezTo>
                  <a:cubicBezTo>
                    <a:pt x="17722" y="1360369"/>
                    <a:pt x="0" y="1317584"/>
                    <a:pt x="0" y="1272972"/>
                  </a:cubicBezTo>
                  <a:lnTo>
                    <a:pt x="0" y="168212"/>
                  </a:lnTo>
                  <a:cubicBezTo>
                    <a:pt x="0" y="123599"/>
                    <a:pt x="17722" y="80814"/>
                    <a:pt x="49268" y="49268"/>
                  </a:cubicBezTo>
                  <a:cubicBezTo>
                    <a:pt x="80814" y="17722"/>
                    <a:pt x="123599" y="0"/>
                    <a:pt x="168212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63653" cy="1498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825997">
            <a:off x="41005" y="218459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042705">
            <a:off x="15159228" y="937500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29064">
            <a:off x="6104163" y="8161668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76524">
            <a:off x="15110487" y="-392409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33798">
            <a:off x="13381662" y="7154827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53614">
            <a:off x="10251485" y="9894124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0976" y="1336215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304807" y="2274253"/>
            <a:ext cx="9607234" cy="7475541"/>
          </a:xfrm>
          <a:custGeom>
            <a:avLst/>
            <a:gdLst/>
            <a:ahLst/>
            <a:cxnLst/>
            <a:rect r="r" b="b" t="t" l="l"/>
            <a:pathLst>
              <a:path h="7475541" w="9607234">
                <a:moveTo>
                  <a:pt x="0" y="0"/>
                </a:moveTo>
                <a:lnTo>
                  <a:pt x="9607234" y="0"/>
                </a:lnTo>
                <a:lnTo>
                  <a:pt x="9607234" y="7475541"/>
                </a:lnTo>
                <a:lnTo>
                  <a:pt x="0" y="74755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622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65821" y="1073158"/>
            <a:ext cx="10752776" cy="297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5"/>
              </a:lnSpc>
            </a:pPr>
            <a:r>
              <a:rPr lang="en-US" sz="6614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de Datos</a:t>
            </a:r>
          </a:p>
          <a:p>
            <a:pPr algn="l">
              <a:lnSpc>
                <a:spcPts val="7275"/>
              </a:lnSpc>
            </a:pPr>
          </a:p>
          <a:p>
            <a:pPr algn="l" marL="0" indent="0" lvl="0">
              <a:lnSpc>
                <a:spcPts val="7275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48401" y="3238121"/>
            <a:ext cx="1380745" cy="5471993"/>
            <a:chOff x="0" y="0"/>
            <a:chExt cx="363653" cy="1441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3653" cy="1441183"/>
            </a:xfrm>
            <a:custGeom>
              <a:avLst/>
              <a:gdLst/>
              <a:ahLst/>
              <a:cxnLst/>
              <a:rect r="r" b="b" t="t" l="l"/>
              <a:pathLst>
                <a:path h="1441183" w="363653">
                  <a:moveTo>
                    <a:pt x="168212" y="0"/>
                  </a:moveTo>
                  <a:lnTo>
                    <a:pt x="195441" y="0"/>
                  </a:lnTo>
                  <a:cubicBezTo>
                    <a:pt x="240054" y="0"/>
                    <a:pt x="282839" y="17722"/>
                    <a:pt x="314385" y="49268"/>
                  </a:cubicBezTo>
                  <a:cubicBezTo>
                    <a:pt x="345931" y="80814"/>
                    <a:pt x="363653" y="123599"/>
                    <a:pt x="363653" y="168212"/>
                  </a:cubicBezTo>
                  <a:lnTo>
                    <a:pt x="363653" y="1272972"/>
                  </a:lnTo>
                  <a:cubicBezTo>
                    <a:pt x="363653" y="1317584"/>
                    <a:pt x="345931" y="1360369"/>
                    <a:pt x="314385" y="1391915"/>
                  </a:cubicBezTo>
                  <a:cubicBezTo>
                    <a:pt x="282839" y="1423461"/>
                    <a:pt x="240054" y="1441183"/>
                    <a:pt x="195441" y="1441183"/>
                  </a:cubicBezTo>
                  <a:lnTo>
                    <a:pt x="168212" y="1441183"/>
                  </a:lnTo>
                  <a:cubicBezTo>
                    <a:pt x="123599" y="1441183"/>
                    <a:pt x="80814" y="1423461"/>
                    <a:pt x="49268" y="1391915"/>
                  </a:cubicBezTo>
                  <a:cubicBezTo>
                    <a:pt x="17722" y="1360369"/>
                    <a:pt x="0" y="1317584"/>
                    <a:pt x="0" y="1272972"/>
                  </a:cubicBezTo>
                  <a:lnTo>
                    <a:pt x="0" y="168212"/>
                  </a:lnTo>
                  <a:cubicBezTo>
                    <a:pt x="0" y="123599"/>
                    <a:pt x="17722" y="80814"/>
                    <a:pt x="49268" y="49268"/>
                  </a:cubicBezTo>
                  <a:cubicBezTo>
                    <a:pt x="80814" y="17722"/>
                    <a:pt x="123599" y="0"/>
                    <a:pt x="168212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63653" cy="1498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825997">
            <a:off x="41005" y="218459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042705">
            <a:off x="15159228" y="937500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29064">
            <a:off x="157640" y="9105418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6" y="0"/>
                </a:lnTo>
                <a:lnTo>
                  <a:pt x="1429176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76524">
            <a:off x="15110487" y="-392409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33798">
            <a:off x="13381662" y="7154827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653614">
            <a:off x="10251485" y="9894124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20976" y="1336215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748099" y="3478947"/>
            <a:ext cx="4621399" cy="5231167"/>
          </a:xfrm>
          <a:custGeom>
            <a:avLst/>
            <a:gdLst/>
            <a:ahLst/>
            <a:cxnLst/>
            <a:rect r="r" b="b" t="t" l="l"/>
            <a:pathLst>
              <a:path h="5231167" w="4621399">
                <a:moveTo>
                  <a:pt x="0" y="0"/>
                </a:moveTo>
                <a:lnTo>
                  <a:pt x="4621399" y="0"/>
                </a:lnTo>
                <a:lnTo>
                  <a:pt x="4621399" y="5231167"/>
                </a:lnTo>
                <a:lnTo>
                  <a:pt x="0" y="5231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517121" y="2115317"/>
            <a:ext cx="3054046" cy="7958427"/>
          </a:xfrm>
          <a:custGeom>
            <a:avLst/>
            <a:gdLst/>
            <a:ahLst/>
            <a:cxnLst/>
            <a:rect r="r" b="b" t="t" l="l"/>
            <a:pathLst>
              <a:path h="7958427" w="3054046">
                <a:moveTo>
                  <a:pt x="0" y="0"/>
                </a:moveTo>
                <a:lnTo>
                  <a:pt x="3054046" y="0"/>
                </a:lnTo>
                <a:lnTo>
                  <a:pt x="3054046" y="7958427"/>
                </a:lnTo>
                <a:lnTo>
                  <a:pt x="0" y="79584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481179" y="3525219"/>
            <a:ext cx="3901839" cy="5328318"/>
          </a:xfrm>
          <a:custGeom>
            <a:avLst/>
            <a:gdLst/>
            <a:ahLst/>
            <a:cxnLst/>
            <a:rect r="r" b="b" t="t" l="l"/>
            <a:pathLst>
              <a:path h="5328318" w="3901839">
                <a:moveTo>
                  <a:pt x="0" y="0"/>
                </a:moveTo>
                <a:lnTo>
                  <a:pt x="3901840" y="0"/>
                </a:lnTo>
                <a:lnTo>
                  <a:pt x="3901840" y="5328318"/>
                </a:lnTo>
                <a:lnTo>
                  <a:pt x="0" y="53283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71935" y="2620132"/>
            <a:ext cx="2987770" cy="6356958"/>
          </a:xfrm>
          <a:custGeom>
            <a:avLst/>
            <a:gdLst/>
            <a:ahLst/>
            <a:cxnLst/>
            <a:rect r="r" b="b" t="t" l="l"/>
            <a:pathLst>
              <a:path h="6356958" w="2987770">
                <a:moveTo>
                  <a:pt x="0" y="0"/>
                </a:moveTo>
                <a:lnTo>
                  <a:pt x="2987771" y="0"/>
                </a:lnTo>
                <a:lnTo>
                  <a:pt x="2987771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65821" y="1073158"/>
            <a:ext cx="10752776" cy="297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5"/>
              </a:lnSpc>
            </a:pPr>
            <a:r>
              <a:rPr lang="en-US" sz="6614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Modelo de Datos </a:t>
            </a:r>
          </a:p>
          <a:p>
            <a:pPr algn="l">
              <a:lnSpc>
                <a:spcPts val="7275"/>
              </a:lnSpc>
            </a:pPr>
          </a:p>
          <a:p>
            <a:pPr algn="l" marL="0" indent="0" lvl="0">
              <a:lnSpc>
                <a:spcPts val="7275"/>
              </a:lnSpc>
              <a:spcBef>
                <a:spcPct val="0"/>
              </a:spcBef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5982" y="482057"/>
            <a:ext cx="6720450" cy="3437820"/>
            <a:chOff x="0" y="0"/>
            <a:chExt cx="1769995" cy="905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9995" cy="905434"/>
            </a:xfrm>
            <a:custGeom>
              <a:avLst/>
              <a:gdLst/>
              <a:ahLst/>
              <a:cxnLst/>
              <a:rect r="r" b="b" t="t" l="l"/>
              <a:pathLst>
                <a:path h="905434" w="1769995">
                  <a:moveTo>
                    <a:pt x="34560" y="0"/>
                  </a:moveTo>
                  <a:lnTo>
                    <a:pt x="1735435" y="0"/>
                  </a:lnTo>
                  <a:cubicBezTo>
                    <a:pt x="1754522" y="0"/>
                    <a:pt x="1769995" y="15473"/>
                    <a:pt x="1769995" y="34560"/>
                  </a:cubicBezTo>
                  <a:lnTo>
                    <a:pt x="1769995" y="870874"/>
                  </a:lnTo>
                  <a:cubicBezTo>
                    <a:pt x="1769995" y="880040"/>
                    <a:pt x="1766354" y="888831"/>
                    <a:pt x="1759873" y="895312"/>
                  </a:cubicBezTo>
                  <a:cubicBezTo>
                    <a:pt x="1753391" y="901793"/>
                    <a:pt x="1744601" y="905434"/>
                    <a:pt x="1735435" y="905434"/>
                  </a:cubicBezTo>
                  <a:lnTo>
                    <a:pt x="34560" y="905434"/>
                  </a:lnTo>
                  <a:cubicBezTo>
                    <a:pt x="15473" y="905434"/>
                    <a:pt x="0" y="889961"/>
                    <a:pt x="0" y="870874"/>
                  </a:cubicBezTo>
                  <a:lnTo>
                    <a:pt x="0" y="34560"/>
                  </a:lnTo>
                  <a:cubicBezTo>
                    <a:pt x="0" y="15473"/>
                    <a:pt x="15473" y="0"/>
                    <a:pt x="34560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69995" cy="962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2994" y="1199101"/>
            <a:ext cx="6807293" cy="3944399"/>
            <a:chOff x="0" y="0"/>
            <a:chExt cx="1054628" cy="6110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4628" cy="611091"/>
            </a:xfrm>
            <a:custGeom>
              <a:avLst/>
              <a:gdLst/>
              <a:ahLst/>
              <a:cxnLst/>
              <a:rect r="r" b="b" t="t" l="l"/>
              <a:pathLst>
                <a:path h="611091" w="1054628">
                  <a:moveTo>
                    <a:pt x="71650" y="0"/>
                  </a:moveTo>
                  <a:lnTo>
                    <a:pt x="982978" y="0"/>
                  </a:lnTo>
                  <a:cubicBezTo>
                    <a:pt x="1001981" y="0"/>
                    <a:pt x="1020205" y="7549"/>
                    <a:pt x="1033642" y="20986"/>
                  </a:cubicBezTo>
                  <a:cubicBezTo>
                    <a:pt x="1047079" y="34423"/>
                    <a:pt x="1054628" y="52647"/>
                    <a:pt x="1054628" y="71650"/>
                  </a:cubicBezTo>
                  <a:lnTo>
                    <a:pt x="1054628" y="539441"/>
                  </a:lnTo>
                  <a:cubicBezTo>
                    <a:pt x="1054628" y="558444"/>
                    <a:pt x="1047079" y="576668"/>
                    <a:pt x="1033642" y="590105"/>
                  </a:cubicBezTo>
                  <a:cubicBezTo>
                    <a:pt x="1020205" y="603542"/>
                    <a:pt x="1001981" y="611091"/>
                    <a:pt x="982978" y="611091"/>
                  </a:cubicBezTo>
                  <a:lnTo>
                    <a:pt x="71650" y="611091"/>
                  </a:lnTo>
                  <a:cubicBezTo>
                    <a:pt x="52647" y="611091"/>
                    <a:pt x="34423" y="603542"/>
                    <a:pt x="20986" y="590105"/>
                  </a:cubicBezTo>
                  <a:cubicBezTo>
                    <a:pt x="7549" y="576668"/>
                    <a:pt x="0" y="558444"/>
                    <a:pt x="0" y="539441"/>
                  </a:cubicBezTo>
                  <a:lnTo>
                    <a:pt x="0" y="71650"/>
                  </a:lnTo>
                  <a:cubicBezTo>
                    <a:pt x="0" y="52647"/>
                    <a:pt x="7549" y="34423"/>
                    <a:pt x="20986" y="20986"/>
                  </a:cubicBezTo>
                  <a:cubicBezTo>
                    <a:pt x="34423" y="7549"/>
                    <a:pt x="52647" y="0"/>
                    <a:pt x="7165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9516" r="0" b="-7951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12994" y="5794766"/>
            <a:ext cx="7052705" cy="365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Ele</a:t>
            </a: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mentos Analíticos a Incorporar</a:t>
            </a:r>
          </a:p>
          <a:p>
            <a:pPr algn="l">
              <a:lnSpc>
                <a:spcPts val="68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1521398">
            <a:off x="10729598" y="799232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825997">
            <a:off x="4468" y="7009650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4515">
            <a:off x="17372256" y="819335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420549">
            <a:off x="9261659" y="-181402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619672">
            <a:off x="17426557" y="7987930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289189">
            <a:off x="3919407" y="9549234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35363" y="7861871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656299" y="678356"/>
            <a:ext cx="7603001" cy="782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1. Gasto en Cuidado de Mascotas</a:t>
            </a:r>
          </a:p>
          <a:p>
            <a:pPr algn="just">
              <a:lnSpc>
                <a:spcPts val="2699"/>
              </a:lnSpc>
            </a:pP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Qué:</a:t>
            </a:r>
          </a:p>
          <a:p>
            <a:pPr algn="just">
              <a:lnSpc>
                <a:spcPts val="2699"/>
              </a:lnSpc>
            </a:pP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Comparación del gasto mensual entre 2026-2027 (mes a mes o Q1 vs Q2), segmentado por co</a:t>
            </a:r>
            <a:r>
              <a:rPr lang="en-US" b="true" sz="192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muna, catego</a:t>
            </a: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ría y </a:t>
            </a:r>
            <a:r>
              <a:rPr lang="en-US" b="true" sz="192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número de mascotas.</a:t>
            </a:r>
          </a:p>
          <a:p>
            <a:pPr algn="just">
              <a:lnSpc>
                <a:spcPts val="2699"/>
              </a:lnSpc>
            </a:pPr>
            <a:r>
              <a:rPr lang="en-US" b="true" sz="192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Por</a:t>
            </a: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qué:</a:t>
            </a:r>
          </a:p>
          <a:p>
            <a:pPr algn="just">
              <a:lnSpc>
                <a:spcPts val="2699"/>
              </a:lnSpc>
            </a:pP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Identificar aumentos o caídas de consumo para aj</a:t>
            </a:r>
            <a:r>
              <a:rPr lang="en-US" b="true" sz="192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ustar</a:t>
            </a: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promociones, convenios y est</a:t>
            </a:r>
            <a:r>
              <a:rPr lang="en-US" b="true" sz="192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rategi</a:t>
            </a: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as comerciales.</a:t>
            </a:r>
          </a:p>
          <a:p>
            <a:pPr algn="just">
              <a:lnSpc>
                <a:spcPts val="2699"/>
              </a:lnSpc>
            </a:pP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Cómo:</a:t>
            </a:r>
          </a:p>
          <a:p>
            <a:pPr algn="just" marL="416251" indent="-208126" lvl="1">
              <a:lnSpc>
                <a:spcPts val="2699"/>
              </a:lnSpc>
              <a:buFont typeface="Arial"/>
              <a:buChar char="•"/>
            </a:pPr>
            <a:r>
              <a:rPr lang="en-US" b="true" sz="192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</a:t>
            </a:r>
            <a:r>
              <a:rPr lang="en-US" b="true" sz="192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solidar gasto mensual</a:t>
            </a:r>
          </a:p>
          <a:p>
            <a:pPr algn="just" marL="416251" indent="-208126" lvl="1">
              <a:lnSpc>
                <a:spcPts val="2699"/>
              </a:lnSpc>
              <a:buFont typeface="Arial"/>
              <a:buChar char="•"/>
            </a:pPr>
            <a:r>
              <a:rPr lang="en-US" b="true" sz="192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Segmentar dueños (1 / 2–4 / 5+)</a:t>
            </a:r>
          </a:p>
          <a:p>
            <a:pPr algn="just" marL="416251" indent="-208126" lvl="1">
              <a:lnSpc>
                <a:spcPts val="2699"/>
              </a:lnSpc>
              <a:buFont typeface="Arial"/>
              <a:buChar char="•"/>
            </a:pPr>
            <a:r>
              <a:rPr lang="en-US" b="true" sz="192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Calcular promedios y variaciones</a:t>
            </a:r>
          </a:p>
          <a:p>
            <a:pPr algn="just" marL="416251" indent="-208126" lvl="1">
              <a:lnSpc>
                <a:spcPts val="2699"/>
              </a:lnSpc>
              <a:buFont typeface="Arial"/>
              <a:buChar char="•"/>
            </a:pPr>
            <a:r>
              <a:rPr lang="en-US" b="true" sz="192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Comparar períodos equivalentes</a:t>
            </a:r>
          </a:p>
          <a:p>
            <a:pPr algn="just" marL="416251" indent="-208126" lvl="1">
              <a:lnSpc>
                <a:spcPts val="2699"/>
              </a:lnSpc>
              <a:buFont typeface="Arial"/>
              <a:buChar char="•"/>
            </a:pPr>
            <a:r>
              <a:rPr lang="en-US" b="true" sz="1927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Visualizar en barras y líneas</a:t>
            </a:r>
          </a:p>
          <a:p>
            <a:pPr algn="just">
              <a:lnSpc>
                <a:spcPts val="2699"/>
              </a:lnSpc>
            </a:pP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</a:t>
            </a: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eriodicidad:</a:t>
            </a:r>
          </a:p>
          <a:p>
            <a:pPr algn="just">
              <a:lnSpc>
                <a:spcPts val="2699"/>
              </a:lnSpc>
            </a:pP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Mensual (monitoreo) / Trimestral (decisiones comerciales)</a:t>
            </a:r>
          </a:p>
          <a:p>
            <a:pPr algn="just">
              <a:lnSpc>
                <a:spcPts val="2699"/>
              </a:lnSpc>
            </a:pP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Umbr</a:t>
            </a: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ales:</a:t>
            </a:r>
          </a:p>
          <a:p>
            <a:pPr algn="just">
              <a:lnSpc>
                <a:spcPts val="2699"/>
              </a:lnSpc>
            </a:pP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Caída ≥15% = reforzar campañas; crecimiento ≥20% = oportunidad.</a:t>
            </a:r>
          </a:p>
          <a:p>
            <a:pPr algn="just">
              <a:lnSpc>
                <a:spcPts val="2699"/>
              </a:lnSpc>
            </a:pP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Valor:</a:t>
            </a:r>
          </a:p>
          <a:p>
            <a:pPr algn="just">
              <a:lnSpc>
                <a:spcPts val="2699"/>
              </a:lnSpc>
            </a:pPr>
            <a:r>
              <a:rPr lang="en-US" sz="1927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Optimiza decisiones comerciales basadas en tendencias reales.</a:t>
            </a:r>
          </a:p>
          <a:p>
            <a:pPr algn="just">
              <a:lnSpc>
                <a:spcPts val="2699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5982" y="482057"/>
            <a:ext cx="6720450" cy="3437820"/>
            <a:chOff x="0" y="0"/>
            <a:chExt cx="1769995" cy="905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9995" cy="905434"/>
            </a:xfrm>
            <a:custGeom>
              <a:avLst/>
              <a:gdLst/>
              <a:ahLst/>
              <a:cxnLst/>
              <a:rect r="r" b="b" t="t" l="l"/>
              <a:pathLst>
                <a:path h="905434" w="1769995">
                  <a:moveTo>
                    <a:pt x="34560" y="0"/>
                  </a:moveTo>
                  <a:lnTo>
                    <a:pt x="1735435" y="0"/>
                  </a:lnTo>
                  <a:cubicBezTo>
                    <a:pt x="1754522" y="0"/>
                    <a:pt x="1769995" y="15473"/>
                    <a:pt x="1769995" y="34560"/>
                  </a:cubicBezTo>
                  <a:lnTo>
                    <a:pt x="1769995" y="870874"/>
                  </a:lnTo>
                  <a:cubicBezTo>
                    <a:pt x="1769995" y="880040"/>
                    <a:pt x="1766354" y="888831"/>
                    <a:pt x="1759873" y="895312"/>
                  </a:cubicBezTo>
                  <a:cubicBezTo>
                    <a:pt x="1753391" y="901793"/>
                    <a:pt x="1744601" y="905434"/>
                    <a:pt x="1735435" y="905434"/>
                  </a:cubicBezTo>
                  <a:lnTo>
                    <a:pt x="34560" y="905434"/>
                  </a:lnTo>
                  <a:cubicBezTo>
                    <a:pt x="15473" y="905434"/>
                    <a:pt x="0" y="889961"/>
                    <a:pt x="0" y="870874"/>
                  </a:cubicBezTo>
                  <a:lnTo>
                    <a:pt x="0" y="34560"/>
                  </a:lnTo>
                  <a:cubicBezTo>
                    <a:pt x="0" y="15473"/>
                    <a:pt x="15473" y="0"/>
                    <a:pt x="34560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69995" cy="962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2994" y="1199101"/>
            <a:ext cx="6807293" cy="3944399"/>
            <a:chOff x="0" y="0"/>
            <a:chExt cx="1054628" cy="6110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4628" cy="611091"/>
            </a:xfrm>
            <a:custGeom>
              <a:avLst/>
              <a:gdLst/>
              <a:ahLst/>
              <a:cxnLst/>
              <a:rect r="r" b="b" t="t" l="l"/>
              <a:pathLst>
                <a:path h="611091" w="1054628">
                  <a:moveTo>
                    <a:pt x="71650" y="0"/>
                  </a:moveTo>
                  <a:lnTo>
                    <a:pt x="982978" y="0"/>
                  </a:lnTo>
                  <a:cubicBezTo>
                    <a:pt x="1001981" y="0"/>
                    <a:pt x="1020205" y="7549"/>
                    <a:pt x="1033642" y="20986"/>
                  </a:cubicBezTo>
                  <a:cubicBezTo>
                    <a:pt x="1047079" y="34423"/>
                    <a:pt x="1054628" y="52647"/>
                    <a:pt x="1054628" y="71650"/>
                  </a:cubicBezTo>
                  <a:lnTo>
                    <a:pt x="1054628" y="539441"/>
                  </a:lnTo>
                  <a:cubicBezTo>
                    <a:pt x="1054628" y="558444"/>
                    <a:pt x="1047079" y="576668"/>
                    <a:pt x="1033642" y="590105"/>
                  </a:cubicBezTo>
                  <a:cubicBezTo>
                    <a:pt x="1020205" y="603542"/>
                    <a:pt x="1001981" y="611091"/>
                    <a:pt x="982978" y="611091"/>
                  </a:cubicBezTo>
                  <a:lnTo>
                    <a:pt x="71650" y="611091"/>
                  </a:lnTo>
                  <a:cubicBezTo>
                    <a:pt x="52647" y="611091"/>
                    <a:pt x="34423" y="603542"/>
                    <a:pt x="20986" y="590105"/>
                  </a:cubicBezTo>
                  <a:cubicBezTo>
                    <a:pt x="7549" y="576668"/>
                    <a:pt x="0" y="558444"/>
                    <a:pt x="0" y="539441"/>
                  </a:cubicBezTo>
                  <a:lnTo>
                    <a:pt x="0" y="71650"/>
                  </a:lnTo>
                  <a:cubicBezTo>
                    <a:pt x="0" y="52647"/>
                    <a:pt x="7549" y="34423"/>
                    <a:pt x="20986" y="20986"/>
                  </a:cubicBezTo>
                  <a:cubicBezTo>
                    <a:pt x="34423" y="7549"/>
                    <a:pt x="52647" y="0"/>
                    <a:pt x="7165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9516" r="0" b="-7951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12994" y="5794766"/>
            <a:ext cx="7052705" cy="365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Ele</a:t>
            </a: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mentos Analíticos a Incorporar</a:t>
            </a:r>
          </a:p>
          <a:p>
            <a:pPr algn="l">
              <a:lnSpc>
                <a:spcPts val="68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1521398">
            <a:off x="457726" y="893692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825997">
            <a:off x="4468" y="7009650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4515">
            <a:off x="142347" y="55254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420549">
            <a:off x="5923835" y="141382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9" y="0"/>
                </a:lnTo>
                <a:lnTo>
                  <a:pt x="1615589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2619672">
            <a:off x="17426557" y="7987930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289189">
            <a:off x="3919407" y="9549234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635363" y="7861871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665699" y="1809418"/>
            <a:ext cx="9066667" cy="6640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2. Cobertura de Vacunación 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Qué: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Comparación de cobertura de vacunación entre períodos del 2026-2027 (Q1 vs Q2; S1 vs S2), por comuna y especie.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Por qué: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Detectar tendencias (mejora/caída) y ajustar campañas, focalizar recursos y evaluar impacto municipal.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Cómo: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F</a:t>
            </a:r>
            <a:r>
              <a:rPr lang="en-US" b="true" sz="18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iltrar eventos de vacunación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Agrupar por período, comuna y especie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Calcular % cobertura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Comparar períodos equivalentes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Clasificar tendencia (↑ ↓ →)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Visualizar en líneas y mapas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Periodicidad: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Mensual (seguimiento) / Semestral (evaluación estratégica)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Umbr</a:t>
            </a: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ales: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&lt;60% = zona crítica; caída ≥10% = alerta.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Valor:</a:t>
            </a:r>
          </a:p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Permite priorizar campañas y recursos según evolución sanitaria.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5982" y="482057"/>
            <a:ext cx="6720450" cy="3437820"/>
            <a:chOff x="0" y="0"/>
            <a:chExt cx="1769995" cy="9054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9995" cy="905434"/>
            </a:xfrm>
            <a:custGeom>
              <a:avLst/>
              <a:gdLst/>
              <a:ahLst/>
              <a:cxnLst/>
              <a:rect r="r" b="b" t="t" l="l"/>
              <a:pathLst>
                <a:path h="905434" w="1769995">
                  <a:moveTo>
                    <a:pt x="34560" y="0"/>
                  </a:moveTo>
                  <a:lnTo>
                    <a:pt x="1735435" y="0"/>
                  </a:lnTo>
                  <a:cubicBezTo>
                    <a:pt x="1754522" y="0"/>
                    <a:pt x="1769995" y="15473"/>
                    <a:pt x="1769995" y="34560"/>
                  </a:cubicBezTo>
                  <a:lnTo>
                    <a:pt x="1769995" y="870874"/>
                  </a:lnTo>
                  <a:cubicBezTo>
                    <a:pt x="1769995" y="880040"/>
                    <a:pt x="1766354" y="888831"/>
                    <a:pt x="1759873" y="895312"/>
                  </a:cubicBezTo>
                  <a:cubicBezTo>
                    <a:pt x="1753391" y="901793"/>
                    <a:pt x="1744601" y="905434"/>
                    <a:pt x="1735435" y="905434"/>
                  </a:cubicBezTo>
                  <a:lnTo>
                    <a:pt x="34560" y="905434"/>
                  </a:lnTo>
                  <a:cubicBezTo>
                    <a:pt x="15473" y="905434"/>
                    <a:pt x="0" y="889961"/>
                    <a:pt x="0" y="870874"/>
                  </a:cubicBezTo>
                  <a:lnTo>
                    <a:pt x="0" y="34560"/>
                  </a:lnTo>
                  <a:cubicBezTo>
                    <a:pt x="0" y="15473"/>
                    <a:pt x="15473" y="0"/>
                    <a:pt x="34560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769995" cy="9625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12994" y="1199101"/>
            <a:ext cx="6807293" cy="3944399"/>
            <a:chOff x="0" y="0"/>
            <a:chExt cx="1054628" cy="6110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4628" cy="611091"/>
            </a:xfrm>
            <a:custGeom>
              <a:avLst/>
              <a:gdLst/>
              <a:ahLst/>
              <a:cxnLst/>
              <a:rect r="r" b="b" t="t" l="l"/>
              <a:pathLst>
                <a:path h="611091" w="1054628">
                  <a:moveTo>
                    <a:pt x="71650" y="0"/>
                  </a:moveTo>
                  <a:lnTo>
                    <a:pt x="982978" y="0"/>
                  </a:lnTo>
                  <a:cubicBezTo>
                    <a:pt x="1001981" y="0"/>
                    <a:pt x="1020205" y="7549"/>
                    <a:pt x="1033642" y="20986"/>
                  </a:cubicBezTo>
                  <a:cubicBezTo>
                    <a:pt x="1047079" y="34423"/>
                    <a:pt x="1054628" y="52647"/>
                    <a:pt x="1054628" y="71650"/>
                  </a:cubicBezTo>
                  <a:lnTo>
                    <a:pt x="1054628" y="539441"/>
                  </a:lnTo>
                  <a:cubicBezTo>
                    <a:pt x="1054628" y="558444"/>
                    <a:pt x="1047079" y="576668"/>
                    <a:pt x="1033642" y="590105"/>
                  </a:cubicBezTo>
                  <a:cubicBezTo>
                    <a:pt x="1020205" y="603542"/>
                    <a:pt x="1001981" y="611091"/>
                    <a:pt x="982978" y="611091"/>
                  </a:cubicBezTo>
                  <a:lnTo>
                    <a:pt x="71650" y="611091"/>
                  </a:lnTo>
                  <a:cubicBezTo>
                    <a:pt x="52647" y="611091"/>
                    <a:pt x="34423" y="603542"/>
                    <a:pt x="20986" y="590105"/>
                  </a:cubicBezTo>
                  <a:cubicBezTo>
                    <a:pt x="7549" y="576668"/>
                    <a:pt x="0" y="558444"/>
                    <a:pt x="0" y="539441"/>
                  </a:cubicBezTo>
                  <a:lnTo>
                    <a:pt x="0" y="71650"/>
                  </a:lnTo>
                  <a:cubicBezTo>
                    <a:pt x="0" y="52647"/>
                    <a:pt x="7549" y="34423"/>
                    <a:pt x="20986" y="20986"/>
                  </a:cubicBezTo>
                  <a:cubicBezTo>
                    <a:pt x="34423" y="7549"/>
                    <a:pt x="52647" y="0"/>
                    <a:pt x="7165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9516" r="0" b="-7951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612994" y="5794766"/>
            <a:ext cx="7052705" cy="365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Ele</a:t>
            </a: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mentos Analíticos a Incorporar</a:t>
            </a:r>
          </a:p>
          <a:p>
            <a:pPr algn="l">
              <a:lnSpc>
                <a:spcPts val="68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1521398">
            <a:off x="10729598" y="799232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45982" y="9258300"/>
            <a:ext cx="8539470" cy="1790564"/>
            <a:chOff x="0" y="0"/>
            <a:chExt cx="2249079" cy="4715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9079" cy="471589"/>
            </a:xfrm>
            <a:custGeom>
              <a:avLst/>
              <a:gdLst/>
              <a:ahLst/>
              <a:cxnLst/>
              <a:rect r="r" b="b" t="t" l="l"/>
              <a:pathLst>
                <a:path h="471589" w="2249079">
                  <a:moveTo>
                    <a:pt x="27198" y="0"/>
                  </a:moveTo>
                  <a:lnTo>
                    <a:pt x="2221880" y="0"/>
                  </a:lnTo>
                  <a:cubicBezTo>
                    <a:pt x="2229094" y="0"/>
                    <a:pt x="2236012" y="2866"/>
                    <a:pt x="2241112" y="7966"/>
                  </a:cubicBezTo>
                  <a:cubicBezTo>
                    <a:pt x="2246213" y="13067"/>
                    <a:pt x="2249079" y="19985"/>
                    <a:pt x="2249079" y="27198"/>
                  </a:cubicBezTo>
                  <a:lnTo>
                    <a:pt x="2249079" y="444391"/>
                  </a:lnTo>
                  <a:cubicBezTo>
                    <a:pt x="2249079" y="459412"/>
                    <a:pt x="2236902" y="471589"/>
                    <a:pt x="2221880" y="471589"/>
                  </a:cubicBezTo>
                  <a:lnTo>
                    <a:pt x="27198" y="471589"/>
                  </a:lnTo>
                  <a:cubicBezTo>
                    <a:pt x="12177" y="471589"/>
                    <a:pt x="0" y="459412"/>
                    <a:pt x="0" y="444391"/>
                  </a:cubicBezTo>
                  <a:lnTo>
                    <a:pt x="0" y="27198"/>
                  </a:lnTo>
                  <a:cubicBezTo>
                    <a:pt x="0" y="12177"/>
                    <a:pt x="12177" y="0"/>
                    <a:pt x="27198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249079" cy="528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825997">
            <a:off x="4468" y="7009650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74515">
            <a:off x="17372256" y="819335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420549">
            <a:off x="9261659" y="-181402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619672">
            <a:off x="17426557" y="7987930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289189">
            <a:off x="3919407" y="9549234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635363" y="7861871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444042" y="1414780"/>
            <a:ext cx="8186784" cy="737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3. Adherencia a Rutinas de Cuidado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Qué: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Comparación del cumplimiento de rutinas (alimentación, paseos, controles, medicación) entre períodos de 2026 - 2027 (meses o semestres), por comuna, especie y tipo.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Por qué: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Evaluar mejora o deterioro de hábitos para optimizar recordatorios, gamificación y campañas educativas.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Cómo: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</a:t>
            </a:r>
            <a:r>
              <a:rPr lang="en-US" b="true" sz="18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alcular % cumplimiento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Segmentar por rutina, especie y comuna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Medir</a:t>
            </a:r>
            <a:r>
              <a:rPr lang="en-US" b="true" sz="18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retrasos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Comparar períodos equivalentes</a:t>
            </a:r>
          </a:p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b="true" sz="18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Visualizar tendencias y rankings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</a:t>
            </a: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eriodicidad: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Mensual (seguimiento) / Semestral (evaluación funcional)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Umbr</a:t>
            </a: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ales: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&lt;50% = baja adherencia; caída ≥10% = reforzar engagement.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Valor:</a:t>
            </a:r>
          </a:p>
          <a:p>
            <a:pPr algn="l">
              <a:lnSpc>
                <a:spcPts val="2659"/>
              </a:lnSpc>
            </a:pPr>
            <a:r>
              <a:rPr lang="en-US" sz="18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Permite mejorar funcionalidades de engagement y promover bienestar animal basado en el comportamiento.</a:t>
            </a:r>
          </a:p>
          <a:p>
            <a:pPr algn="l">
              <a:lnSpc>
                <a:spcPts val="2659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13758">
            <a:off x="587717" y="94712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20549">
            <a:off x="8037779" y="-462317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4"/>
                </a:lnTo>
                <a:lnTo>
                  <a:pt x="0" y="924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606717">
            <a:off x="15864597" y="1419600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998823">
            <a:off x="13768978" y="8622192"/>
            <a:ext cx="2509269" cy="1925864"/>
          </a:xfrm>
          <a:custGeom>
            <a:avLst/>
            <a:gdLst/>
            <a:ahLst/>
            <a:cxnLst/>
            <a:rect r="r" b="b" t="t" l="l"/>
            <a:pathLst>
              <a:path h="1925864" w="2509269">
                <a:moveTo>
                  <a:pt x="0" y="0"/>
                </a:moveTo>
                <a:lnTo>
                  <a:pt x="2509269" y="0"/>
                </a:lnTo>
                <a:lnTo>
                  <a:pt x="2509269" y="1925864"/>
                </a:lnTo>
                <a:lnTo>
                  <a:pt x="0" y="1925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024627">
            <a:off x="-554037" y="8256975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87550" y="2473092"/>
            <a:ext cx="3077118" cy="2670408"/>
            <a:chOff x="0" y="0"/>
            <a:chExt cx="4102823" cy="356054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39820"/>
              <a:ext cx="1797761" cy="2535304"/>
            </a:xfrm>
            <a:custGeom>
              <a:avLst/>
              <a:gdLst/>
              <a:ahLst/>
              <a:cxnLst/>
              <a:rect r="r" b="b" t="t" l="l"/>
              <a:pathLst>
                <a:path h="2535304" w="1797761">
                  <a:moveTo>
                    <a:pt x="0" y="0"/>
                  </a:moveTo>
                  <a:lnTo>
                    <a:pt x="1797761" y="0"/>
                  </a:lnTo>
                  <a:lnTo>
                    <a:pt x="1797761" y="2535303"/>
                  </a:lnTo>
                  <a:lnTo>
                    <a:pt x="0" y="2535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241599" y="0"/>
              <a:ext cx="1861224" cy="2614943"/>
            </a:xfrm>
            <a:custGeom>
              <a:avLst/>
              <a:gdLst/>
              <a:ahLst/>
              <a:cxnLst/>
              <a:rect r="r" b="b" t="t" l="l"/>
              <a:pathLst>
                <a:path h="2614943" w="1861224">
                  <a:moveTo>
                    <a:pt x="0" y="0"/>
                  </a:moveTo>
                  <a:lnTo>
                    <a:pt x="1861224" y="0"/>
                  </a:lnTo>
                  <a:lnTo>
                    <a:pt x="1861224" y="2614943"/>
                  </a:lnTo>
                  <a:lnTo>
                    <a:pt x="0" y="2614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7879" t="-5838" r="-27939" b="-5067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10514" y="945601"/>
              <a:ext cx="1852145" cy="2614943"/>
            </a:xfrm>
            <a:custGeom>
              <a:avLst/>
              <a:gdLst/>
              <a:ahLst/>
              <a:cxnLst/>
              <a:rect r="r" b="b" t="t" l="l"/>
              <a:pathLst>
                <a:path h="2614943" w="1852145">
                  <a:moveTo>
                    <a:pt x="0" y="0"/>
                  </a:moveTo>
                  <a:lnTo>
                    <a:pt x="1852145" y="0"/>
                  </a:lnTo>
                  <a:lnTo>
                    <a:pt x="1852145" y="2614943"/>
                  </a:lnTo>
                  <a:lnTo>
                    <a:pt x="0" y="2614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5697513" y="2473092"/>
            <a:ext cx="2859875" cy="2670408"/>
          </a:xfrm>
          <a:custGeom>
            <a:avLst/>
            <a:gdLst/>
            <a:ahLst/>
            <a:cxnLst/>
            <a:rect r="r" b="b" t="t" l="l"/>
            <a:pathLst>
              <a:path h="2670408" w="2859875">
                <a:moveTo>
                  <a:pt x="0" y="0"/>
                </a:moveTo>
                <a:lnTo>
                  <a:pt x="2859875" y="0"/>
                </a:lnTo>
                <a:lnTo>
                  <a:pt x="2859875" y="2670408"/>
                </a:lnTo>
                <a:lnTo>
                  <a:pt x="0" y="26704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069434" y="2509275"/>
            <a:ext cx="3003263" cy="2515233"/>
          </a:xfrm>
          <a:custGeom>
            <a:avLst/>
            <a:gdLst/>
            <a:ahLst/>
            <a:cxnLst/>
            <a:rect r="r" b="b" t="t" l="l"/>
            <a:pathLst>
              <a:path h="2515233" w="3003263">
                <a:moveTo>
                  <a:pt x="0" y="0"/>
                </a:moveTo>
                <a:lnTo>
                  <a:pt x="3003263" y="0"/>
                </a:lnTo>
                <a:lnTo>
                  <a:pt x="3003263" y="2515233"/>
                </a:lnTo>
                <a:lnTo>
                  <a:pt x="0" y="25152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434413" y="2653355"/>
            <a:ext cx="2684242" cy="2550030"/>
          </a:xfrm>
          <a:custGeom>
            <a:avLst/>
            <a:gdLst/>
            <a:ahLst/>
            <a:cxnLst/>
            <a:rect r="r" b="b" t="t" l="l"/>
            <a:pathLst>
              <a:path h="2550030" w="2684242">
                <a:moveTo>
                  <a:pt x="0" y="0"/>
                </a:moveTo>
                <a:lnTo>
                  <a:pt x="2684242" y="0"/>
                </a:lnTo>
                <a:lnTo>
                  <a:pt x="2684242" y="2550029"/>
                </a:lnTo>
                <a:lnTo>
                  <a:pt x="0" y="25500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379422" y="667528"/>
            <a:ext cx="9213532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Tecnologías utilizadas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2291" y="5543550"/>
            <a:ext cx="4286250" cy="4301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10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HTML: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Provee la estructura mínima necesaria para que el navegador cargue los archivos de React, usando el contenedor de “</a:t>
            </a: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index.html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”, donde también se encuentran los metadatos de la aplicación.</a:t>
            </a:r>
          </a:p>
          <a:p>
            <a:pPr algn="just">
              <a:lnSpc>
                <a:spcPts val="2100"/>
              </a:lnSpc>
            </a:pPr>
          </a:p>
          <a:p>
            <a:pPr algn="just" marL="453390" indent="-226695" lvl="1">
              <a:lnSpc>
                <a:spcPts val="210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CSS: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Define la presentación y el diseño visual de la interfaz.</a:t>
            </a:r>
          </a:p>
          <a:p>
            <a:pPr algn="just">
              <a:lnSpc>
                <a:spcPts val="2100"/>
              </a:lnSpc>
            </a:pPr>
          </a:p>
          <a:p>
            <a:pPr algn="just" marL="453390" indent="-226695" lvl="1">
              <a:lnSpc>
                <a:spcPts val="210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JS: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Gestiona la funcionalidad dinámica y la lógica de la aplicación.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96827" y="5543550"/>
            <a:ext cx="3861247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React: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Librería de </a:t>
            </a:r>
            <a:r>
              <a:rPr lang="en-US" sz="21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JS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que permite la construcción de interfaces de usuario complejas y dinámicas.</a:t>
            </a:r>
          </a:p>
          <a:p>
            <a:pPr algn="just">
              <a:lnSpc>
                <a:spcPts val="210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676385" y="5543550"/>
            <a:ext cx="3789361" cy="1367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SQL: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Lenguaje estandarizado para definir, consultar y manipular bases de datos relacionales.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63736" y="5543550"/>
            <a:ext cx="3916569" cy="190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Control de versiones: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Permite gestionar el historial y las versiones de un proyecto en colaboración. Además, permite registrar y coordinar cambios en el código fuente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13758">
            <a:off x="587717" y="94712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20549">
            <a:off x="8037779" y="-462317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4"/>
                </a:lnTo>
                <a:lnTo>
                  <a:pt x="0" y="924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606717">
            <a:off x="15864597" y="1419600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024627">
            <a:off x="-554037" y="8256975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66441" y="667528"/>
            <a:ext cx="10239495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Herramientas utilizadas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062270" y="2390502"/>
            <a:ext cx="2560254" cy="2670408"/>
          </a:xfrm>
          <a:custGeom>
            <a:avLst/>
            <a:gdLst/>
            <a:ahLst/>
            <a:cxnLst/>
            <a:rect r="r" b="b" t="t" l="l"/>
            <a:pathLst>
              <a:path h="2670408" w="2560254">
                <a:moveTo>
                  <a:pt x="0" y="0"/>
                </a:moveTo>
                <a:lnTo>
                  <a:pt x="2560254" y="0"/>
                </a:lnTo>
                <a:lnTo>
                  <a:pt x="2560254" y="2670409"/>
                </a:lnTo>
                <a:lnTo>
                  <a:pt x="0" y="26704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56074" y="2386353"/>
            <a:ext cx="2674558" cy="2674558"/>
          </a:xfrm>
          <a:custGeom>
            <a:avLst/>
            <a:gdLst/>
            <a:ahLst/>
            <a:cxnLst/>
            <a:rect r="r" b="b" t="t" l="l"/>
            <a:pathLst>
              <a:path h="2674558" w="2674558">
                <a:moveTo>
                  <a:pt x="0" y="0"/>
                </a:moveTo>
                <a:lnTo>
                  <a:pt x="2674557" y="0"/>
                </a:lnTo>
                <a:lnTo>
                  <a:pt x="2674557" y="2674558"/>
                </a:lnTo>
                <a:lnTo>
                  <a:pt x="0" y="26745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47716" y="5460961"/>
            <a:ext cx="3789361" cy="216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PostgreSQL: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Sistema de gestión de bases de datos relacionales que permite almacenar datos de forma segura, gestionar relaciones complejas entre ellos y garantizar la integridad de la información.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35068" y="5460961"/>
            <a:ext cx="3916569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Git: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Sistema de control de versiones distribuido que permite rastrear y gestionar los cambios en archivos a lo largo del tiempo, volver a versiones anteriores, trabajar en paralelo sin interferencias y fusionar el trabajo de varios colaboradores.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991583" y="2386353"/>
            <a:ext cx="2684103" cy="2670408"/>
          </a:xfrm>
          <a:custGeom>
            <a:avLst/>
            <a:gdLst/>
            <a:ahLst/>
            <a:cxnLst/>
            <a:rect r="r" b="b" t="t" l="l"/>
            <a:pathLst>
              <a:path h="2670408" w="2684103">
                <a:moveTo>
                  <a:pt x="0" y="0"/>
                </a:moveTo>
                <a:lnTo>
                  <a:pt x="2684103" y="0"/>
                </a:lnTo>
                <a:lnTo>
                  <a:pt x="2684103" y="2670408"/>
                </a:lnTo>
                <a:lnTo>
                  <a:pt x="0" y="26704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7003" t="-17644" r="-16383" b="-16426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18382" y="2386353"/>
            <a:ext cx="2670408" cy="2670408"/>
          </a:xfrm>
          <a:custGeom>
            <a:avLst/>
            <a:gdLst/>
            <a:ahLst/>
            <a:cxnLst/>
            <a:rect r="r" b="b" t="t" l="l"/>
            <a:pathLst>
              <a:path h="2670408" w="2670408">
                <a:moveTo>
                  <a:pt x="0" y="0"/>
                </a:moveTo>
                <a:lnTo>
                  <a:pt x="2670408" y="0"/>
                </a:lnTo>
                <a:lnTo>
                  <a:pt x="2670408" y="2670408"/>
                </a:lnTo>
                <a:lnTo>
                  <a:pt x="0" y="26704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826985" y="5456811"/>
            <a:ext cx="3013298" cy="216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Github: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Plataforma en línea basada en Git que permite alojar repositorios, colaborar en proyectos, gestionar versiones y revisar código en equipo.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46937" y="5460961"/>
            <a:ext cx="3013298" cy="296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Supabase: 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Plataforma Backend as a Service (BaaS) que ofrece base de datos PostgreSQL, autenticación, almacenamiento y API automáticas. Facilita el desarrollo rápido de aplicaciones.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813758">
            <a:off x="587717" y="947122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20549">
            <a:off x="8037779" y="-462317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4"/>
                </a:lnTo>
                <a:lnTo>
                  <a:pt x="0" y="9246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606717">
            <a:off x="15864597" y="1419600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998823">
            <a:off x="13768978" y="8622192"/>
            <a:ext cx="2509269" cy="1925864"/>
          </a:xfrm>
          <a:custGeom>
            <a:avLst/>
            <a:gdLst/>
            <a:ahLst/>
            <a:cxnLst/>
            <a:rect r="r" b="b" t="t" l="l"/>
            <a:pathLst>
              <a:path h="1925864" w="2509269">
                <a:moveTo>
                  <a:pt x="0" y="0"/>
                </a:moveTo>
                <a:lnTo>
                  <a:pt x="2509269" y="0"/>
                </a:lnTo>
                <a:lnTo>
                  <a:pt x="2509269" y="1925864"/>
                </a:lnTo>
                <a:lnTo>
                  <a:pt x="0" y="1925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024627">
            <a:off x="-554037" y="8256975"/>
            <a:ext cx="1472695" cy="842854"/>
          </a:xfrm>
          <a:custGeom>
            <a:avLst/>
            <a:gdLst/>
            <a:ahLst/>
            <a:cxnLst/>
            <a:rect r="r" b="b" t="t" l="l"/>
            <a:pathLst>
              <a:path h="842854" w="1472695">
                <a:moveTo>
                  <a:pt x="0" y="0"/>
                </a:moveTo>
                <a:lnTo>
                  <a:pt x="1472695" y="0"/>
                </a:lnTo>
                <a:lnTo>
                  <a:pt x="1472695" y="842854"/>
                </a:lnTo>
                <a:lnTo>
                  <a:pt x="0" y="842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2848" y="2653355"/>
            <a:ext cx="2857500" cy="2857500"/>
          </a:xfrm>
          <a:custGeom>
            <a:avLst/>
            <a:gdLst/>
            <a:ahLst/>
            <a:cxnLst/>
            <a:rect r="r" b="b" t="t" l="l"/>
            <a:pathLst>
              <a:path h="2857500" w="285750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02898" y="2653355"/>
            <a:ext cx="2857500" cy="2857500"/>
          </a:xfrm>
          <a:custGeom>
            <a:avLst/>
            <a:gdLst/>
            <a:ahLst/>
            <a:cxnLst/>
            <a:rect r="r" b="b" t="t" l="l"/>
            <a:pathLst>
              <a:path h="2857500" w="285750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63606" y="2649105"/>
            <a:ext cx="2861750" cy="2861750"/>
          </a:xfrm>
          <a:custGeom>
            <a:avLst/>
            <a:gdLst/>
            <a:ahLst/>
            <a:cxnLst/>
            <a:rect r="r" b="b" t="t" l="l"/>
            <a:pathLst>
              <a:path h="2861750" w="2861750">
                <a:moveTo>
                  <a:pt x="0" y="0"/>
                </a:moveTo>
                <a:lnTo>
                  <a:pt x="2861749" y="0"/>
                </a:lnTo>
                <a:lnTo>
                  <a:pt x="2861749" y="2861750"/>
                </a:lnTo>
                <a:lnTo>
                  <a:pt x="0" y="28617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1195" y="2653355"/>
            <a:ext cx="2903668" cy="2903668"/>
          </a:xfrm>
          <a:custGeom>
            <a:avLst/>
            <a:gdLst/>
            <a:ahLst/>
            <a:cxnLst/>
            <a:rect r="r" b="b" t="t" l="l"/>
            <a:pathLst>
              <a:path h="2903668" w="2903668">
                <a:moveTo>
                  <a:pt x="0" y="0"/>
                </a:moveTo>
                <a:lnTo>
                  <a:pt x="2903668" y="0"/>
                </a:lnTo>
                <a:lnTo>
                  <a:pt x="2903668" y="2903668"/>
                </a:lnTo>
                <a:lnTo>
                  <a:pt x="0" y="290366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66441" y="667528"/>
            <a:ext cx="10239495" cy="1341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Herramientas utilizadas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4196" y="6177605"/>
            <a:ext cx="3574804" cy="24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Discord: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Plataforma de comunicación por voz, texto y video utilizada por comunidades y equipos de desarrollo para coordinar proyectos y compartir información en tiempo real.</a:t>
            </a:r>
          </a:p>
          <a:p>
            <a:pPr algn="just">
              <a:lnSpc>
                <a:spcPts val="21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448609" y="6177605"/>
            <a:ext cx="3166078" cy="216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Visual Studio Code: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Editor de código fuente. Soporta múltiples lenguajes, extensiones y depuración, ideal para desarrollo web y de software.</a:t>
            </a:r>
          </a:p>
          <a:p>
            <a:pPr algn="just">
              <a:lnSpc>
                <a:spcPts val="21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452887" y="6177605"/>
            <a:ext cx="4234459" cy="2701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sz="21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Resend: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Servicio API en la nube diseñado para enviar correos electrónicos transaccionales desde aplicaciones.</a:t>
            </a:r>
          </a:p>
          <a:p>
            <a:pPr algn="just">
              <a:lnSpc>
                <a:spcPts val="2100"/>
              </a:lnSpc>
            </a:pP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Facilita la integración mediante REST API o SDK, asegurando una entrega rápida, segura y confiable de mensajes automatizados.</a:t>
            </a:r>
          </a:p>
          <a:p>
            <a:pPr algn="just">
              <a:lnSpc>
                <a:spcPts val="21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4284480" y="6177605"/>
            <a:ext cx="3574804" cy="190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00"/>
              </a:lnSpc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Vercel:</a:t>
            </a:r>
            <a:r>
              <a:rPr lang="en-US" sz="2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Plataforma en la nube (PaaS) que permite desplegar y alojar aplicaciones web de manera rápida y automática.</a:t>
            </a:r>
          </a:p>
          <a:p>
            <a:pPr algn="just">
              <a:lnSpc>
                <a:spcPts val="2100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95085" y="454025"/>
            <a:ext cx="7307231" cy="7349691"/>
            <a:chOff x="0" y="0"/>
            <a:chExt cx="1924538" cy="19357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24538" cy="1935721"/>
            </a:xfrm>
            <a:custGeom>
              <a:avLst/>
              <a:gdLst/>
              <a:ahLst/>
              <a:cxnLst/>
              <a:rect r="r" b="b" t="t" l="l"/>
              <a:pathLst>
                <a:path h="1935721" w="1924538">
                  <a:moveTo>
                    <a:pt x="31785" y="0"/>
                  </a:moveTo>
                  <a:lnTo>
                    <a:pt x="1892753" y="0"/>
                  </a:lnTo>
                  <a:cubicBezTo>
                    <a:pt x="1910308" y="0"/>
                    <a:pt x="1924538" y="14230"/>
                    <a:pt x="1924538" y="31785"/>
                  </a:cubicBezTo>
                  <a:lnTo>
                    <a:pt x="1924538" y="1903936"/>
                  </a:lnTo>
                  <a:cubicBezTo>
                    <a:pt x="1924538" y="1921491"/>
                    <a:pt x="1910308" y="1935721"/>
                    <a:pt x="1892753" y="1935721"/>
                  </a:cubicBezTo>
                  <a:lnTo>
                    <a:pt x="31785" y="1935721"/>
                  </a:lnTo>
                  <a:cubicBezTo>
                    <a:pt x="14230" y="1935721"/>
                    <a:pt x="0" y="1921491"/>
                    <a:pt x="0" y="1903936"/>
                  </a:cubicBezTo>
                  <a:lnTo>
                    <a:pt x="0" y="31785"/>
                  </a:lnTo>
                  <a:cubicBezTo>
                    <a:pt x="0" y="14230"/>
                    <a:pt x="14230" y="0"/>
                    <a:pt x="31785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24538" cy="199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420549">
            <a:off x="7998660" y="8089183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457379" y="1263557"/>
            <a:ext cx="7041302" cy="7759885"/>
            <a:chOff x="0" y="0"/>
            <a:chExt cx="1069836" cy="11790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4"/>
              <a:stretch>
                <a:fillRect l="-32705" t="0" r="-3270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897540"/>
            <a:ext cx="658037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Resultado Obtenido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825997">
            <a:off x="5687123" y="53176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67058">
            <a:off x="14856387" y="9292365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858074">
            <a:off x="-714588" y="875618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6" y="0"/>
                </a:lnTo>
                <a:lnTo>
                  <a:pt x="1429176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420549">
            <a:off x="-704547" y="2379592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242238" y="1649521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2291" y="3551594"/>
            <a:ext cx="9040753" cy="5925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Fase 1: Definición del Proyecto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esultado principal: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Se completó la definición, planificación y fundamentación del proyecto PetCare, dejando preparado todo lo necesario para iniciar la construcción.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Logros:</a:t>
            </a:r>
          </a:p>
          <a:p>
            <a:pPr algn="just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Identificación de la problemática,</a:t>
            </a:r>
          </a:p>
          <a:p>
            <a:pPr algn="just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descripción de p</a:t>
            </a: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ropuesta de solución: aplicación web PetCare,</a:t>
            </a:r>
          </a:p>
          <a:p>
            <a:pPr algn="just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efinición del alcance y de los objetivos generales y específicos,</a:t>
            </a:r>
          </a:p>
          <a:p>
            <a:pPr algn="just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elección de metodología de trabajo: híbrida </a:t>
            </a: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Waterfall-Agile,</a:t>
            </a:r>
          </a:p>
          <a:p>
            <a:pPr algn="just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y d</a:t>
            </a: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efinición de requerimientos funcionales y no funcionales.</a:t>
            </a:r>
          </a:p>
          <a:p>
            <a:pPr algn="just">
              <a:lnSpc>
                <a:spcPts val="2240"/>
              </a:lnSpc>
            </a:pPr>
          </a:p>
          <a:p>
            <a:pPr algn="just">
              <a:lnSpc>
                <a:spcPts val="2240"/>
              </a:lnSpc>
            </a:pPr>
          </a:p>
          <a:p>
            <a:pPr algn="just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695085" y="454025"/>
            <a:ext cx="7307231" cy="7349691"/>
            <a:chOff x="0" y="0"/>
            <a:chExt cx="1924538" cy="193572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24538" cy="1935721"/>
            </a:xfrm>
            <a:custGeom>
              <a:avLst/>
              <a:gdLst/>
              <a:ahLst/>
              <a:cxnLst/>
              <a:rect r="r" b="b" t="t" l="l"/>
              <a:pathLst>
                <a:path h="1935721" w="1924538">
                  <a:moveTo>
                    <a:pt x="31785" y="0"/>
                  </a:moveTo>
                  <a:lnTo>
                    <a:pt x="1892753" y="0"/>
                  </a:lnTo>
                  <a:cubicBezTo>
                    <a:pt x="1910308" y="0"/>
                    <a:pt x="1924538" y="14230"/>
                    <a:pt x="1924538" y="31785"/>
                  </a:cubicBezTo>
                  <a:lnTo>
                    <a:pt x="1924538" y="1903936"/>
                  </a:lnTo>
                  <a:cubicBezTo>
                    <a:pt x="1924538" y="1921491"/>
                    <a:pt x="1910308" y="1935721"/>
                    <a:pt x="1892753" y="1935721"/>
                  </a:cubicBezTo>
                  <a:lnTo>
                    <a:pt x="31785" y="1935721"/>
                  </a:lnTo>
                  <a:cubicBezTo>
                    <a:pt x="14230" y="1935721"/>
                    <a:pt x="0" y="1921491"/>
                    <a:pt x="0" y="1903936"/>
                  </a:cubicBezTo>
                  <a:lnTo>
                    <a:pt x="0" y="31785"/>
                  </a:lnTo>
                  <a:cubicBezTo>
                    <a:pt x="0" y="14230"/>
                    <a:pt x="14230" y="0"/>
                    <a:pt x="31785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24538" cy="199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420549">
            <a:off x="7998660" y="8089183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457379" y="1263557"/>
            <a:ext cx="7041302" cy="7759885"/>
            <a:chOff x="0" y="0"/>
            <a:chExt cx="1069836" cy="11790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9836" cy="1179016"/>
            </a:xfrm>
            <a:custGeom>
              <a:avLst/>
              <a:gdLst/>
              <a:ahLst/>
              <a:cxnLst/>
              <a:rect r="r" b="b" t="t" l="l"/>
              <a:pathLst>
                <a:path h="1179016" w="106983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4"/>
              <a:stretch>
                <a:fillRect l="-32705" t="0" r="-3270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897540"/>
            <a:ext cx="658037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Resultado Obtenido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1825997">
            <a:off x="5687123" y="53176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67058">
            <a:off x="14856387" y="9292365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858074">
            <a:off x="-714588" y="875618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6" y="0"/>
                </a:lnTo>
                <a:lnTo>
                  <a:pt x="1429176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420549">
            <a:off x="-704547" y="2379592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242238" y="1649521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2291" y="3701415"/>
            <a:ext cx="9040753" cy="555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Fase 2: Desarrollo del Proyecto (Primer Sprint)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esultado principal:</a:t>
            </a: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inalización exitosa del Primer Sprint y entrega de un Producto Mínimo Viable (MVP) funcional.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Logros: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esarrollo completo del módulo de gestión de usuarios,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onstrucción del módulo central de </a:t>
            </a: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gestión de mascotas,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y ent</a:t>
            </a:r>
            <a:r>
              <a:rPr lang="en-US" sz="2100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rega de una base sólida del sistema para continuar la expansión de funcionalidades.</a:t>
            </a: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</a:p>
          <a:p>
            <a:pPr algn="just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57745" y="-832936"/>
            <a:ext cx="7307231" cy="7349691"/>
            <a:chOff x="0" y="0"/>
            <a:chExt cx="1924538" cy="19357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4538" cy="1935721"/>
            </a:xfrm>
            <a:custGeom>
              <a:avLst/>
              <a:gdLst/>
              <a:ahLst/>
              <a:cxnLst/>
              <a:rect r="r" b="b" t="t" l="l"/>
              <a:pathLst>
                <a:path h="1935721" w="1924538">
                  <a:moveTo>
                    <a:pt x="31785" y="0"/>
                  </a:moveTo>
                  <a:lnTo>
                    <a:pt x="1892753" y="0"/>
                  </a:lnTo>
                  <a:cubicBezTo>
                    <a:pt x="1910308" y="0"/>
                    <a:pt x="1924538" y="14230"/>
                    <a:pt x="1924538" y="31785"/>
                  </a:cubicBezTo>
                  <a:lnTo>
                    <a:pt x="1924538" y="1903936"/>
                  </a:lnTo>
                  <a:cubicBezTo>
                    <a:pt x="1924538" y="1921491"/>
                    <a:pt x="1910308" y="1935721"/>
                    <a:pt x="1892753" y="1935721"/>
                  </a:cubicBezTo>
                  <a:lnTo>
                    <a:pt x="31785" y="1935721"/>
                  </a:lnTo>
                  <a:cubicBezTo>
                    <a:pt x="14230" y="1935721"/>
                    <a:pt x="0" y="1921491"/>
                    <a:pt x="0" y="1903936"/>
                  </a:cubicBezTo>
                  <a:lnTo>
                    <a:pt x="0" y="31785"/>
                  </a:lnTo>
                  <a:cubicBezTo>
                    <a:pt x="0" y="14230"/>
                    <a:pt x="14230" y="0"/>
                    <a:pt x="31785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924538" cy="199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420549">
            <a:off x="7998660" y="8089183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897540"/>
            <a:ext cx="6580374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Resultado Obtenido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1326863" y="8034813"/>
            <a:ext cx="2221798" cy="2107783"/>
            <a:chOff x="0" y="0"/>
            <a:chExt cx="585165" cy="5551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5165" cy="555136"/>
            </a:xfrm>
            <a:custGeom>
              <a:avLst/>
              <a:gdLst/>
              <a:ahLst/>
              <a:cxnLst/>
              <a:rect r="r" b="b" t="t" l="l"/>
              <a:pathLst>
                <a:path h="555136" w="585165">
                  <a:moveTo>
                    <a:pt x="104536" y="0"/>
                  </a:moveTo>
                  <a:lnTo>
                    <a:pt x="480629" y="0"/>
                  </a:lnTo>
                  <a:cubicBezTo>
                    <a:pt x="508354" y="0"/>
                    <a:pt x="534943" y="11014"/>
                    <a:pt x="554547" y="30618"/>
                  </a:cubicBezTo>
                  <a:cubicBezTo>
                    <a:pt x="574151" y="50222"/>
                    <a:pt x="585165" y="76811"/>
                    <a:pt x="585165" y="104536"/>
                  </a:cubicBezTo>
                  <a:lnTo>
                    <a:pt x="585165" y="450600"/>
                  </a:lnTo>
                  <a:cubicBezTo>
                    <a:pt x="585165" y="508334"/>
                    <a:pt x="538362" y="555136"/>
                    <a:pt x="480629" y="555136"/>
                  </a:cubicBezTo>
                  <a:lnTo>
                    <a:pt x="104536" y="555136"/>
                  </a:lnTo>
                  <a:cubicBezTo>
                    <a:pt x="46802" y="555136"/>
                    <a:pt x="0" y="508334"/>
                    <a:pt x="0" y="450600"/>
                  </a:cubicBezTo>
                  <a:lnTo>
                    <a:pt x="0" y="104536"/>
                  </a:lnTo>
                  <a:cubicBezTo>
                    <a:pt x="0" y="46802"/>
                    <a:pt x="46802" y="0"/>
                    <a:pt x="104536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85165" cy="61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825997">
            <a:off x="5687123" y="53176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67058">
            <a:off x="14856387" y="9292365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858074">
            <a:off x="-714588" y="875618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6" y="0"/>
                </a:lnTo>
                <a:lnTo>
                  <a:pt x="1429176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420549">
            <a:off x="-704547" y="2379592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242238" y="1649521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3310890"/>
            <a:ext cx="12990434" cy="5947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Fase 2: Desarrollo de Funcionalidades Avanzadas (Sprints 2 y 3)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Resultado principal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Se implementaron las funcionalidades avanzadas de PetCare.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Funciones implementadas: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Registro de bitácora clínica por mascota.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Subida y almacenamiento de documentos médicos en PDF.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Gestión de Rutinas y Alertas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Colaboración y Compartición de Perfiles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Posibilidad de compartir el perfil de la mascota con cuidadores o veterinarios.</a:t>
            </a:r>
          </a:p>
          <a:p>
            <a:pPr algn="l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Los cuidadores pueden:</a:t>
            </a:r>
          </a:p>
          <a:p>
            <a:pPr algn="l" marL="1360170" indent="-340042" lvl="3">
              <a:lnSpc>
                <a:spcPts val="2940"/>
              </a:lnSpc>
              <a:spcBef>
                <a:spcPct val="0"/>
              </a:spcBef>
              <a:buFont typeface="Arial"/>
              <a:buChar char="￭"/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Registrar actividades realizadas.</a:t>
            </a:r>
          </a:p>
          <a:p>
            <a:pPr algn="l" marL="1360170" indent="-340042" lvl="3">
              <a:lnSpc>
                <a:spcPts val="2940"/>
              </a:lnSpc>
              <a:spcBef>
                <a:spcPct val="0"/>
              </a:spcBef>
              <a:buFont typeface="Arial"/>
              <a:buChar char="￭"/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Reportar incidencias.</a:t>
            </a:r>
          </a:p>
          <a:p>
            <a:pPr algn="l" marL="906780" indent="-302260" lvl="2">
              <a:lnSpc>
                <a:spcPts val="2940"/>
              </a:lnSpc>
              <a:spcBef>
                <a:spcPct val="0"/>
              </a:spcBef>
              <a:buFont typeface="Arial"/>
              <a:buChar char="⚬"/>
            </a:pPr>
            <a:r>
              <a:rPr lang="en-US" sz="2100">
                <a:solidFill>
                  <a:srgbClr val="5B3121"/>
                </a:solidFill>
                <a:latin typeface="Poppins"/>
                <a:ea typeface="Poppins"/>
                <a:cs typeface="Poppins"/>
                <a:sym typeface="Poppins"/>
              </a:rPr>
              <a:t>El dueño recibe notificaciones en tiempo real ante cualquier actividad o evento registrado.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695085" y="454025"/>
            <a:ext cx="7307231" cy="7349691"/>
            <a:chOff x="0" y="0"/>
            <a:chExt cx="1924538" cy="19357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4538" cy="1935721"/>
            </a:xfrm>
            <a:custGeom>
              <a:avLst/>
              <a:gdLst/>
              <a:ahLst/>
              <a:cxnLst/>
              <a:rect r="r" b="b" t="t" l="l"/>
              <a:pathLst>
                <a:path h="1935721" w="1924538">
                  <a:moveTo>
                    <a:pt x="31785" y="0"/>
                  </a:moveTo>
                  <a:lnTo>
                    <a:pt x="1892753" y="0"/>
                  </a:lnTo>
                  <a:cubicBezTo>
                    <a:pt x="1910308" y="0"/>
                    <a:pt x="1924538" y="14230"/>
                    <a:pt x="1924538" y="31785"/>
                  </a:cubicBezTo>
                  <a:lnTo>
                    <a:pt x="1924538" y="1903936"/>
                  </a:lnTo>
                  <a:cubicBezTo>
                    <a:pt x="1924538" y="1921491"/>
                    <a:pt x="1910308" y="1935721"/>
                    <a:pt x="1892753" y="1935721"/>
                  </a:cubicBezTo>
                  <a:lnTo>
                    <a:pt x="31785" y="1935721"/>
                  </a:lnTo>
                  <a:cubicBezTo>
                    <a:pt x="14230" y="1935721"/>
                    <a:pt x="0" y="1921491"/>
                    <a:pt x="0" y="1903936"/>
                  </a:cubicBezTo>
                  <a:lnTo>
                    <a:pt x="0" y="31785"/>
                  </a:lnTo>
                  <a:cubicBezTo>
                    <a:pt x="0" y="14230"/>
                    <a:pt x="14230" y="0"/>
                    <a:pt x="31785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924538" cy="199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420549">
            <a:off x="7998660" y="8089183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26863" y="8034813"/>
            <a:ext cx="2221798" cy="2107783"/>
            <a:chOff x="0" y="0"/>
            <a:chExt cx="585165" cy="555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165" cy="555136"/>
            </a:xfrm>
            <a:custGeom>
              <a:avLst/>
              <a:gdLst/>
              <a:ahLst/>
              <a:cxnLst/>
              <a:rect r="r" b="b" t="t" l="l"/>
              <a:pathLst>
                <a:path h="555136" w="585165">
                  <a:moveTo>
                    <a:pt x="104536" y="0"/>
                  </a:moveTo>
                  <a:lnTo>
                    <a:pt x="480629" y="0"/>
                  </a:lnTo>
                  <a:cubicBezTo>
                    <a:pt x="508354" y="0"/>
                    <a:pt x="534943" y="11014"/>
                    <a:pt x="554547" y="30618"/>
                  </a:cubicBezTo>
                  <a:cubicBezTo>
                    <a:pt x="574151" y="50222"/>
                    <a:pt x="585165" y="76811"/>
                    <a:pt x="585165" y="104536"/>
                  </a:cubicBezTo>
                  <a:lnTo>
                    <a:pt x="585165" y="450600"/>
                  </a:lnTo>
                  <a:cubicBezTo>
                    <a:pt x="585165" y="508334"/>
                    <a:pt x="538362" y="555136"/>
                    <a:pt x="480629" y="555136"/>
                  </a:cubicBezTo>
                  <a:lnTo>
                    <a:pt x="104536" y="555136"/>
                  </a:lnTo>
                  <a:cubicBezTo>
                    <a:pt x="46802" y="555136"/>
                    <a:pt x="0" y="508334"/>
                    <a:pt x="0" y="450600"/>
                  </a:cubicBezTo>
                  <a:lnTo>
                    <a:pt x="0" y="104536"/>
                  </a:lnTo>
                  <a:cubicBezTo>
                    <a:pt x="0" y="46802"/>
                    <a:pt x="46802" y="0"/>
                    <a:pt x="104536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85165" cy="61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825997">
            <a:off x="5687123" y="53176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67058">
            <a:off x="14856387" y="9292365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858074">
            <a:off x="-714588" y="875618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6" y="0"/>
                </a:lnTo>
                <a:lnTo>
                  <a:pt x="1429176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420549">
            <a:off x="-704547" y="2379592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42291" y="1263557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9"/>
                </a:lnTo>
                <a:lnTo>
                  <a:pt x="0" y="5310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542511" y="1697454"/>
            <a:ext cx="7612380" cy="8229600"/>
          </a:xfrm>
          <a:custGeom>
            <a:avLst/>
            <a:gdLst/>
            <a:ahLst/>
            <a:cxnLst/>
            <a:rect r="r" b="b" t="t" l="l"/>
            <a:pathLst>
              <a:path h="8229600" w="7612380">
                <a:moveTo>
                  <a:pt x="0" y="0"/>
                </a:moveTo>
                <a:lnTo>
                  <a:pt x="7612380" y="0"/>
                </a:lnTo>
                <a:lnTo>
                  <a:pt x="76123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4934" y="1013537"/>
            <a:ext cx="7304387" cy="460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6926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Obstáculos presentados durante el desarrollo</a:t>
            </a:r>
          </a:p>
          <a:p>
            <a:pPr algn="l">
              <a:lnSpc>
                <a:spcPts val="692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371566" y="5555688"/>
            <a:ext cx="8272413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React + Tailwind CSS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Utilización de Supabase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Asociar archivos al Bucket de Supabase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5B3121"/>
                </a:solidFill>
                <a:latin typeface="Open Sans"/>
                <a:ea typeface="Open Sans"/>
                <a:cs typeface="Open Sans"/>
                <a:sym typeface="Open Sans"/>
              </a:rPr>
              <a:t>Creación y configuración de alertas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17359" y="-85152"/>
            <a:ext cx="7307231" cy="7349691"/>
            <a:chOff x="0" y="0"/>
            <a:chExt cx="1924538" cy="19357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4538" cy="1935721"/>
            </a:xfrm>
            <a:custGeom>
              <a:avLst/>
              <a:gdLst/>
              <a:ahLst/>
              <a:cxnLst/>
              <a:rect r="r" b="b" t="t" l="l"/>
              <a:pathLst>
                <a:path h="1935721" w="1924538">
                  <a:moveTo>
                    <a:pt x="31785" y="0"/>
                  </a:moveTo>
                  <a:lnTo>
                    <a:pt x="1892753" y="0"/>
                  </a:lnTo>
                  <a:cubicBezTo>
                    <a:pt x="1910308" y="0"/>
                    <a:pt x="1924538" y="14230"/>
                    <a:pt x="1924538" y="31785"/>
                  </a:cubicBezTo>
                  <a:lnTo>
                    <a:pt x="1924538" y="1903936"/>
                  </a:lnTo>
                  <a:cubicBezTo>
                    <a:pt x="1924538" y="1921491"/>
                    <a:pt x="1910308" y="1935721"/>
                    <a:pt x="1892753" y="1935721"/>
                  </a:cubicBezTo>
                  <a:lnTo>
                    <a:pt x="31785" y="1935721"/>
                  </a:lnTo>
                  <a:cubicBezTo>
                    <a:pt x="14230" y="1935721"/>
                    <a:pt x="0" y="1921491"/>
                    <a:pt x="0" y="1903936"/>
                  </a:cubicBezTo>
                  <a:lnTo>
                    <a:pt x="0" y="31785"/>
                  </a:lnTo>
                  <a:cubicBezTo>
                    <a:pt x="0" y="14230"/>
                    <a:pt x="14230" y="0"/>
                    <a:pt x="31785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924538" cy="199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420549">
            <a:off x="7998660" y="8089183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326863" y="8034813"/>
            <a:ext cx="2221798" cy="2107783"/>
            <a:chOff x="0" y="0"/>
            <a:chExt cx="585165" cy="555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165" cy="555136"/>
            </a:xfrm>
            <a:custGeom>
              <a:avLst/>
              <a:gdLst/>
              <a:ahLst/>
              <a:cxnLst/>
              <a:rect r="r" b="b" t="t" l="l"/>
              <a:pathLst>
                <a:path h="555136" w="585165">
                  <a:moveTo>
                    <a:pt x="104536" y="0"/>
                  </a:moveTo>
                  <a:lnTo>
                    <a:pt x="480629" y="0"/>
                  </a:lnTo>
                  <a:cubicBezTo>
                    <a:pt x="508354" y="0"/>
                    <a:pt x="534943" y="11014"/>
                    <a:pt x="554547" y="30618"/>
                  </a:cubicBezTo>
                  <a:cubicBezTo>
                    <a:pt x="574151" y="50222"/>
                    <a:pt x="585165" y="76811"/>
                    <a:pt x="585165" y="104536"/>
                  </a:cubicBezTo>
                  <a:lnTo>
                    <a:pt x="585165" y="450600"/>
                  </a:lnTo>
                  <a:cubicBezTo>
                    <a:pt x="585165" y="508334"/>
                    <a:pt x="538362" y="555136"/>
                    <a:pt x="480629" y="555136"/>
                  </a:cubicBezTo>
                  <a:lnTo>
                    <a:pt x="104536" y="555136"/>
                  </a:lnTo>
                  <a:cubicBezTo>
                    <a:pt x="46802" y="555136"/>
                    <a:pt x="0" y="508334"/>
                    <a:pt x="0" y="450600"/>
                  </a:cubicBezTo>
                  <a:lnTo>
                    <a:pt x="0" y="104536"/>
                  </a:lnTo>
                  <a:cubicBezTo>
                    <a:pt x="0" y="46802"/>
                    <a:pt x="46802" y="0"/>
                    <a:pt x="104536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85165" cy="6122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825997">
            <a:off x="5687123" y="53176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67058">
            <a:off x="14856387" y="9292365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1"/>
                </a:lnTo>
                <a:lnTo>
                  <a:pt x="0" y="10968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858074">
            <a:off x="-714588" y="8756186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6" y="0"/>
                </a:lnTo>
                <a:lnTo>
                  <a:pt x="1429176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420549">
            <a:off x="-704547" y="2379592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63865" y="4877966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0" y="0"/>
                </a:moveTo>
                <a:lnTo>
                  <a:pt x="531069" y="0"/>
                </a:lnTo>
                <a:lnTo>
                  <a:pt x="531069" y="531068"/>
                </a:lnTo>
                <a:lnTo>
                  <a:pt x="0" y="531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344967" y="0"/>
            <a:ext cx="4640071" cy="10287000"/>
          </a:xfrm>
          <a:custGeom>
            <a:avLst/>
            <a:gdLst/>
            <a:ahLst/>
            <a:cxnLst/>
            <a:rect r="r" b="b" t="t" l="l"/>
            <a:pathLst>
              <a:path h="10287000" w="4640071">
                <a:moveTo>
                  <a:pt x="0" y="0"/>
                </a:moveTo>
                <a:lnTo>
                  <a:pt x="4640071" y="0"/>
                </a:lnTo>
                <a:lnTo>
                  <a:pt x="464007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6676" y="3824237"/>
            <a:ext cx="7669778" cy="3735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6"/>
              </a:lnSpc>
            </a:pPr>
            <a:r>
              <a:rPr lang="en-US" sz="6926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DEMOSTRACIÓN DEL RESULTADO DEL PROYECTO</a:t>
            </a:r>
          </a:p>
          <a:p>
            <a:pPr algn="l">
              <a:lnSpc>
                <a:spcPts val="6926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5068" y="1600448"/>
            <a:ext cx="6987981" cy="5049169"/>
            <a:chOff x="0" y="0"/>
            <a:chExt cx="946411" cy="6838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6411" cy="683830"/>
            </a:xfrm>
            <a:custGeom>
              <a:avLst/>
              <a:gdLst/>
              <a:ahLst/>
              <a:cxnLst/>
              <a:rect r="r" b="b" t="t" l="l"/>
              <a:pathLst>
                <a:path h="683830" w="946411">
                  <a:moveTo>
                    <a:pt x="38776" y="0"/>
                  </a:moveTo>
                  <a:lnTo>
                    <a:pt x="907635" y="0"/>
                  </a:lnTo>
                  <a:cubicBezTo>
                    <a:pt x="917919" y="0"/>
                    <a:pt x="927782" y="4085"/>
                    <a:pt x="935054" y="11357"/>
                  </a:cubicBezTo>
                  <a:cubicBezTo>
                    <a:pt x="942326" y="18629"/>
                    <a:pt x="946411" y="28492"/>
                    <a:pt x="946411" y="38776"/>
                  </a:cubicBezTo>
                  <a:lnTo>
                    <a:pt x="946411" y="645054"/>
                  </a:lnTo>
                  <a:cubicBezTo>
                    <a:pt x="946411" y="655338"/>
                    <a:pt x="942326" y="665201"/>
                    <a:pt x="935054" y="672473"/>
                  </a:cubicBezTo>
                  <a:cubicBezTo>
                    <a:pt x="927782" y="679745"/>
                    <a:pt x="917919" y="683830"/>
                    <a:pt x="907635" y="683830"/>
                  </a:cubicBezTo>
                  <a:lnTo>
                    <a:pt x="38776" y="683830"/>
                  </a:lnTo>
                  <a:cubicBezTo>
                    <a:pt x="28492" y="683830"/>
                    <a:pt x="18629" y="679745"/>
                    <a:pt x="11357" y="672473"/>
                  </a:cubicBezTo>
                  <a:cubicBezTo>
                    <a:pt x="4085" y="665201"/>
                    <a:pt x="0" y="655338"/>
                    <a:pt x="0" y="645054"/>
                  </a:cubicBezTo>
                  <a:lnTo>
                    <a:pt x="0" y="38776"/>
                  </a:lnTo>
                  <a:cubicBezTo>
                    <a:pt x="0" y="28492"/>
                    <a:pt x="4085" y="18629"/>
                    <a:pt x="11357" y="11357"/>
                  </a:cubicBezTo>
                  <a:cubicBezTo>
                    <a:pt x="18629" y="4085"/>
                    <a:pt x="28492" y="0"/>
                    <a:pt x="3877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70133" r="0" b="-37594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322816" y="6044376"/>
            <a:ext cx="5532484" cy="2727589"/>
            <a:chOff x="0" y="0"/>
            <a:chExt cx="1457151" cy="7184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7151" cy="718414"/>
            </a:xfrm>
            <a:custGeom>
              <a:avLst/>
              <a:gdLst/>
              <a:ahLst/>
              <a:cxnLst/>
              <a:rect r="r" b="b" t="t" l="l"/>
              <a:pathLst>
                <a:path h="718414" w="1457151">
                  <a:moveTo>
                    <a:pt x="1457151" y="48977"/>
                  </a:moveTo>
                  <a:lnTo>
                    <a:pt x="1457151" y="669437"/>
                  </a:lnTo>
                  <a:cubicBezTo>
                    <a:pt x="1457151" y="696486"/>
                    <a:pt x="1435223" y="718414"/>
                    <a:pt x="1408173" y="718414"/>
                  </a:cubicBezTo>
                  <a:lnTo>
                    <a:pt x="48977" y="718414"/>
                  </a:lnTo>
                  <a:cubicBezTo>
                    <a:pt x="35988" y="718414"/>
                    <a:pt x="23530" y="713254"/>
                    <a:pt x="14345" y="704069"/>
                  </a:cubicBezTo>
                  <a:cubicBezTo>
                    <a:pt x="5160" y="694884"/>
                    <a:pt x="0" y="682426"/>
                    <a:pt x="0" y="669437"/>
                  </a:cubicBezTo>
                  <a:lnTo>
                    <a:pt x="0" y="48977"/>
                  </a:lnTo>
                  <a:cubicBezTo>
                    <a:pt x="0" y="35988"/>
                    <a:pt x="5160" y="23530"/>
                    <a:pt x="14345" y="14345"/>
                  </a:cubicBezTo>
                  <a:cubicBezTo>
                    <a:pt x="23530" y="5160"/>
                    <a:pt x="35988" y="0"/>
                    <a:pt x="48977" y="0"/>
                  </a:cubicBezTo>
                  <a:lnTo>
                    <a:pt x="1408173" y="0"/>
                  </a:lnTo>
                  <a:cubicBezTo>
                    <a:pt x="1421163" y="0"/>
                    <a:pt x="1433621" y="5160"/>
                    <a:pt x="1442806" y="14345"/>
                  </a:cubicBezTo>
                  <a:cubicBezTo>
                    <a:pt x="1451991" y="23530"/>
                    <a:pt x="1457151" y="35988"/>
                    <a:pt x="1457151" y="48977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457151" cy="7755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0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34596" y="-253211"/>
            <a:ext cx="7287671" cy="1433633"/>
            <a:chOff x="0" y="0"/>
            <a:chExt cx="1919387" cy="37758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19387" cy="377582"/>
            </a:xfrm>
            <a:custGeom>
              <a:avLst/>
              <a:gdLst/>
              <a:ahLst/>
              <a:cxnLst/>
              <a:rect r="r" b="b" t="t" l="l"/>
              <a:pathLst>
                <a:path h="377582" w="1919387">
                  <a:moveTo>
                    <a:pt x="31870" y="0"/>
                  </a:moveTo>
                  <a:lnTo>
                    <a:pt x="1887517" y="0"/>
                  </a:lnTo>
                  <a:cubicBezTo>
                    <a:pt x="1905118" y="0"/>
                    <a:pt x="1919387" y="14269"/>
                    <a:pt x="1919387" y="31870"/>
                  </a:cubicBezTo>
                  <a:lnTo>
                    <a:pt x="1919387" y="345712"/>
                  </a:lnTo>
                  <a:cubicBezTo>
                    <a:pt x="1919387" y="363314"/>
                    <a:pt x="1905118" y="377582"/>
                    <a:pt x="1887517" y="377582"/>
                  </a:cubicBezTo>
                  <a:lnTo>
                    <a:pt x="31870" y="377582"/>
                  </a:lnTo>
                  <a:cubicBezTo>
                    <a:pt x="14269" y="377582"/>
                    <a:pt x="0" y="363314"/>
                    <a:pt x="0" y="345712"/>
                  </a:cubicBezTo>
                  <a:lnTo>
                    <a:pt x="0" y="31870"/>
                  </a:lnTo>
                  <a:cubicBezTo>
                    <a:pt x="0" y="14269"/>
                    <a:pt x="14269" y="0"/>
                    <a:pt x="31870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919387" cy="434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670931" y="9765777"/>
            <a:ext cx="5527329" cy="1042446"/>
            <a:chOff x="0" y="0"/>
            <a:chExt cx="1455757" cy="2745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55757" cy="274554"/>
            </a:xfrm>
            <a:custGeom>
              <a:avLst/>
              <a:gdLst/>
              <a:ahLst/>
              <a:cxnLst/>
              <a:rect r="r" b="b" t="t" l="l"/>
              <a:pathLst>
                <a:path h="274554" w="1455757">
                  <a:moveTo>
                    <a:pt x="42020" y="0"/>
                  </a:moveTo>
                  <a:lnTo>
                    <a:pt x="1413738" y="0"/>
                  </a:lnTo>
                  <a:cubicBezTo>
                    <a:pt x="1424882" y="0"/>
                    <a:pt x="1435570" y="4427"/>
                    <a:pt x="1443450" y="12307"/>
                  </a:cubicBezTo>
                  <a:cubicBezTo>
                    <a:pt x="1451330" y="20188"/>
                    <a:pt x="1455757" y="30876"/>
                    <a:pt x="1455757" y="42020"/>
                  </a:cubicBezTo>
                  <a:lnTo>
                    <a:pt x="1455757" y="232534"/>
                  </a:lnTo>
                  <a:cubicBezTo>
                    <a:pt x="1455757" y="255741"/>
                    <a:pt x="1436945" y="274554"/>
                    <a:pt x="1413738" y="274554"/>
                  </a:cubicBezTo>
                  <a:lnTo>
                    <a:pt x="42020" y="274554"/>
                  </a:lnTo>
                  <a:cubicBezTo>
                    <a:pt x="18813" y="274554"/>
                    <a:pt x="0" y="255741"/>
                    <a:pt x="0" y="232534"/>
                  </a:cubicBezTo>
                  <a:lnTo>
                    <a:pt x="0" y="42020"/>
                  </a:lnTo>
                  <a:cubicBezTo>
                    <a:pt x="0" y="18813"/>
                    <a:pt x="18813" y="0"/>
                    <a:pt x="42020" y="0"/>
                  </a:cubicBezTo>
                  <a:close/>
                </a:path>
              </a:pathLst>
            </a:custGeom>
            <a:solidFill>
              <a:srgbClr val="5B3121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455757" cy="331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825997">
            <a:off x="15650774" y="4160260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2549672">
            <a:off x="314112" y="8851444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6" y="0"/>
                </a:lnTo>
                <a:lnTo>
                  <a:pt x="1429176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733537">
            <a:off x="7331847" y="-365089"/>
            <a:ext cx="1429175" cy="1096892"/>
          </a:xfrm>
          <a:custGeom>
            <a:avLst/>
            <a:gdLst/>
            <a:ahLst/>
            <a:cxnLst/>
            <a:rect r="r" b="b" t="t" l="l"/>
            <a:pathLst>
              <a:path h="1096892" w="1429175">
                <a:moveTo>
                  <a:pt x="0" y="0"/>
                </a:moveTo>
                <a:lnTo>
                  <a:pt x="1429175" y="0"/>
                </a:lnTo>
                <a:lnTo>
                  <a:pt x="1429175" y="1096892"/>
                </a:lnTo>
                <a:lnTo>
                  <a:pt x="0" y="1096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420549">
            <a:off x="589570" y="749072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896309">
            <a:off x="16721966" y="9303460"/>
            <a:ext cx="1615588" cy="924635"/>
          </a:xfrm>
          <a:custGeom>
            <a:avLst/>
            <a:gdLst/>
            <a:ahLst/>
            <a:cxnLst/>
            <a:rect r="r" b="b" t="t" l="l"/>
            <a:pathLst>
              <a:path h="924635" w="1615588">
                <a:moveTo>
                  <a:pt x="0" y="0"/>
                </a:moveTo>
                <a:lnTo>
                  <a:pt x="1615588" y="0"/>
                </a:lnTo>
                <a:lnTo>
                  <a:pt x="1615588" y="924635"/>
                </a:lnTo>
                <a:lnTo>
                  <a:pt x="0" y="92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063999" y="9258300"/>
            <a:ext cx="531069" cy="531069"/>
          </a:xfrm>
          <a:custGeom>
            <a:avLst/>
            <a:gdLst/>
            <a:ahLst/>
            <a:cxnLst/>
            <a:rect r="r" b="b" t="t" l="l"/>
            <a:pathLst>
              <a:path h="531069" w="531069">
                <a:moveTo>
                  <a:pt x="531069" y="0"/>
                </a:moveTo>
                <a:lnTo>
                  <a:pt x="0" y="0"/>
                </a:lnTo>
                <a:lnTo>
                  <a:pt x="0" y="531069"/>
                </a:lnTo>
                <a:lnTo>
                  <a:pt x="531069" y="531069"/>
                </a:lnTo>
                <a:lnTo>
                  <a:pt x="53106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54411" y="3305175"/>
            <a:ext cx="5799699" cy="2238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60"/>
              </a:lnSpc>
            </a:pPr>
            <a:r>
              <a:rPr lang="en-US" sz="6800" b="true">
                <a:solidFill>
                  <a:srgbClr val="5B3121"/>
                </a:solidFill>
                <a:latin typeface="Agrandir Bold"/>
                <a:ea typeface="Agrandir Bold"/>
                <a:cs typeface="Agrandir Bold"/>
                <a:sym typeface="Agrandir Bold"/>
              </a:rPr>
              <a:t>Comentario final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2291" y="178692"/>
            <a:ext cx="436121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5B3121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“PetCare”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351620" y="76583"/>
            <a:ext cx="3868919" cy="952117"/>
          </a:xfrm>
          <a:custGeom>
            <a:avLst/>
            <a:gdLst/>
            <a:ahLst/>
            <a:cxnLst/>
            <a:rect r="r" b="b" t="t" l="l"/>
            <a:pathLst>
              <a:path h="952117" w="3868919">
                <a:moveTo>
                  <a:pt x="0" y="0"/>
                </a:moveTo>
                <a:lnTo>
                  <a:pt x="3868920" y="0"/>
                </a:lnTo>
                <a:lnTo>
                  <a:pt x="3868920" y="952117"/>
                </a:lnTo>
                <a:lnTo>
                  <a:pt x="0" y="9521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DAG3p5dE7o8</dc:identifier>
  <dcterms:modified xsi:type="dcterms:W3CDTF">2011-08-01T06:04:30Z</dcterms:modified>
  <cp:revision>1</cp:revision>
  <dc:title>Presentación Proyecto</dc:title>
</cp:coreProperties>
</file>