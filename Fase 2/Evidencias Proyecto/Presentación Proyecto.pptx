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8288000" cy="10287000"/>
  <p:notesSz cx="6858000" cy="9144000"/>
  <p:embeddedFontLst>
    <p:embeddedFont>
      <p:font typeface="Agrandir Bold" panose="020B0604020202020204" charset="0"/>
      <p:regular r:id="rId26"/>
    </p:embeddedFont>
    <p:embeddedFont>
      <p:font typeface="Open Sans" panose="020B0606030504020204" pitchFamily="34" charset="0"/>
      <p:regular r:id="rId27"/>
    </p:embeddedFont>
    <p:embeddedFont>
      <p:font typeface="Poppins" panose="00000500000000000000" pitchFamily="2" charset="0"/>
      <p:regular r:id="rId28"/>
    </p:embeddedFont>
    <p:embeddedFont>
      <p:font typeface="Poppins Bold" panose="020B0604020202020204" charset="0"/>
      <p:regular r:id="rId29"/>
    </p:embeddedFont>
    <p:embeddedFont>
      <p:font typeface="Poppins Italics" panose="020B0604020202020204" charset="0"/>
      <p:regular r:id="rId3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0" d="100"/>
          <a:sy n="70" d="100"/>
        </p:scale>
        <p:origin x="774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svg"/><Relationship Id="rId5" Type="http://schemas.openxmlformats.org/officeDocument/2006/relationships/image" Target="../media/image2.png"/><Relationship Id="rId4" Type="http://schemas.openxmlformats.org/officeDocument/2006/relationships/image" Target="../media/image5.svg"/><Relationship Id="rId9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3.svg"/><Relationship Id="rId9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svg"/><Relationship Id="rId3" Type="http://schemas.openxmlformats.org/officeDocument/2006/relationships/image" Target="../media/image3.svg"/><Relationship Id="rId7" Type="http://schemas.openxmlformats.org/officeDocument/2006/relationships/image" Target="../media/image14.svg"/><Relationship Id="rId12" Type="http://schemas.openxmlformats.org/officeDocument/2006/relationships/image" Target="../media/image19.png"/><Relationship Id="rId2" Type="http://schemas.openxmlformats.org/officeDocument/2006/relationships/image" Target="../media/image2.png"/><Relationship Id="rId16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image" Target="../media/image18.svg"/><Relationship Id="rId5" Type="http://schemas.openxmlformats.org/officeDocument/2006/relationships/image" Target="../media/image5.svg"/><Relationship Id="rId15" Type="http://schemas.openxmlformats.org/officeDocument/2006/relationships/image" Target="../media/image22.svg"/><Relationship Id="rId10" Type="http://schemas.openxmlformats.org/officeDocument/2006/relationships/image" Target="../media/image17.png"/><Relationship Id="rId4" Type="http://schemas.openxmlformats.org/officeDocument/2006/relationships/image" Target="../media/image4.png"/><Relationship Id="rId9" Type="http://schemas.openxmlformats.org/officeDocument/2006/relationships/image" Target="../media/image16.svg"/><Relationship Id="rId1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12" Type="http://schemas.openxmlformats.org/officeDocument/2006/relationships/image" Target="../media/image6.pn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26.png"/><Relationship Id="rId5" Type="http://schemas.openxmlformats.org/officeDocument/2006/relationships/image" Target="../media/image4.png"/><Relationship Id="rId10" Type="http://schemas.openxmlformats.org/officeDocument/2006/relationships/image" Target="../media/image25.svg"/><Relationship Id="rId4" Type="http://schemas.openxmlformats.org/officeDocument/2006/relationships/image" Target="../media/image3.svg"/><Relationship Id="rId9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12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30.png"/><Relationship Id="rId5" Type="http://schemas.openxmlformats.org/officeDocument/2006/relationships/image" Target="../media/image3.svg"/><Relationship Id="rId10" Type="http://schemas.openxmlformats.org/officeDocument/2006/relationships/image" Target="../media/image29.png"/><Relationship Id="rId4" Type="http://schemas.openxmlformats.org/officeDocument/2006/relationships/image" Target="../media/image2.png"/><Relationship Id="rId9" Type="http://schemas.openxmlformats.org/officeDocument/2006/relationships/image" Target="../media/image2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3.sv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3.sv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3.sv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12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37.png"/><Relationship Id="rId5" Type="http://schemas.openxmlformats.org/officeDocument/2006/relationships/image" Target="../media/image3.svg"/><Relationship Id="rId10" Type="http://schemas.openxmlformats.org/officeDocument/2006/relationships/image" Target="../media/image36.png"/><Relationship Id="rId4" Type="http://schemas.openxmlformats.org/officeDocument/2006/relationships/image" Target="../media/image2.png"/><Relationship Id="rId9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svg"/><Relationship Id="rId5" Type="http://schemas.openxmlformats.org/officeDocument/2006/relationships/image" Target="../media/image2.png"/><Relationship Id="rId4" Type="http://schemas.openxmlformats.org/officeDocument/2006/relationships/image" Target="../media/image5.svg"/><Relationship Id="rId9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svg"/><Relationship Id="rId5" Type="http://schemas.openxmlformats.org/officeDocument/2006/relationships/image" Target="../media/image2.png"/><Relationship Id="rId4" Type="http://schemas.openxmlformats.org/officeDocument/2006/relationships/image" Target="../media/image5.svg"/><Relationship Id="rId9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svg"/><Relationship Id="rId5" Type="http://schemas.openxmlformats.org/officeDocument/2006/relationships/image" Target="../media/image2.png"/><Relationship Id="rId4" Type="http://schemas.openxmlformats.org/officeDocument/2006/relationships/image" Target="../media/image5.svg"/><Relationship Id="rId9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svg"/><Relationship Id="rId3" Type="http://schemas.openxmlformats.org/officeDocument/2006/relationships/image" Target="../media/image5.svg"/><Relationship Id="rId7" Type="http://schemas.openxmlformats.org/officeDocument/2006/relationships/image" Target="../media/image40.svg"/><Relationship Id="rId12" Type="http://schemas.openxmlformats.org/officeDocument/2006/relationships/image" Target="../media/image45.png"/><Relationship Id="rId2" Type="http://schemas.openxmlformats.org/officeDocument/2006/relationships/image" Target="../media/image4.png"/><Relationship Id="rId16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11" Type="http://schemas.openxmlformats.org/officeDocument/2006/relationships/image" Target="../media/image44.svg"/><Relationship Id="rId5" Type="http://schemas.openxmlformats.org/officeDocument/2006/relationships/image" Target="../media/image3.svg"/><Relationship Id="rId15" Type="http://schemas.openxmlformats.org/officeDocument/2006/relationships/image" Target="../media/image48.svg"/><Relationship Id="rId10" Type="http://schemas.openxmlformats.org/officeDocument/2006/relationships/image" Target="../media/image43.png"/><Relationship Id="rId4" Type="http://schemas.openxmlformats.org/officeDocument/2006/relationships/image" Target="../media/image2.png"/><Relationship Id="rId9" Type="http://schemas.openxmlformats.org/officeDocument/2006/relationships/image" Target="../media/image42.png"/><Relationship Id="rId14" Type="http://schemas.openxmlformats.org/officeDocument/2006/relationships/image" Target="../media/image4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5.svg"/><Relationship Id="rId7" Type="http://schemas.openxmlformats.org/officeDocument/2006/relationships/image" Target="../media/image50.svg"/><Relationship Id="rId12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.png"/><Relationship Id="rId11" Type="http://schemas.openxmlformats.org/officeDocument/2006/relationships/image" Target="../media/image54.png"/><Relationship Id="rId5" Type="http://schemas.openxmlformats.org/officeDocument/2006/relationships/image" Target="../media/image3.svg"/><Relationship Id="rId10" Type="http://schemas.openxmlformats.org/officeDocument/2006/relationships/image" Target="../media/image53.png"/><Relationship Id="rId4" Type="http://schemas.openxmlformats.org/officeDocument/2006/relationships/image" Target="../media/image2.png"/><Relationship Id="rId9" Type="http://schemas.openxmlformats.org/officeDocument/2006/relationships/image" Target="../media/image52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6.png"/><Relationship Id="rId3" Type="http://schemas.openxmlformats.org/officeDocument/2006/relationships/image" Target="../media/image5.svg"/><Relationship Id="rId7" Type="http://schemas.openxmlformats.org/officeDocument/2006/relationships/image" Target="../media/image56.svg"/><Relationship Id="rId12" Type="http://schemas.openxmlformats.org/officeDocument/2006/relationships/image" Target="../media/image61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5.png"/><Relationship Id="rId11" Type="http://schemas.openxmlformats.org/officeDocument/2006/relationships/image" Target="../media/image60.png"/><Relationship Id="rId5" Type="http://schemas.openxmlformats.org/officeDocument/2006/relationships/image" Target="../media/image3.svg"/><Relationship Id="rId10" Type="http://schemas.openxmlformats.org/officeDocument/2006/relationships/image" Target="../media/image59.png"/><Relationship Id="rId4" Type="http://schemas.openxmlformats.org/officeDocument/2006/relationships/image" Target="../media/image2.png"/><Relationship Id="rId9" Type="http://schemas.openxmlformats.org/officeDocument/2006/relationships/image" Target="../media/image58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3.svg"/><Relationship Id="rId7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62.jpeg"/><Relationship Id="rId9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3.svg"/><Relationship Id="rId7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62.jpeg"/><Relationship Id="rId9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3.svg"/><Relationship Id="rId7" Type="http://schemas.openxmlformats.org/officeDocument/2006/relationships/image" Target="../media/image9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image" Target="../media/image3.svg"/><Relationship Id="rId7" Type="http://schemas.openxmlformats.org/officeDocument/2006/relationships/image" Target="../media/image9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3.svg"/><Relationship Id="rId7" Type="http://schemas.openxmlformats.org/officeDocument/2006/relationships/image" Target="../media/image9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64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65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svg"/><Relationship Id="rId5" Type="http://schemas.openxmlformats.org/officeDocument/2006/relationships/image" Target="../media/image2.png"/><Relationship Id="rId4" Type="http://schemas.openxmlformats.org/officeDocument/2006/relationships/image" Target="../media/image5.svg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9144000" cy="10287000"/>
            <a:chOff x="0" y="0"/>
            <a:chExt cx="812800" cy="914400"/>
          </a:xfrm>
        </p:grpSpPr>
        <p:sp>
          <p:nvSpPr>
            <p:cNvPr id="3" name="Freeform 3"/>
            <p:cNvSpPr/>
            <p:nvPr/>
          </p:nvSpPr>
          <p:spPr>
            <a:xfrm flipH="1">
              <a:off x="0" y="0"/>
              <a:ext cx="812800" cy="914400"/>
            </a:xfrm>
            <a:custGeom>
              <a:avLst/>
              <a:gdLst/>
              <a:ahLst/>
              <a:cxnLst/>
              <a:rect l="l" t="t" r="r" b="b"/>
              <a:pathLst>
                <a:path w="812800" h="914400">
                  <a:moveTo>
                    <a:pt x="812800" y="0"/>
                  </a:moveTo>
                  <a:lnTo>
                    <a:pt x="0" y="0"/>
                  </a:lnTo>
                  <a:lnTo>
                    <a:pt x="0" y="914400"/>
                  </a:lnTo>
                  <a:lnTo>
                    <a:pt x="812800" y="914400"/>
                  </a:lnTo>
                  <a:close/>
                </a:path>
              </a:pathLst>
            </a:custGeom>
            <a:blipFill>
              <a:blip r:embed="rId2"/>
              <a:stretch>
                <a:fillRect l="-63304" r="-5550"/>
              </a:stretch>
            </a:blipFill>
          </p:spPr>
          <p:txBody>
            <a:bodyPr/>
            <a:lstStyle/>
            <a:p>
              <a:endParaRPr lang="es-MX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7949679" y="2593317"/>
            <a:ext cx="8265639" cy="5100365"/>
            <a:chOff x="0" y="0"/>
            <a:chExt cx="2176958" cy="134330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76959" cy="1343306"/>
            </a:xfrm>
            <a:custGeom>
              <a:avLst/>
              <a:gdLst/>
              <a:ahLst/>
              <a:cxnLst/>
              <a:rect l="l" t="t" r="r" b="b"/>
              <a:pathLst>
                <a:path w="2176959" h="1343306">
                  <a:moveTo>
                    <a:pt x="28099" y="0"/>
                  </a:moveTo>
                  <a:lnTo>
                    <a:pt x="2148859" y="0"/>
                  </a:lnTo>
                  <a:cubicBezTo>
                    <a:pt x="2156312" y="0"/>
                    <a:pt x="2163459" y="2960"/>
                    <a:pt x="2168728" y="8230"/>
                  </a:cubicBezTo>
                  <a:cubicBezTo>
                    <a:pt x="2173998" y="13500"/>
                    <a:pt x="2176959" y="20647"/>
                    <a:pt x="2176959" y="28099"/>
                  </a:cubicBezTo>
                  <a:lnTo>
                    <a:pt x="2176959" y="1315207"/>
                  </a:lnTo>
                  <a:cubicBezTo>
                    <a:pt x="2176959" y="1330726"/>
                    <a:pt x="2164378" y="1343306"/>
                    <a:pt x="2148859" y="1343306"/>
                  </a:cubicBezTo>
                  <a:lnTo>
                    <a:pt x="28099" y="1343306"/>
                  </a:lnTo>
                  <a:cubicBezTo>
                    <a:pt x="20647" y="1343306"/>
                    <a:pt x="13500" y="1340346"/>
                    <a:pt x="8230" y="1335076"/>
                  </a:cubicBezTo>
                  <a:cubicBezTo>
                    <a:pt x="2960" y="1329806"/>
                    <a:pt x="0" y="1322659"/>
                    <a:pt x="0" y="1315207"/>
                  </a:cubicBezTo>
                  <a:lnTo>
                    <a:pt x="0" y="28099"/>
                  </a:lnTo>
                  <a:cubicBezTo>
                    <a:pt x="0" y="20647"/>
                    <a:pt x="2960" y="13500"/>
                    <a:pt x="8230" y="8230"/>
                  </a:cubicBezTo>
                  <a:cubicBezTo>
                    <a:pt x="13500" y="2960"/>
                    <a:pt x="20647" y="0"/>
                    <a:pt x="28099" y="0"/>
                  </a:cubicBezTo>
                  <a:close/>
                </a:path>
              </a:pathLst>
            </a:custGeom>
            <a:solidFill>
              <a:srgbClr val="5B3121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2176958" cy="14004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0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 rot="1835434">
            <a:off x="16674599" y="4313733"/>
            <a:ext cx="1521585" cy="870835"/>
          </a:xfrm>
          <a:custGeom>
            <a:avLst/>
            <a:gdLst/>
            <a:ahLst/>
            <a:cxnLst/>
            <a:rect l="l" t="t" r="r" b="b"/>
            <a:pathLst>
              <a:path w="1521585" h="870835">
                <a:moveTo>
                  <a:pt x="0" y="0"/>
                </a:moveTo>
                <a:lnTo>
                  <a:pt x="1521585" y="0"/>
                </a:lnTo>
                <a:lnTo>
                  <a:pt x="1521585" y="870835"/>
                </a:lnTo>
                <a:lnTo>
                  <a:pt x="0" y="87083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8" name="Freeform 8"/>
          <p:cNvSpPr/>
          <p:nvPr/>
        </p:nvSpPr>
        <p:spPr>
          <a:xfrm rot="1513645">
            <a:off x="10796484" y="892873"/>
            <a:ext cx="1152477" cy="884526"/>
          </a:xfrm>
          <a:custGeom>
            <a:avLst/>
            <a:gdLst/>
            <a:ahLst/>
            <a:cxnLst/>
            <a:rect l="l" t="t" r="r" b="b"/>
            <a:pathLst>
              <a:path w="1152477" h="884526">
                <a:moveTo>
                  <a:pt x="0" y="0"/>
                </a:moveTo>
                <a:lnTo>
                  <a:pt x="1152477" y="0"/>
                </a:lnTo>
                <a:lnTo>
                  <a:pt x="1152477" y="884526"/>
                </a:lnTo>
                <a:lnTo>
                  <a:pt x="0" y="88452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9" name="TextBox 9"/>
          <p:cNvSpPr txBox="1"/>
          <p:nvPr/>
        </p:nvSpPr>
        <p:spPr>
          <a:xfrm>
            <a:off x="8571336" y="6128787"/>
            <a:ext cx="6228660" cy="8439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dirty="0" err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Automatización</a:t>
            </a:r>
            <a:r>
              <a:rPr lang="en-US" sz="2400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del control </a:t>
            </a:r>
            <a:r>
              <a:rPr lang="en-US" sz="2400" dirty="0" err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llevado</a:t>
            </a:r>
            <a:endParaRPr lang="en-US" sz="2400" dirty="0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l">
              <a:lnSpc>
                <a:spcPts val="3359"/>
              </a:lnSpc>
            </a:pPr>
            <a:r>
              <a:rPr lang="en-US" sz="2400" dirty="0" err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sobre</a:t>
            </a:r>
            <a:r>
              <a:rPr lang="en-US" sz="2400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la </a:t>
            </a:r>
            <a:r>
              <a:rPr lang="en-US" sz="2400" dirty="0" err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vida</a:t>
            </a:r>
            <a:r>
              <a:rPr lang="en-US" sz="2400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de las </a:t>
            </a:r>
            <a:r>
              <a:rPr lang="en-US" sz="2400" dirty="0" err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mascotas</a:t>
            </a:r>
            <a:endParaRPr lang="en-US" sz="2400" dirty="0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" name="Freeform 10"/>
          <p:cNvSpPr/>
          <p:nvPr/>
        </p:nvSpPr>
        <p:spPr>
          <a:xfrm rot="-1998823">
            <a:off x="16375628" y="8779935"/>
            <a:ext cx="1246555" cy="956731"/>
          </a:xfrm>
          <a:custGeom>
            <a:avLst/>
            <a:gdLst/>
            <a:ahLst/>
            <a:cxnLst/>
            <a:rect l="l" t="t" r="r" b="b"/>
            <a:pathLst>
              <a:path w="1246555" h="956731">
                <a:moveTo>
                  <a:pt x="0" y="0"/>
                </a:moveTo>
                <a:lnTo>
                  <a:pt x="1246555" y="0"/>
                </a:lnTo>
                <a:lnTo>
                  <a:pt x="1246555" y="956730"/>
                </a:lnTo>
                <a:lnTo>
                  <a:pt x="0" y="95673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1" name="Freeform 11"/>
          <p:cNvSpPr/>
          <p:nvPr/>
        </p:nvSpPr>
        <p:spPr>
          <a:xfrm rot="-1688704">
            <a:off x="9293789" y="8811209"/>
            <a:ext cx="1974488" cy="1130041"/>
          </a:xfrm>
          <a:custGeom>
            <a:avLst/>
            <a:gdLst/>
            <a:ahLst/>
            <a:cxnLst/>
            <a:rect l="l" t="t" r="r" b="b"/>
            <a:pathLst>
              <a:path w="1974488" h="1130041">
                <a:moveTo>
                  <a:pt x="0" y="0"/>
                </a:moveTo>
                <a:lnTo>
                  <a:pt x="1974489" y="0"/>
                </a:lnTo>
                <a:lnTo>
                  <a:pt x="1974489" y="1130041"/>
                </a:lnTo>
                <a:lnTo>
                  <a:pt x="0" y="113004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2" name="Freeform 12"/>
          <p:cNvSpPr/>
          <p:nvPr/>
        </p:nvSpPr>
        <p:spPr>
          <a:xfrm rot="2877004">
            <a:off x="14130364" y="5977244"/>
            <a:ext cx="1637486" cy="1256770"/>
          </a:xfrm>
          <a:custGeom>
            <a:avLst/>
            <a:gdLst/>
            <a:ahLst/>
            <a:cxnLst/>
            <a:rect l="l" t="t" r="r" b="b"/>
            <a:pathLst>
              <a:path w="1637486" h="1256770">
                <a:moveTo>
                  <a:pt x="0" y="0"/>
                </a:moveTo>
                <a:lnTo>
                  <a:pt x="1637486" y="0"/>
                </a:lnTo>
                <a:lnTo>
                  <a:pt x="1637486" y="1256771"/>
                </a:lnTo>
                <a:lnTo>
                  <a:pt x="0" y="125677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3" name="Freeform 13"/>
          <p:cNvSpPr/>
          <p:nvPr/>
        </p:nvSpPr>
        <p:spPr>
          <a:xfrm>
            <a:off x="8610084" y="2822670"/>
            <a:ext cx="1350871" cy="773132"/>
          </a:xfrm>
          <a:custGeom>
            <a:avLst/>
            <a:gdLst/>
            <a:ahLst/>
            <a:cxnLst/>
            <a:rect l="l" t="t" r="r" b="b"/>
            <a:pathLst>
              <a:path w="1350871" h="773132">
                <a:moveTo>
                  <a:pt x="0" y="0"/>
                </a:moveTo>
                <a:lnTo>
                  <a:pt x="1350871" y="0"/>
                </a:lnTo>
                <a:lnTo>
                  <a:pt x="1350871" y="773132"/>
                </a:lnTo>
                <a:lnTo>
                  <a:pt x="0" y="7731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4" name="Freeform 14"/>
          <p:cNvSpPr/>
          <p:nvPr/>
        </p:nvSpPr>
        <p:spPr>
          <a:xfrm>
            <a:off x="13390381" y="1028700"/>
            <a:ext cx="3868919" cy="952117"/>
          </a:xfrm>
          <a:custGeom>
            <a:avLst/>
            <a:gdLst/>
            <a:ahLst/>
            <a:cxnLst/>
            <a:rect l="l" t="t" r="r" b="b"/>
            <a:pathLst>
              <a:path w="3868919" h="952117">
                <a:moveTo>
                  <a:pt x="0" y="0"/>
                </a:moveTo>
                <a:lnTo>
                  <a:pt x="3868919" y="0"/>
                </a:lnTo>
                <a:lnTo>
                  <a:pt x="3868919" y="952117"/>
                </a:lnTo>
                <a:lnTo>
                  <a:pt x="0" y="95211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5" name="TextBox 15"/>
          <p:cNvSpPr txBox="1"/>
          <p:nvPr/>
        </p:nvSpPr>
        <p:spPr>
          <a:xfrm>
            <a:off x="8532458" y="3825155"/>
            <a:ext cx="6572781" cy="16911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44"/>
              </a:lnSpc>
            </a:pPr>
            <a:r>
              <a:rPr lang="en-US" sz="6800" b="1" dirty="0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PetCare </a:t>
            </a:r>
            <a:r>
              <a:rPr lang="en-US" sz="6800" b="1" dirty="0" err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Aplicación</a:t>
            </a:r>
            <a:r>
              <a:rPr lang="en-US" sz="6800" b="1" dirty="0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 Web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1813758">
            <a:off x="587717" y="947122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3" name="Freeform 3"/>
          <p:cNvSpPr/>
          <p:nvPr/>
        </p:nvSpPr>
        <p:spPr>
          <a:xfrm rot="-1420549">
            <a:off x="3145497" y="1169997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4"/>
                </a:lnTo>
                <a:lnTo>
                  <a:pt x="0" y="92463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4" name="Freeform 4"/>
          <p:cNvSpPr/>
          <p:nvPr/>
        </p:nvSpPr>
        <p:spPr>
          <a:xfrm rot="2606717">
            <a:off x="15864597" y="1419600"/>
            <a:ext cx="1472695" cy="842854"/>
          </a:xfrm>
          <a:custGeom>
            <a:avLst/>
            <a:gdLst/>
            <a:ahLst/>
            <a:cxnLst/>
            <a:rect l="l" t="t" r="r" b="b"/>
            <a:pathLst>
              <a:path w="1472695" h="842854">
                <a:moveTo>
                  <a:pt x="0" y="0"/>
                </a:moveTo>
                <a:lnTo>
                  <a:pt x="1472695" y="0"/>
                </a:lnTo>
                <a:lnTo>
                  <a:pt x="1472695" y="842854"/>
                </a:lnTo>
                <a:lnTo>
                  <a:pt x="0" y="84285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5" name="Freeform 5"/>
          <p:cNvSpPr/>
          <p:nvPr/>
        </p:nvSpPr>
        <p:spPr>
          <a:xfrm rot="-1420549">
            <a:off x="1785409" y="9066543"/>
            <a:ext cx="1201388" cy="687580"/>
          </a:xfrm>
          <a:custGeom>
            <a:avLst/>
            <a:gdLst/>
            <a:ahLst/>
            <a:cxnLst/>
            <a:rect l="l" t="t" r="r" b="b"/>
            <a:pathLst>
              <a:path w="1201388" h="687580">
                <a:moveTo>
                  <a:pt x="0" y="0"/>
                </a:moveTo>
                <a:lnTo>
                  <a:pt x="1201388" y="0"/>
                </a:lnTo>
                <a:lnTo>
                  <a:pt x="1201388" y="687579"/>
                </a:lnTo>
                <a:lnTo>
                  <a:pt x="0" y="68757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grpSp>
        <p:nvGrpSpPr>
          <p:cNvPr id="6" name="Group 6"/>
          <p:cNvGrpSpPr/>
          <p:nvPr/>
        </p:nvGrpSpPr>
        <p:grpSpPr>
          <a:xfrm>
            <a:off x="2504730" y="2653355"/>
            <a:ext cx="3862083" cy="6595420"/>
            <a:chOff x="0" y="0"/>
            <a:chExt cx="1017199" cy="173715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17199" cy="1737154"/>
            </a:xfrm>
            <a:custGeom>
              <a:avLst/>
              <a:gdLst/>
              <a:ahLst/>
              <a:cxnLst/>
              <a:rect l="l" t="t" r="r" b="b"/>
              <a:pathLst>
                <a:path w="1017199" h="1737154">
                  <a:moveTo>
                    <a:pt x="1017199" y="70161"/>
                  </a:moveTo>
                  <a:lnTo>
                    <a:pt x="1017199" y="1666994"/>
                  </a:lnTo>
                  <a:cubicBezTo>
                    <a:pt x="1017199" y="1685601"/>
                    <a:pt x="1009807" y="1703447"/>
                    <a:pt x="996649" y="1716605"/>
                  </a:cubicBezTo>
                  <a:cubicBezTo>
                    <a:pt x="983492" y="1729762"/>
                    <a:pt x="965646" y="1737154"/>
                    <a:pt x="947038" y="1737154"/>
                  </a:cubicBezTo>
                  <a:lnTo>
                    <a:pt x="70161" y="1737154"/>
                  </a:lnTo>
                  <a:cubicBezTo>
                    <a:pt x="51553" y="1737154"/>
                    <a:pt x="33707" y="1729762"/>
                    <a:pt x="20550" y="1716605"/>
                  </a:cubicBezTo>
                  <a:cubicBezTo>
                    <a:pt x="7392" y="1703447"/>
                    <a:pt x="0" y="1685601"/>
                    <a:pt x="0" y="1666994"/>
                  </a:cubicBezTo>
                  <a:lnTo>
                    <a:pt x="0" y="70161"/>
                  </a:lnTo>
                  <a:cubicBezTo>
                    <a:pt x="0" y="51553"/>
                    <a:pt x="7392" y="33707"/>
                    <a:pt x="20550" y="20550"/>
                  </a:cubicBezTo>
                  <a:cubicBezTo>
                    <a:pt x="33707" y="7392"/>
                    <a:pt x="51553" y="0"/>
                    <a:pt x="70161" y="0"/>
                  </a:cubicBezTo>
                  <a:lnTo>
                    <a:pt x="947038" y="0"/>
                  </a:lnTo>
                  <a:cubicBezTo>
                    <a:pt x="965646" y="0"/>
                    <a:pt x="983492" y="7392"/>
                    <a:pt x="996649" y="20550"/>
                  </a:cubicBezTo>
                  <a:cubicBezTo>
                    <a:pt x="1009807" y="33707"/>
                    <a:pt x="1017199" y="51553"/>
                    <a:pt x="1017199" y="70161"/>
                  </a:cubicBezTo>
                  <a:close/>
                </a:path>
              </a:pathLst>
            </a:custGeom>
            <a:solidFill>
              <a:srgbClr val="5B3121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57150"/>
              <a:ext cx="1017199" cy="17943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06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7055146" y="2653355"/>
            <a:ext cx="3862083" cy="6604945"/>
            <a:chOff x="0" y="0"/>
            <a:chExt cx="1017199" cy="173966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017199" cy="1739663"/>
            </a:xfrm>
            <a:custGeom>
              <a:avLst/>
              <a:gdLst/>
              <a:ahLst/>
              <a:cxnLst/>
              <a:rect l="l" t="t" r="r" b="b"/>
              <a:pathLst>
                <a:path w="1017199" h="1739663">
                  <a:moveTo>
                    <a:pt x="1017199" y="70161"/>
                  </a:moveTo>
                  <a:lnTo>
                    <a:pt x="1017199" y="1669502"/>
                  </a:lnTo>
                  <a:cubicBezTo>
                    <a:pt x="1017199" y="1688110"/>
                    <a:pt x="1009807" y="1705956"/>
                    <a:pt x="996649" y="1719113"/>
                  </a:cubicBezTo>
                  <a:cubicBezTo>
                    <a:pt x="983492" y="1732271"/>
                    <a:pt x="965646" y="1739663"/>
                    <a:pt x="947038" y="1739663"/>
                  </a:cubicBezTo>
                  <a:lnTo>
                    <a:pt x="70161" y="1739663"/>
                  </a:lnTo>
                  <a:cubicBezTo>
                    <a:pt x="51553" y="1739663"/>
                    <a:pt x="33707" y="1732271"/>
                    <a:pt x="20550" y="1719113"/>
                  </a:cubicBezTo>
                  <a:cubicBezTo>
                    <a:pt x="7392" y="1705956"/>
                    <a:pt x="0" y="1688110"/>
                    <a:pt x="0" y="1669502"/>
                  </a:cubicBezTo>
                  <a:lnTo>
                    <a:pt x="0" y="70161"/>
                  </a:lnTo>
                  <a:cubicBezTo>
                    <a:pt x="0" y="51553"/>
                    <a:pt x="7392" y="33707"/>
                    <a:pt x="20550" y="20550"/>
                  </a:cubicBezTo>
                  <a:cubicBezTo>
                    <a:pt x="33707" y="7392"/>
                    <a:pt x="51553" y="0"/>
                    <a:pt x="70161" y="0"/>
                  </a:cubicBezTo>
                  <a:lnTo>
                    <a:pt x="947038" y="0"/>
                  </a:lnTo>
                  <a:cubicBezTo>
                    <a:pt x="965646" y="0"/>
                    <a:pt x="983492" y="7392"/>
                    <a:pt x="996649" y="20550"/>
                  </a:cubicBezTo>
                  <a:cubicBezTo>
                    <a:pt x="1009807" y="33707"/>
                    <a:pt x="1017199" y="51553"/>
                    <a:pt x="1017199" y="70161"/>
                  </a:cubicBezTo>
                  <a:close/>
                </a:path>
              </a:pathLst>
            </a:custGeom>
            <a:solidFill>
              <a:srgbClr val="5B3121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57150"/>
              <a:ext cx="1017199" cy="17968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06"/>
                </a:lnSpc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 rot="-1998823">
            <a:off x="15615258" y="7891331"/>
            <a:ext cx="2509269" cy="1925864"/>
          </a:xfrm>
          <a:custGeom>
            <a:avLst/>
            <a:gdLst/>
            <a:ahLst/>
            <a:cxnLst/>
            <a:rect l="l" t="t" r="r" b="b"/>
            <a:pathLst>
              <a:path w="2509269" h="1925864">
                <a:moveTo>
                  <a:pt x="0" y="0"/>
                </a:moveTo>
                <a:lnTo>
                  <a:pt x="2509269" y="0"/>
                </a:lnTo>
                <a:lnTo>
                  <a:pt x="2509269" y="1925864"/>
                </a:lnTo>
                <a:lnTo>
                  <a:pt x="0" y="192586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grpSp>
        <p:nvGrpSpPr>
          <p:cNvPr id="13" name="Group 13"/>
          <p:cNvGrpSpPr/>
          <p:nvPr/>
        </p:nvGrpSpPr>
        <p:grpSpPr>
          <a:xfrm>
            <a:off x="11605562" y="2653355"/>
            <a:ext cx="3862083" cy="6604945"/>
            <a:chOff x="0" y="0"/>
            <a:chExt cx="1017199" cy="1739663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017199" cy="1739663"/>
            </a:xfrm>
            <a:custGeom>
              <a:avLst/>
              <a:gdLst/>
              <a:ahLst/>
              <a:cxnLst/>
              <a:rect l="l" t="t" r="r" b="b"/>
              <a:pathLst>
                <a:path w="1017199" h="1739663">
                  <a:moveTo>
                    <a:pt x="1017199" y="70161"/>
                  </a:moveTo>
                  <a:lnTo>
                    <a:pt x="1017199" y="1669502"/>
                  </a:lnTo>
                  <a:cubicBezTo>
                    <a:pt x="1017199" y="1688110"/>
                    <a:pt x="1009807" y="1705956"/>
                    <a:pt x="996649" y="1719113"/>
                  </a:cubicBezTo>
                  <a:cubicBezTo>
                    <a:pt x="983492" y="1732271"/>
                    <a:pt x="965646" y="1739663"/>
                    <a:pt x="947038" y="1739663"/>
                  </a:cubicBezTo>
                  <a:lnTo>
                    <a:pt x="70161" y="1739663"/>
                  </a:lnTo>
                  <a:cubicBezTo>
                    <a:pt x="51553" y="1739663"/>
                    <a:pt x="33707" y="1732271"/>
                    <a:pt x="20550" y="1719113"/>
                  </a:cubicBezTo>
                  <a:cubicBezTo>
                    <a:pt x="7392" y="1705956"/>
                    <a:pt x="0" y="1688110"/>
                    <a:pt x="0" y="1669502"/>
                  </a:cubicBezTo>
                  <a:lnTo>
                    <a:pt x="0" y="70161"/>
                  </a:lnTo>
                  <a:cubicBezTo>
                    <a:pt x="0" y="51553"/>
                    <a:pt x="7392" y="33707"/>
                    <a:pt x="20550" y="20550"/>
                  </a:cubicBezTo>
                  <a:cubicBezTo>
                    <a:pt x="33707" y="7392"/>
                    <a:pt x="51553" y="0"/>
                    <a:pt x="70161" y="0"/>
                  </a:cubicBezTo>
                  <a:lnTo>
                    <a:pt x="947038" y="0"/>
                  </a:lnTo>
                  <a:cubicBezTo>
                    <a:pt x="965646" y="0"/>
                    <a:pt x="983492" y="7392"/>
                    <a:pt x="996649" y="20550"/>
                  </a:cubicBezTo>
                  <a:cubicBezTo>
                    <a:pt x="1009807" y="33707"/>
                    <a:pt x="1017199" y="51553"/>
                    <a:pt x="1017199" y="70161"/>
                  </a:cubicBezTo>
                  <a:close/>
                </a:path>
              </a:pathLst>
            </a:custGeom>
            <a:solidFill>
              <a:srgbClr val="5B3121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57150"/>
              <a:ext cx="1017199" cy="17968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06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3710168" y="3107351"/>
            <a:ext cx="1451207" cy="1451207"/>
            <a:chOff x="0" y="0"/>
            <a:chExt cx="6350000" cy="63500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351270" cy="6350000"/>
            </a:xfrm>
            <a:custGeom>
              <a:avLst/>
              <a:gdLst/>
              <a:ahLst/>
              <a:cxnLst/>
              <a:rect l="l" t="t" r="r" b="b"/>
              <a:pathLst>
                <a:path w="6351270" h="6350000">
                  <a:moveTo>
                    <a:pt x="5985510" y="0"/>
                  </a:moveTo>
                  <a:lnTo>
                    <a:pt x="364490" y="0"/>
                  </a:lnTo>
                  <a:cubicBezTo>
                    <a:pt x="162560" y="0"/>
                    <a:pt x="0" y="162560"/>
                    <a:pt x="0" y="364490"/>
                  </a:cubicBezTo>
                  <a:lnTo>
                    <a:pt x="0" y="5986780"/>
                  </a:lnTo>
                  <a:cubicBezTo>
                    <a:pt x="0" y="6187440"/>
                    <a:pt x="162560" y="6350000"/>
                    <a:pt x="364490" y="6350000"/>
                  </a:cubicBezTo>
                  <a:lnTo>
                    <a:pt x="5986780" y="6350000"/>
                  </a:lnTo>
                  <a:cubicBezTo>
                    <a:pt x="6187440" y="6350000"/>
                    <a:pt x="6351270" y="6187440"/>
                    <a:pt x="6351270" y="5985510"/>
                  </a:cubicBezTo>
                  <a:lnTo>
                    <a:pt x="6351270" y="364490"/>
                  </a:lnTo>
                  <a:cubicBezTo>
                    <a:pt x="6350000" y="162560"/>
                    <a:pt x="6187440" y="0"/>
                    <a:pt x="598551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MX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8260584" y="3107351"/>
            <a:ext cx="1451207" cy="1451207"/>
            <a:chOff x="0" y="0"/>
            <a:chExt cx="6350000" cy="63500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6351270" cy="6350000"/>
            </a:xfrm>
            <a:custGeom>
              <a:avLst/>
              <a:gdLst/>
              <a:ahLst/>
              <a:cxnLst/>
              <a:rect l="l" t="t" r="r" b="b"/>
              <a:pathLst>
                <a:path w="6351270" h="6350000">
                  <a:moveTo>
                    <a:pt x="5985510" y="0"/>
                  </a:moveTo>
                  <a:lnTo>
                    <a:pt x="364490" y="0"/>
                  </a:lnTo>
                  <a:cubicBezTo>
                    <a:pt x="162560" y="0"/>
                    <a:pt x="0" y="162560"/>
                    <a:pt x="0" y="364490"/>
                  </a:cubicBezTo>
                  <a:lnTo>
                    <a:pt x="0" y="5986780"/>
                  </a:lnTo>
                  <a:cubicBezTo>
                    <a:pt x="0" y="6187440"/>
                    <a:pt x="162560" y="6350000"/>
                    <a:pt x="364490" y="6350000"/>
                  </a:cubicBezTo>
                  <a:lnTo>
                    <a:pt x="5986780" y="6350000"/>
                  </a:lnTo>
                  <a:cubicBezTo>
                    <a:pt x="6187440" y="6350000"/>
                    <a:pt x="6351270" y="6187440"/>
                    <a:pt x="6351270" y="5985510"/>
                  </a:cubicBezTo>
                  <a:lnTo>
                    <a:pt x="6351270" y="364490"/>
                  </a:lnTo>
                  <a:cubicBezTo>
                    <a:pt x="6350000" y="162560"/>
                    <a:pt x="6187440" y="0"/>
                    <a:pt x="598551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MX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2835144" y="3107351"/>
            <a:ext cx="1451207" cy="1451207"/>
            <a:chOff x="0" y="0"/>
            <a:chExt cx="6350000" cy="63500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6351270" cy="6350000"/>
            </a:xfrm>
            <a:custGeom>
              <a:avLst/>
              <a:gdLst/>
              <a:ahLst/>
              <a:cxnLst/>
              <a:rect l="l" t="t" r="r" b="b"/>
              <a:pathLst>
                <a:path w="6351270" h="6350000">
                  <a:moveTo>
                    <a:pt x="5985510" y="0"/>
                  </a:moveTo>
                  <a:lnTo>
                    <a:pt x="364490" y="0"/>
                  </a:lnTo>
                  <a:cubicBezTo>
                    <a:pt x="162560" y="0"/>
                    <a:pt x="0" y="162560"/>
                    <a:pt x="0" y="364490"/>
                  </a:cubicBezTo>
                  <a:lnTo>
                    <a:pt x="0" y="5986780"/>
                  </a:lnTo>
                  <a:cubicBezTo>
                    <a:pt x="0" y="6187440"/>
                    <a:pt x="162560" y="6350000"/>
                    <a:pt x="364490" y="6350000"/>
                  </a:cubicBezTo>
                  <a:lnTo>
                    <a:pt x="5986780" y="6350000"/>
                  </a:lnTo>
                  <a:cubicBezTo>
                    <a:pt x="6187440" y="6350000"/>
                    <a:pt x="6351270" y="6187440"/>
                    <a:pt x="6351270" y="5985510"/>
                  </a:cubicBezTo>
                  <a:lnTo>
                    <a:pt x="6351270" y="364490"/>
                  </a:lnTo>
                  <a:cubicBezTo>
                    <a:pt x="6350000" y="162560"/>
                    <a:pt x="6187440" y="0"/>
                    <a:pt x="598551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MX"/>
            </a:p>
          </p:txBody>
        </p:sp>
      </p:grpSp>
      <p:sp>
        <p:nvSpPr>
          <p:cNvPr id="22" name="Freeform 22"/>
          <p:cNvSpPr/>
          <p:nvPr/>
        </p:nvSpPr>
        <p:spPr>
          <a:xfrm rot="-2024627">
            <a:off x="46233" y="7450506"/>
            <a:ext cx="1472695" cy="842854"/>
          </a:xfrm>
          <a:custGeom>
            <a:avLst/>
            <a:gdLst/>
            <a:ahLst/>
            <a:cxnLst/>
            <a:rect l="l" t="t" r="r" b="b"/>
            <a:pathLst>
              <a:path w="1472695" h="842854">
                <a:moveTo>
                  <a:pt x="0" y="0"/>
                </a:moveTo>
                <a:lnTo>
                  <a:pt x="1472695" y="0"/>
                </a:lnTo>
                <a:lnTo>
                  <a:pt x="1472695" y="842854"/>
                </a:lnTo>
                <a:lnTo>
                  <a:pt x="0" y="84285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23" name="Freeform 23"/>
          <p:cNvSpPr/>
          <p:nvPr/>
        </p:nvSpPr>
        <p:spPr>
          <a:xfrm>
            <a:off x="14351620" y="76583"/>
            <a:ext cx="3868919" cy="952117"/>
          </a:xfrm>
          <a:custGeom>
            <a:avLst/>
            <a:gdLst/>
            <a:ahLst/>
            <a:cxnLst/>
            <a:rect l="l" t="t" r="r" b="b"/>
            <a:pathLst>
              <a:path w="3868919" h="952117">
                <a:moveTo>
                  <a:pt x="0" y="0"/>
                </a:moveTo>
                <a:lnTo>
                  <a:pt x="3868920" y="0"/>
                </a:lnTo>
                <a:lnTo>
                  <a:pt x="3868920" y="952117"/>
                </a:lnTo>
                <a:lnTo>
                  <a:pt x="0" y="95211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24" name="TextBox 24"/>
          <p:cNvSpPr txBox="1"/>
          <p:nvPr/>
        </p:nvSpPr>
        <p:spPr>
          <a:xfrm>
            <a:off x="3620753" y="174835"/>
            <a:ext cx="10730865" cy="1341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520"/>
              </a:lnSpc>
            </a:pPr>
            <a:r>
              <a:rPr lang="en-US" sz="6800" b="1" dirty="0" err="1">
                <a:solidFill>
                  <a:srgbClr val="5B3121"/>
                </a:solidFill>
                <a:latin typeface="Agrandir Bold"/>
                <a:ea typeface="Agrandir Bold"/>
                <a:cs typeface="Agrandir Bold"/>
                <a:sym typeface="Agrandir Bold"/>
              </a:rPr>
              <a:t>Integrantes</a:t>
            </a:r>
            <a:r>
              <a:rPr lang="en-US" sz="6800" b="1" dirty="0">
                <a:solidFill>
                  <a:srgbClr val="5B3121"/>
                </a:solidFill>
                <a:latin typeface="Agrandir Bold"/>
                <a:ea typeface="Agrandir Bold"/>
                <a:cs typeface="Agrandir Bold"/>
                <a:sym typeface="Agrandir Bold"/>
              </a:rPr>
              <a:t> del Proyecto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213289" y="4661535"/>
            <a:ext cx="3545798" cy="481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Cristóbal Méndez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921848" y="4661535"/>
            <a:ext cx="3229512" cy="481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Christopher Pineda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662873" y="4661535"/>
            <a:ext cx="3545798" cy="481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Alessandra Arriagada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3729940" y="5161442"/>
            <a:ext cx="1148803" cy="3512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Cargo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769016" y="6242554"/>
            <a:ext cx="3333512" cy="422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 dirty="0" err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Funciones</a:t>
            </a:r>
            <a:r>
              <a:rPr lang="en-US" sz="2100" b="1" dirty="0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 </a:t>
            </a:r>
            <a:r>
              <a:rPr lang="en-US" sz="2100" b="1" dirty="0" err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desempeñadas</a:t>
            </a:r>
            <a:endParaRPr lang="en-US" sz="2100" b="1" dirty="0">
              <a:solidFill>
                <a:srgbClr val="FFFFFF"/>
              </a:solidFill>
              <a:latin typeface="Agrandir Bold"/>
              <a:ea typeface="Agrandir Bold"/>
              <a:cs typeface="Agrandir Bold"/>
              <a:sym typeface="Agrandir Bold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8411785" y="5155385"/>
            <a:ext cx="1148803" cy="3512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Cargo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7339173" y="6162433"/>
            <a:ext cx="3333512" cy="422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 dirty="0" err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Funciones</a:t>
            </a:r>
            <a:r>
              <a:rPr lang="en-US" sz="2100" b="1" dirty="0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 </a:t>
            </a:r>
            <a:r>
              <a:rPr lang="en-US" sz="2100" b="1" dirty="0" err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desempeñadas</a:t>
            </a:r>
            <a:endParaRPr lang="en-US" sz="2100" b="1" dirty="0">
              <a:solidFill>
                <a:srgbClr val="FFFFFF"/>
              </a:solidFill>
              <a:latin typeface="Agrandir Bold"/>
              <a:ea typeface="Agrandir Bold"/>
              <a:cs typeface="Agrandir Bold"/>
              <a:sym typeface="Agrandir Bold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12986345" y="5172252"/>
            <a:ext cx="1148803" cy="3512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Cargo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869730" y="6184427"/>
            <a:ext cx="3333512" cy="422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 dirty="0" err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Funciones</a:t>
            </a:r>
            <a:r>
              <a:rPr lang="en-US" sz="2100" b="1" dirty="0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 </a:t>
            </a:r>
            <a:r>
              <a:rPr lang="en-US" sz="2100" b="1" dirty="0" err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desempeñadas</a:t>
            </a:r>
            <a:endParaRPr lang="en-US" sz="2100" b="1" dirty="0">
              <a:solidFill>
                <a:srgbClr val="FFFFFF"/>
              </a:solidFill>
              <a:latin typeface="Agrandir Bold"/>
              <a:ea typeface="Agrandir Bold"/>
              <a:cs typeface="Agrandir Bold"/>
              <a:sym typeface="Agrandir Bold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3431494" y="5551364"/>
            <a:ext cx="2001809" cy="612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76"/>
              </a:lnSpc>
            </a:pPr>
            <a:r>
              <a:rPr lang="en-US" sz="1769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QA y </a:t>
            </a:r>
            <a:r>
              <a:rPr lang="en-US" sz="1769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Desarrollador</a:t>
            </a:r>
            <a:r>
              <a:rPr lang="en-US" sz="1769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Full Stack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7579492" y="5562514"/>
            <a:ext cx="2852874" cy="612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76"/>
              </a:lnSpc>
            </a:pPr>
            <a:r>
              <a:rPr lang="en-US" sz="1769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Arquitecto</a:t>
            </a:r>
            <a:r>
              <a:rPr lang="en-US" sz="1769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de Software y </a:t>
            </a:r>
            <a:r>
              <a:rPr lang="en-US" sz="1769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Desarrollador</a:t>
            </a:r>
            <a:r>
              <a:rPr lang="en-US" sz="1769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Full Stack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2296728" y="5562514"/>
            <a:ext cx="2591517" cy="612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76"/>
              </a:lnSpc>
            </a:pPr>
            <a:r>
              <a:rPr lang="en-US" sz="1769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Project Manager y </a:t>
            </a:r>
            <a:r>
              <a:rPr lang="en-US" sz="1769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Desarrollador</a:t>
            </a:r>
            <a:r>
              <a:rPr lang="en-US" sz="1769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Full Stack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684516" y="7000072"/>
            <a:ext cx="3703940" cy="1987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51162" lvl="1" indent="-175581" algn="l">
              <a:lnSpc>
                <a:spcPts val="2277"/>
              </a:lnSpc>
              <a:buFont typeface="Arial"/>
              <a:buChar char="•"/>
            </a:pPr>
            <a:r>
              <a:rPr lang="en-US" sz="1626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Desarrollo frontend y backend de la </a:t>
            </a:r>
            <a:r>
              <a:rPr lang="en-US" sz="1626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aplicación</a:t>
            </a:r>
            <a:r>
              <a:rPr lang="en-US" sz="1626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web </a:t>
            </a:r>
            <a:r>
              <a:rPr lang="en-US" sz="1626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responsiva</a:t>
            </a:r>
            <a:r>
              <a:rPr lang="en-US" sz="1626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con React, Vite y </a:t>
            </a:r>
            <a:r>
              <a:rPr lang="en-US" sz="1626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TailwindCSS</a:t>
            </a:r>
            <a:r>
              <a:rPr lang="en-US" sz="1626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626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integrados</a:t>
            </a:r>
            <a:r>
              <a:rPr lang="en-US" sz="1626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con </a:t>
            </a:r>
            <a:r>
              <a:rPr lang="en-US" sz="1626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Supabase</a:t>
            </a:r>
            <a:r>
              <a:rPr lang="en-US" sz="1626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marL="351162" lvl="1" indent="-175581" algn="l">
              <a:lnSpc>
                <a:spcPts val="2277"/>
              </a:lnSpc>
              <a:buFont typeface="Arial"/>
              <a:buChar char="•"/>
            </a:pPr>
            <a:r>
              <a:rPr lang="en-US" sz="1626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Planificar</a:t>
            </a:r>
            <a:r>
              <a:rPr lang="en-US" sz="1626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y </a:t>
            </a:r>
            <a:r>
              <a:rPr lang="en-US" sz="1626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organizar</a:t>
            </a:r>
            <a:r>
              <a:rPr lang="en-US" sz="1626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las </a:t>
            </a:r>
            <a:r>
              <a:rPr lang="en-US" sz="1626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actividades</a:t>
            </a:r>
            <a:r>
              <a:rPr lang="en-US" sz="1626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del </a:t>
            </a:r>
            <a:r>
              <a:rPr lang="en-US" sz="1626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proyecto</a:t>
            </a:r>
            <a:r>
              <a:rPr lang="en-US" sz="1626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marL="351162" lvl="1" indent="-175581" algn="l">
              <a:lnSpc>
                <a:spcPts val="2277"/>
              </a:lnSpc>
              <a:buFont typeface="Arial"/>
              <a:buChar char="•"/>
            </a:pPr>
            <a:r>
              <a:rPr lang="en-US" sz="1626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Documentador</a:t>
            </a:r>
            <a:r>
              <a:rPr lang="en-US" sz="1626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2583801" y="7088279"/>
            <a:ext cx="3703940" cy="1987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51162" lvl="1" indent="-175581" algn="l">
              <a:lnSpc>
                <a:spcPts val="2277"/>
              </a:lnSpc>
              <a:buFont typeface="Arial"/>
              <a:buChar char="•"/>
            </a:pPr>
            <a:r>
              <a:rPr lang="en-US" sz="1626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Desarrollo frontend y backend de la </a:t>
            </a:r>
            <a:r>
              <a:rPr lang="en-US" sz="1626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aplicación</a:t>
            </a:r>
            <a:r>
              <a:rPr lang="en-US" sz="1626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web </a:t>
            </a:r>
            <a:r>
              <a:rPr lang="en-US" sz="1626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responsiva</a:t>
            </a:r>
            <a:r>
              <a:rPr lang="en-US" sz="1626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con React, Vite y </a:t>
            </a:r>
            <a:r>
              <a:rPr lang="en-US" sz="1626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TailwindCSS</a:t>
            </a:r>
            <a:r>
              <a:rPr lang="en-US" sz="1626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626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integrados</a:t>
            </a:r>
            <a:r>
              <a:rPr lang="en-US" sz="1626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con </a:t>
            </a:r>
            <a:r>
              <a:rPr lang="en-US" sz="1626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Supabase</a:t>
            </a:r>
            <a:r>
              <a:rPr lang="en-US" sz="1626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marL="351162" lvl="1" indent="-175581" algn="l">
              <a:lnSpc>
                <a:spcPts val="2277"/>
              </a:lnSpc>
              <a:buFont typeface="Arial"/>
              <a:buChar char="•"/>
            </a:pPr>
            <a:r>
              <a:rPr lang="en-US" sz="1626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Pruebas</a:t>
            </a:r>
            <a:r>
              <a:rPr lang="en-US" sz="1626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1626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seguridad</a:t>
            </a:r>
            <a:r>
              <a:rPr lang="en-US" sz="1626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con Postman.</a:t>
            </a:r>
          </a:p>
          <a:p>
            <a:pPr marL="351162" lvl="1" indent="-175581" algn="l">
              <a:lnSpc>
                <a:spcPts val="2277"/>
              </a:lnSpc>
              <a:buFont typeface="Arial"/>
              <a:buChar char="•"/>
            </a:pPr>
            <a:r>
              <a:rPr lang="en-US" sz="1626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Documentador</a:t>
            </a:r>
            <a:r>
              <a:rPr lang="en-US" sz="1626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7134218" y="6915589"/>
            <a:ext cx="3703940" cy="1130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51162" lvl="1" indent="-175581" algn="l">
              <a:lnSpc>
                <a:spcPts val="2277"/>
              </a:lnSpc>
              <a:buFont typeface="Arial"/>
              <a:buChar char="•"/>
            </a:pPr>
            <a:r>
              <a:rPr lang="en-US" sz="1626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Desarrollo frontend y backend de la </a:t>
            </a:r>
            <a:r>
              <a:rPr lang="en-US" sz="1626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aplicación</a:t>
            </a:r>
            <a:r>
              <a:rPr lang="en-US" sz="1626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web </a:t>
            </a:r>
            <a:r>
              <a:rPr lang="en-US" sz="1626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responsiva</a:t>
            </a:r>
            <a:r>
              <a:rPr lang="en-US" sz="1626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con React, Vite y </a:t>
            </a:r>
            <a:r>
              <a:rPr lang="en-US" sz="1626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TailwindCSS</a:t>
            </a:r>
            <a:r>
              <a:rPr lang="en-US" sz="1626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626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integrados</a:t>
            </a:r>
            <a:r>
              <a:rPr lang="en-US" sz="1626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con </a:t>
            </a:r>
            <a:r>
              <a:rPr lang="en-US" sz="1626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Supabase</a:t>
            </a:r>
            <a:r>
              <a:rPr lang="en-US" sz="1626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134218" y="8158297"/>
            <a:ext cx="3439655" cy="2729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51916" lvl="1" indent="-175958" algn="l">
              <a:lnSpc>
                <a:spcPts val="2281"/>
              </a:lnSpc>
              <a:buFont typeface="Arial"/>
              <a:buChar char="•"/>
            </a:pPr>
            <a:r>
              <a:rPr lang="en-US" sz="1629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Documentador</a:t>
            </a:r>
            <a:endParaRPr lang="en-US" sz="1629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41" name="TextBox 41"/>
          <p:cNvSpPr txBox="1"/>
          <p:nvPr/>
        </p:nvSpPr>
        <p:spPr>
          <a:xfrm>
            <a:off x="7134218" y="8543666"/>
            <a:ext cx="3743423" cy="558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51916" lvl="1" indent="-175958" algn="l">
              <a:lnSpc>
                <a:spcPts val="2281"/>
              </a:lnSpc>
              <a:buFont typeface="Arial"/>
              <a:buChar char="•"/>
            </a:pPr>
            <a:r>
              <a:rPr lang="en-US" sz="1629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Definición</a:t>
            </a:r>
            <a:r>
              <a:rPr lang="en-US" sz="1629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de la </a:t>
            </a:r>
            <a:r>
              <a:rPr lang="en-US" sz="1629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arquitectura</a:t>
            </a:r>
            <a:r>
              <a:rPr lang="en-US" sz="1629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de la </a:t>
            </a:r>
            <a:r>
              <a:rPr lang="en-US" sz="1629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aplicación</a:t>
            </a:r>
            <a:r>
              <a:rPr lang="en-US" sz="1629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web </a:t>
            </a:r>
            <a:r>
              <a:rPr lang="en-US" sz="1629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responsiva</a:t>
            </a:r>
            <a:endParaRPr lang="en-US" sz="1629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762701" y="971550"/>
            <a:ext cx="12762599" cy="1087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800"/>
              </a:lnSpc>
            </a:pPr>
            <a:r>
              <a:rPr lang="en-US" sz="6800" b="1">
                <a:solidFill>
                  <a:srgbClr val="5B3121"/>
                </a:solidFill>
                <a:latin typeface="Agrandir Bold"/>
                <a:ea typeface="Agrandir Bold"/>
                <a:cs typeface="Agrandir Bold"/>
                <a:sym typeface="Agrandir Bold"/>
              </a:rPr>
              <a:t>Descripción del proyecto</a:t>
            </a:r>
          </a:p>
        </p:txBody>
      </p:sp>
      <p:sp>
        <p:nvSpPr>
          <p:cNvPr id="3" name="Freeform 3"/>
          <p:cNvSpPr/>
          <p:nvPr/>
        </p:nvSpPr>
        <p:spPr>
          <a:xfrm rot="-1998823">
            <a:off x="13356803" y="7891331"/>
            <a:ext cx="2509269" cy="1925864"/>
          </a:xfrm>
          <a:custGeom>
            <a:avLst/>
            <a:gdLst/>
            <a:ahLst/>
            <a:cxnLst/>
            <a:rect l="l" t="t" r="r" b="b"/>
            <a:pathLst>
              <a:path w="2509269" h="1925864">
                <a:moveTo>
                  <a:pt x="0" y="0"/>
                </a:moveTo>
                <a:lnTo>
                  <a:pt x="2509269" y="0"/>
                </a:lnTo>
                <a:lnTo>
                  <a:pt x="2509269" y="1925864"/>
                </a:lnTo>
                <a:lnTo>
                  <a:pt x="0" y="192586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grpSp>
        <p:nvGrpSpPr>
          <p:cNvPr id="4" name="Group 4"/>
          <p:cNvGrpSpPr/>
          <p:nvPr/>
        </p:nvGrpSpPr>
        <p:grpSpPr>
          <a:xfrm>
            <a:off x="15776534" y="3382270"/>
            <a:ext cx="2221798" cy="5471993"/>
            <a:chOff x="0" y="0"/>
            <a:chExt cx="585165" cy="1441183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5165" cy="1441183"/>
            </a:xfrm>
            <a:custGeom>
              <a:avLst/>
              <a:gdLst/>
              <a:ahLst/>
              <a:cxnLst/>
              <a:rect l="l" t="t" r="r" b="b"/>
              <a:pathLst>
                <a:path w="585165" h="1441183">
                  <a:moveTo>
                    <a:pt x="104536" y="0"/>
                  </a:moveTo>
                  <a:lnTo>
                    <a:pt x="480629" y="0"/>
                  </a:lnTo>
                  <a:cubicBezTo>
                    <a:pt x="508354" y="0"/>
                    <a:pt x="534943" y="11014"/>
                    <a:pt x="554547" y="30618"/>
                  </a:cubicBezTo>
                  <a:cubicBezTo>
                    <a:pt x="574151" y="50222"/>
                    <a:pt x="585165" y="76811"/>
                    <a:pt x="585165" y="104536"/>
                  </a:cubicBezTo>
                  <a:lnTo>
                    <a:pt x="585165" y="1336647"/>
                  </a:lnTo>
                  <a:cubicBezTo>
                    <a:pt x="585165" y="1394381"/>
                    <a:pt x="538362" y="1441183"/>
                    <a:pt x="480629" y="1441183"/>
                  </a:cubicBezTo>
                  <a:lnTo>
                    <a:pt x="104536" y="1441183"/>
                  </a:lnTo>
                  <a:cubicBezTo>
                    <a:pt x="46802" y="1441183"/>
                    <a:pt x="0" y="1394381"/>
                    <a:pt x="0" y="1336647"/>
                  </a:cubicBezTo>
                  <a:lnTo>
                    <a:pt x="0" y="104536"/>
                  </a:lnTo>
                  <a:cubicBezTo>
                    <a:pt x="0" y="46802"/>
                    <a:pt x="46802" y="0"/>
                    <a:pt x="104536" y="0"/>
                  </a:cubicBezTo>
                  <a:close/>
                </a:path>
              </a:pathLst>
            </a:custGeom>
            <a:solidFill>
              <a:srgbClr val="5B3121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85165" cy="14983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0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 rot="1813758">
            <a:off x="587717" y="947122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8" name="Freeform 8"/>
          <p:cNvSpPr/>
          <p:nvPr/>
        </p:nvSpPr>
        <p:spPr>
          <a:xfrm rot="-1720470">
            <a:off x="6562285" y="7382759"/>
            <a:ext cx="1145284" cy="879005"/>
          </a:xfrm>
          <a:custGeom>
            <a:avLst/>
            <a:gdLst/>
            <a:ahLst/>
            <a:cxnLst/>
            <a:rect l="l" t="t" r="r" b="b"/>
            <a:pathLst>
              <a:path w="1145284" h="879005">
                <a:moveTo>
                  <a:pt x="0" y="0"/>
                </a:moveTo>
                <a:lnTo>
                  <a:pt x="1145284" y="0"/>
                </a:lnTo>
                <a:lnTo>
                  <a:pt x="1145284" y="879005"/>
                </a:lnTo>
                <a:lnTo>
                  <a:pt x="0" y="87900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9" name="Freeform 9"/>
          <p:cNvSpPr/>
          <p:nvPr/>
        </p:nvSpPr>
        <p:spPr>
          <a:xfrm rot="2606717">
            <a:off x="15864597" y="1419600"/>
            <a:ext cx="1472695" cy="842854"/>
          </a:xfrm>
          <a:custGeom>
            <a:avLst/>
            <a:gdLst/>
            <a:ahLst/>
            <a:cxnLst/>
            <a:rect l="l" t="t" r="r" b="b"/>
            <a:pathLst>
              <a:path w="1472695" h="842854">
                <a:moveTo>
                  <a:pt x="0" y="0"/>
                </a:moveTo>
                <a:lnTo>
                  <a:pt x="1472695" y="0"/>
                </a:lnTo>
                <a:lnTo>
                  <a:pt x="1472695" y="842854"/>
                </a:lnTo>
                <a:lnTo>
                  <a:pt x="0" y="84285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0" name="Freeform 10"/>
          <p:cNvSpPr/>
          <p:nvPr/>
        </p:nvSpPr>
        <p:spPr>
          <a:xfrm rot="-1420549">
            <a:off x="1785409" y="9066543"/>
            <a:ext cx="1201388" cy="687580"/>
          </a:xfrm>
          <a:custGeom>
            <a:avLst/>
            <a:gdLst/>
            <a:ahLst/>
            <a:cxnLst/>
            <a:rect l="l" t="t" r="r" b="b"/>
            <a:pathLst>
              <a:path w="1201388" h="687580">
                <a:moveTo>
                  <a:pt x="0" y="0"/>
                </a:moveTo>
                <a:lnTo>
                  <a:pt x="1201388" y="0"/>
                </a:lnTo>
                <a:lnTo>
                  <a:pt x="1201388" y="687579"/>
                </a:lnTo>
                <a:lnTo>
                  <a:pt x="0" y="68757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1" name="Freeform 11"/>
          <p:cNvSpPr/>
          <p:nvPr/>
        </p:nvSpPr>
        <p:spPr>
          <a:xfrm rot="-1420549">
            <a:off x="8037779" y="-462317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4"/>
                </a:lnTo>
                <a:lnTo>
                  <a:pt x="0" y="92463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grpSp>
        <p:nvGrpSpPr>
          <p:cNvPr id="12" name="Group 12"/>
          <p:cNvGrpSpPr/>
          <p:nvPr/>
        </p:nvGrpSpPr>
        <p:grpSpPr>
          <a:xfrm>
            <a:off x="0" y="5939746"/>
            <a:ext cx="1328260" cy="2444282"/>
            <a:chOff x="0" y="0"/>
            <a:chExt cx="349830" cy="64376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349830" cy="643761"/>
            </a:xfrm>
            <a:custGeom>
              <a:avLst/>
              <a:gdLst/>
              <a:ahLst/>
              <a:cxnLst/>
              <a:rect l="l" t="t" r="r" b="b"/>
              <a:pathLst>
                <a:path w="349830" h="643761">
                  <a:moveTo>
                    <a:pt x="174859" y="0"/>
                  </a:moveTo>
                  <a:lnTo>
                    <a:pt x="174971" y="0"/>
                  </a:lnTo>
                  <a:cubicBezTo>
                    <a:pt x="271543" y="0"/>
                    <a:pt x="349830" y="78287"/>
                    <a:pt x="349830" y="174859"/>
                  </a:cubicBezTo>
                  <a:lnTo>
                    <a:pt x="349830" y="468903"/>
                  </a:lnTo>
                  <a:cubicBezTo>
                    <a:pt x="349830" y="565475"/>
                    <a:pt x="271543" y="643761"/>
                    <a:pt x="174971" y="643761"/>
                  </a:cubicBezTo>
                  <a:lnTo>
                    <a:pt x="174859" y="643761"/>
                  </a:lnTo>
                  <a:cubicBezTo>
                    <a:pt x="128483" y="643761"/>
                    <a:pt x="84007" y="625339"/>
                    <a:pt x="51215" y="592547"/>
                  </a:cubicBezTo>
                  <a:cubicBezTo>
                    <a:pt x="18423" y="559754"/>
                    <a:pt x="0" y="515278"/>
                    <a:pt x="0" y="468903"/>
                  </a:cubicBezTo>
                  <a:lnTo>
                    <a:pt x="0" y="174859"/>
                  </a:lnTo>
                  <a:cubicBezTo>
                    <a:pt x="0" y="78287"/>
                    <a:pt x="78287" y="0"/>
                    <a:pt x="174859" y="0"/>
                  </a:cubicBezTo>
                  <a:close/>
                </a:path>
              </a:pathLst>
            </a:custGeom>
            <a:solidFill>
              <a:srgbClr val="5B3121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57150"/>
              <a:ext cx="349830" cy="70091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0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697916" y="3885236"/>
            <a:ext cx="5738076" cy="2130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800"/>
              </a:lnSpc>
            </a:pPr>
            <a:r>
              <a:rPr lang="en-US" sz="2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Las rutinas de cuidado de las mascotas suelen quedar desordenadas o se olvidan, afectando su salud y complicando la gestión municipal bajo la Ley de Tenencia Responsable.</a:t>
            </a:r>
          </a:p>
          <a:p>
            <a:pPr algn="just">
              <a:lnSpc>
                <a:spcPts val="2800"/>
              </a:lnSpc>
            </a:pPr>
            <a:endParaRPr lang="en-US" sz="20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9285537" y="3786229"/>
            <a:ext cx="5738076" cy="1425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800"/>
              </a:lnSpc>
            </a:pPr>
            <a:r>
              <a:rPr lang="en-US" sz="2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Una aplicación web responsiva que permita a los usuarios gestionar y monitorear el cumplimiento de las obligaciones asociadas a la tenencia responsable de sus mascotas.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917464" y="3136525"/>
            <a:ext cx="3539246" cy="4248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>
                <a:solidFill>
                  <a:srgbClr val="0B0A0A"/>
                </a:solidFill>
                <a:latin typeface="Poppins Bold"/>
                <a:ea typeface="Poppins Bold"/>
                <a:cs typeface="Poppins Bold"/>
                <a:sym typeface="Poppins Bold"/>
              </a:rPr>
              <a:t>Problema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116240" y="2957455"/>
            <a:ext cx="3539246" cy="4248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>
                <a:solidFill>
                  <a:srgbClr val="0B0A0A"/>
                </a:solidFill>
                <a:latin typeface="Poppins Bold"/>
                <a:ea typeface="Poppins Bold"/>
                <a:cs typeface="Poppins Bold"/>
                <a:sym typeface="Poppins Bold"/>
              </a:rPr>
              <a:t>Solución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242291" y="178692"/>
            <a:ext cx="4361213" cy="4248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>
                <a:solidFill>
                  <a:srgbClr val="5B3121">
                    <a:alpha val="60000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Proyecto “PetCare”</a:t>
            </a:r>
          </a:p>
        </p:txBody>
      </p:sp>
      <p:sp>
        <p:nvSpPr>
          <p:cNvPr id="20" name="Freeform 20"/>
          <p:cNvSpPr/>
          <p:nvPr/>
        </p:nvSpPr>
        <p:spPr>
          <a:xfrm>
            <a:off x="14351620" y="76583"/>
            <a:ext cx="3868919" cy="952117"/>
          </a:xfrm>
          <a:custGeom>
            <a:avLst/>
            <a:gdLst/>
            <a:ahLst/>
            <a:cxnLst/>
            <a:rect l="l" t="t" r="r" b="b"/>
            <a:pathLst>
              <a:path w="3868919" h="952117">
                <a:moveTo>
                  <a:pt x="0" y="0"/>
                </a:moveTo>
                <a:lnTo>
                  <a:pt x="3868920" y="0"/>
                </a:lnTo>
                <a:lnTo>
                  <a:pt x="3868920" y="952117"/>
                </a:lnTo>
                <a:lnTo>
                  <a:pt x="0" y="95211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619705" y="1076325"/>
            <a:ext cx="6172788" cy="2479411"/>
            <a:chOff x="0" y="0"/>
            <a:chExt cx="1625755" cy="65301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25755" cy="653014"/>
            </a:xfrm>
            <a:custGeom>
              <a:avLst/>
              <a:gdLst/>
              <a:ahLst/>
              <a:cxnLst/>
              <a:rect l="l" t="t" r="r" b="b"/>
              <a:pathLst>
                <a:path w="1625755" h="653014">
                  <a:moveTo>
                    <a:pt x="37626" y="0"/>
                  </a:moveTo>
                  <a:lnTo>
                    <a:pt x="1588129" y="0"/>
                  </a:lnTo>
                  <a:cubicBezTo>
                    <a:pt x="1608909" y="0"/>
                    <a:pt x="1625755" y="16846"/>
                    <a:pt x="1625755" y="37626"/>
                  </a:cubicBezTo>
                  <a:lnTo>
                    <a:pt x="1625755" y="615388"/>
                  </a:lnTo>
                  <a:cubicBezTo>
                    <a:pt x="1625755" y="625367"/>
                    <a:pt x="1621791" y="634937"/>
                    <a:pt x="1614734" y="641993"/>
                  </a:cubicBezTo>
                  <a:cubicBezTo>
                    <a:pt x="1607678" y="649050"/>
                    <a:pt x="1598108" y="653014"/>
                    <a:pt x="1588129" y="653014"/>
                  </a:cubicBezTo>
                  <a:lnTo>
                    <a:pt x="37626" y="653014"/>
                  </a:lnTo>
                  <a:cubicBezTo>
                    <a:pt x="27647" y="653014"/>
                    <a:pt x="18077" y="649050"/>
                    <a:pt x="11020" y="641993"/>
                  </a:cubicBezTo>
                  <a:cubicBezTo>
                    <a:pt x="3964" y="634937"/>
                    <a:pt x="0" y="625367"/>
                    <a:pt x="0" y="615388"/>
                  </a:cubicBezTo>
                  <a:lnTo>
                    <a:pt x="0" y="37626"/>
                  </a:lnTo>
                  <a:cubicBezTo>
                    <a:pt x="0" y="27647"/>
                    <a:pt x="3964" y="18077"/>
                    <a:pt x="11020" y="11020"/>
                  </a:cubicBezTo>
                  <a:cubicBezTo>
                    <a:pt x="18077" y="3964"/>
                    <a:pt x="27647" y="0"/>
                    <a:pt x="37626" y="0"/>
                  </a:cubicBezTo>
                  <a:close/>
                </a:path>
              </a:pathLst>
            </a:custGeom>
            <a:solidFill>
              <a:srgbClr val="5B3121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1625755" cy="7101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0199481" y="1597007"/>
            <a:ext cx="6614031" cy="3252566"/>
            <a:chOff x="0" y="0"/>
            <a:chExt cx="1004918" cy="494186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004918" cy="494186"/>
            </a:xfrm>
            <a:custGeom>
              <a:avLst/>
              <a:gdLst/>
              <a:ahLst/>
              <a:cxnLst/>
              <a:rect l="l" t="t" r="r" b="b"/>
              <a:pathLst>
                <a:path w="1004918" h="494186">
                  <a:moveTo>
                    <a:pt x="60868" y="0"/>
                  </a:moveTo>
                  <a:lnTo>
                    <a:pt x="944050" y="0"/>
                  </a:lnTo>
                  <a:cubicBezTo>
                    <a:pt x="977667" y="0"/>
                    <a:pt x="1004918" y="27251"/>
                    <a:pt x="1004918" y="60868"/>
                  </a:cubicBezTo>
                  <a:lnTo>
                    <a:pt x="1004918" y="433318"/>
                  </a:lnTo>
                  <a:cubicBezTo>
                    <a:pt x="1004918" y="466935"/>
                    <a:pt x="977667" y="494186"/>
                    <a:pt x="944050" y="494186"/>
                  </a:cubicBezTo>
                  <a:lnTo>
                    <a:pt x="60868" y="494186"/>
                  </a:lnTo>
                  <a:cubicBezTo>
                    <a:pt x="27251" y="494186"/>
                    <a:pt x="0" y="466935"/>
                    <a:pt x="0" y="433318"/>
                  </a:cubicBezTo>
                  <a:lnTo>
                    <a:pt x="0" y="60868"/>
                  </a:lnTo>
                  <a:cubicBezTo>
                    <a:pt x="0" y="27251"/>
                    <a:pt x="27251" y="0"/>
                    <a:pt x="60868" y="0"/>
                  </a:cubicBezTo>
                  <a:close/>
                </a:path>
              </a:pathLst>
            </a:custGeom>
            <a:blipFill>
              <a:blip r:embed="rId2"/>
              <a:stretch>
                <a:fillRect l="-18630" r="-42787" b="-118690"/>
              </a:stretch>
            </a:blipFill>
          </p:spPr>
          <p:txBody>
            <a:bodyPr/>
            <a:lstStyle/>
            <a:p>
              <a:endParaRPr lang="es-MX"/>
            </a:p>
          </p:txBody>
        </p:sp>
      </p:grpSp>
      <p:sp>
        <p:nvSpPr>
          <p:cNvPr id="7" name="Freeform 7"/>
          <p:cNvSpPr/>
          <p:nvPr/>
        </p:nvSpPr>
        <p:spPr>
          <a:xfrm rot="-1205998">
            <a:off x="4550098" y="8618025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grpSp>
        <p:nvGrpSpPr>
          <p:cNvPr id="8" name="Group 8"/>
          <p:cNvGrpSpPr/>
          <p:nvPr/>
        </p:nvGrpSpPr>
        <p:grpSpPr>
          <a:xfrm>
            <a:off x="8521983" y="7274644"/>
            <a:ext cx="5762041" cy="2479411"/>
            <a:chOff x="0" y="0"/>
            <a:chExt cx="1517575" cy="653014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517575" cy="653014"/>
            </a:xfrm>
            <a:custGeom>
              <a:avLst/>
              <a:gdLst/>
              <a:ahLst/>
              <a:cxnLst/>
              <a:rect l="l" t="t" r="r" b="b"/>
              <a:pathLst>
                <a:path w="1517575" h="653014">
                  <a:moveTo>
                    <a:pt x="40308" y="0"/>
                  </a:moveTo>
                  <a:lnTo>
                    <a:pt x="1477267" y="0"/>
                  </a:lnTo>
                  <a:cubicBezTo>
                    <a:pt x="1499528" y="0"/>
                    <a:pt x="1517575" y="18047"/>
                    <a:pt x="1517575" y="40308"/>
                  </a:cubicBezTo>
                  <a:lnTo>
                    <a:pt x="1517575" y="612705"/>
                  </a:lnTo>
                  <a:cubicBezTo>
                    <a:pt x="1517575" y="634967"/>
                    <a:pt x="1499528" y="653014"/>
                    <a:pt x="1477267" y="653014"/>
                  </a:cubicBezTo>
                  <a:lnTo>
                    <a:pt x="40308" y="653014"/>
                  </a:lnTo>
                  <a:cubicBezTo>
                    <a:pt x="29618" y="653014"/>
                    <a:pt x="19365" y="648767"/>
                    <a:pt x="11806" y="641208"/>
                  </a:cubicBezTo>
                  <a:cubicBezTo>
                    <a:pt x="4247" y="633648"/>
                    <a:pt x="0" y="623396"/>
                    <a:pt x="0" y="612705"/>
                  </a:cubicBezTo>
                  <a:lnTo>
                    <a:pt x="0" y="40308"/>
                  </a:lnTo>
                  <a:cubicBezTo>
                    <a:pt x="0" y="29618"/>
                    <a:pt x="4247" y="19365"/>
                    <a:pt x="11806" y="11806"/>
                  </a:cubicBezTo>
                  <a:cubicBezTo>
                    <a:pt x="19365" y="4247"/>
                    <a:pt x="29618" y="0"/>
                    <a:pt x="40308" y="0"/>
                  </a:cubicBezTo>
                  <a:close/>
                </a:path>
              </a:pathLst>
            </a:custGeom>
            <a:solidFill>
              <a:srgbClr val="5B3121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57150"/>
              <a:ext cx="1517575" cy="7101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199481" y="5437428"/>
            <a:ext cx="6614031" cy="3252566"/>
            <a:chOff x="0" y="0"/>
            <a:chExt cx="1004918" cy="49418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04918" cy="494186"/>
            </a:xfrm>
            <a:custGeom>
              <a:avLst/>
              <a:gdLst/>
              <a:ahLst/>
              <a:cxnLst/>
              <a:rect l="l" t="t" r="r" b="b"/>
              <a:pathLst>
                <a:path w="1004918" h="494186">
                  <a:moveTo>
                    <a:pt x="60868" y="0"/>
                  </a:moveTo>
                  <a:lnTo>
                    <a:pt x="944050" y="0"/>
                  </a:lnTo>
                  <a:cubicBezTo>
                    <a:pt x="977667" y="0"/>
                    <a:pt x="1004918" y="27251"/>
                    <a:pt x="1004918" y="60868"/>
                  </a:cubicBezTo>
                  <a:lnTo>
                    <a:pt x="1004918" y="433318"/>
                  </a:lnTo>
                  <a:cubicBezTo>
                    <a:pt x="1004918" y="466935"/>
                    <a:pt x="977667" y="494186"/>
                    <a:pt x="944050" y="494186"/>
                  </a:cubicBezTo>
                  <a:lnTo>
                    <a:pt x="60868" y="494186"/>
                  </a:lnTo>
                  <a:cubicBezTo>
                    <a:pt x="27251" y="494186"/>
                    <a:pt x="0" y="466935"/>
                    <a:pt x="0" y="433318"/>
                  </a:cubicBezTo>
                  <a:lnTo>
                    <a:pt x="0" y="60868"/>
                  </a:lnTo>
                  <a:cubicBezTo>
                    <a:pt x="0" y="27251"/>
                    <a:pt x="27251" y="0"/>
                    <a:pt x="60868" y="0"/>
                  </a:cubicBezTo>
                  <a:close/>
                </a:path>
              </a:pathLst>
            </a:custGeom>
            <a:blipFill>
              <a:blip r:embed="rId2"/>
              <a:stretch>
                <a:fillRect l="-19723" t="-118090" r="-43471" b="-3006"/>
              </a:stretch>
            </a:blipFill>
          </p:spPr>
          <p:txBody>
            <a:bodyPr/>
            <a:lstStyle/>
            <a:p>
              <a:endParaRPr lang="es-MX"/>
            </a:p>
          </p:txBody>
        </p:sp>
      </p:grpSp>
      <p:sp>
        <p:nvSpPr>
          <p:cNvPr id="13" name="Freeform 13"/>
          <p:cNvSpPr/>
          <p:nvPr/>
        </p:nvSpPr>
        <p:spPr>
          <a:xfrm rot="-1825997">
            <a:off x="314112" y="2616196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6" y="0"/>
                </a:lnTo>
                <a:lnTo>
                  <a:pt x="1429176" y="1096891"/>
                </a:lnTo>
                <a:lnTo>
                  <a:pt x="0" y="109689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4" name="Freeform 14"/>
          <p:cNvSpPr/>
          <p:nvPr/>
        </p:nvSpPr>
        <p:spPr>
          <a:xfrm rot="1026429">
            <a:off x="15700410" y="-400020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1"/>
                </a:lnTo>
                <a:lnTo>
                  <a:pt x="0" y="109689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5" name="Freeform 15"/>
          <p:cNvSpPr/>
          <p:nvPr/>
        </p:nvSpPr>
        <p:spPr>
          <a:xfrm rot="2606717">
            <a:off x="8407652" y="900917"/>
            <a:ext cx="1472695" cy="842854"/>
          </a:xfrm>
          <a:custGeom>
            <a:avLst/>
            <a:gdLst/>
            <a:ahLst/>
            <a:cxnLst/>
            <a:rect l="l" t="t" r="r" b="b"/>
            <a:pathLst>
              <a:path w="1472695" h="842854">
                <a:moveTo>
                  <a:pt x="0" y="0"/>
                </a:moveTo>
                <a:lnTo>
                  <a:pt x="1472696" y="0"/>
                </a:lnTo>
                <a:lnTo>
                  <a:pt x="1472696" y="842854"/>
                </a:lnTo>
                <a:lnTo>
                  <a:pt x="0" y="84285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6" name="Freeform 16"/>
          <p:cNvSpPr/>
          <p:nvPr/>
        </p:nvSpPr>
        <p:spPr>
          <a:xfrm rot="-2181285">
            <a:off x="139476" y="9089678"/>
            <a:ext cx="1472695" cy="842854"/>
          </a:xfrm>
          <a:custGeom>
            <a:avLst/>
            <a:gdLst/>
            <a:ahLst/>
            <a:cxnLst/>
            <a:rect l="l" t="t" r="r" b="b"/>
            <a:pathLst>
              <a:path w="1472695" h="842854">
                <a:moveTo>
                  <a:pt x="0" y="0"/>
                </a:moveTo>
                <a:lnTo>
                  <a:pt x="1472695" y="0"/>
                </a:lnTo>
                <a:lnTo>
                  <a:pt x="1472695" y="842855"/>
                </a:lnTo>
                <a:lnTo>
                  <a:pt x="0" y="84285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7" name="Freeform 17"/>
          <p:cNvSpPr/>
          <p:nvPr/>
        </p:nvSpPr>
        <p:spPr>
          <a:xfrm rot="1509718">
            <a:off x="16688938" y="4872034"/>
            <a:ext cx="1472695" cy="842854"/>
          </a:xfrm>
          <a:custGeom>
            <a:avLst/>
            <a:gdLst/>
            <a:ahLst/>
            <a:cxnLst/>
            <a:rect l="l" t="t" r="r" b="b"/>
            <a:pathLst>
              <a:path w="1472695" h="842854">
                <a:moveTo>
                  <a:pt x="0" y="0"/>
                </a:moveTo>
                <a:lnTo>
                  <a:pt x="1472696" y="0"/>
                </a:lnTo>
                <a:lnTo>
                  <a:pt x="1472696" y="842855"/>
                </a:lnTo>
                <a:lnTo>
                  <a:pt x="0" y="84285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8" name="Freeform 18"/>
          <p:cNvSpPr/>
          <p:nvPr/>
        </p:nvSpPr>
        <p:spPr>
          <a:xfrm>
            <a:off x="1028700" y="2329797"/>
            <a:ext cx="531069" cy="531069"/>
          </a:xfrm>
          <a:custGeom>
            <a:avLst/>
            <a:gdLst/>
            <a:ahLst/>
            <a:cxnLst/>
            <a:rect l="l" t="t" r="r" b="b"/>
            <a:pathLst>
              <a:path w="531069" h="531069">
                <a:moveTo>
                  <a:pt x="0" y="0"/>
                </a:moveTo>
                <a:lnTo>
                  <a:pt x="531069" y="0"/>
                </a:lnTo>
                <a:lnTo>
                  <a:pt x="531069" y="531069"/>
                </a:lnTo>
                <a:lnTo>
                  <a:pt x="0" y="531069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9" name="TextBox 19"/>
          <p:cNvSpPr txBox="1"/>
          <p:nvPr/>
        </p:nvSpPr>
        <p:spPr>
          <a:xfrm>
            <a:off x="2418136" y="4612204"/>
            <a:ext cx="5693100" cy="1778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Desarrollar una aplicación web que permita a los usuarios gestionar y monitorear el cumplimiento de las obligaciones asociadas a la tenencia responsable de sus mascotas.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2418136" y="2077521"/>
            <a:ext cx="6725864" cy="1944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800"/>
              </a:lnSpc>
            </a:pPr>
            <a:r>
              <a:rPr lang="en-US" sz="6800" b="1">
                <a:solidFill>
                  <a:srgbClr val="5B3121"/>
                </a:solidFill>
                <a:latin typeface="Agrandir Bold"/>
                <a:ea typeface="Agrandir Bold"/>
                <a:cs typeface="Agrandir Bold"/>
                <a:sym typeface="Agrandir Bold"/>
              </a:rPr>
              <a:t>Objetivo General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42291" y="178692"/>
            <a:ext cx="4361213" cy="4248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>
                <a:solidFill>
                  <a:srgbClr val="5B3121">
                    <a:alpha val="60000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Proyecto “PetCare”</a:t>
            </a:r>
          </a:p>
        </p:txBody>
      </p:sp>
      <p:sp>
        <p:nvSpPr>
          <p:cNvPr id="22" name="Freeform 22"/>
          <p:cNvSpPr/>
          <p:nvPr/>
        </p:nvSpPr>
        <p:spPr>
          <a:xfrm>
            <a:off x="14351620" y="76583"/>
            <a:ext cx="3868919" cy="952117"/>
          </a:xfrm>
          <a:custGeom>
            <a:avLst/>
            <a:gdLst/>
            <a:ahLst/>
            <a:cxnLst/>
            <a:rect l="l" t="t" r="r" b="b"/>
            <a:pathLst>
              <a:path w="3868919" h="952117">
                <a:moveTo>
                  <a:pt x="0" y="0"/>
                </a:moveTo>
                <a:lnTo>
                  <a:pt x="3868920" y="0"/>
                </a:lnTo>
                <a:lnTo>
                  <a:pt x="3868920" y="952117"/>
                </a:lnTo>
                <a:lnTo>
                  <a:pt x="0" y="95211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853133" y="1028700"/>
            <a:ext cx="6929107" cy="8229600"/>
            <a:chOff x="0" y="0"/>
            <a:chExt cx="899880" cy="106877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99880" cy="1068775"/>
            </a:xfrm>
            <a:custGeom>
              <a:avLst/>
              <a:gdLst/>
              <a:ahLst/>
              <a:cxnLst/>
              <a:rect l="l" t="t" r="r" b="b"/>
              <a:pathLst>
                <a:path w="899880" h="1068775">
                  <a:moveTo>
                    <a:pt x="33519" y="0"/>
                  </a:moveTo>
                  <a:lnTo>
                    <a:pt x="866361" y="0"/>
                  </a:lnTo>
                  <a:cubicBezTo>
                    <a:pt x="875251" y="0"/>
                    <a:pt x="883777" y="3531"/>
                    <a:pt x="890063" y="9818"/>
                  </a:cubicBezTo>
                  <a:cubicBezTo>
                    <a:pt x="896349" y="16104"/>
                    <a:pt x="899880" y="24629"/>
                    <a:pt x="899880" y="33519"/>
                  </a:cubicBezTo>
                  <a:lnTo>
                    <a:pt x="899880" y="1035256"/>
                  </a:lnTo>
                  <a:cubicBezTo>
                    <a:pt x="899880" y="1044145"/>
                    <a:pt x="896349" y="1052671"/>
                    <a:pt x="890063" y="1058957"/>
                  </a:cubicBezTo>
                  <a:cubicBezTo>
                    <a:pt x="883777" y="1065243"/>
                    <a:pt x="875251" y="1068775"/>
                    <a:pt x="866361" y="1068775"/>
                  </a:cubicBezTo>
                  <a:lnTo>
                    <a:pt x="33519" y="1068775"/>
                  </a:lnTo>
                  <a:cubicBezTo>
                    <a:pt x="24629" y="1068775"/>
                    <a:pt x="16104" y="1065243"/>
                    <a:pt x="9818" y="1058957"/>
                  </a:cubicBezTo>
                  <a:cubicBezTo>
                    <a:pt x="3531" y="1052671"/>
                    <a:pt x="0" y="1044145"/>
                    <a:pt x="0" y="1035256"/>
                  </a:cubicBezTo>
                  <a:lnTo>
                    <a:pt x="0" y="33519"/>
                  </a:lnTo>
                  <a:cubicBezTo>
                    <a:pt x="0" y="24629"/>
                    <a:pt x="3531" y="16104"/>
                    <a:pt x="9818" y="9818"/>
                  </a:cubicBezTo>
                  <a:cubicBezTo>
                    <a:pt x="16104" y="3531"/>
                    <a:pt x="24629" y="0"/>
                    <a:pt x="33519" y="0"/>
                  </a:cubicBezTo>
                  <a:close/>
                </a:path>
              </a:pathLst>
            </a:custGeom>
            <a:blipFill>
              <a:blip r:embed="rId2"/>
              <a:stretch>
                <a:fillRect t="-23938" r="-9071" b="-13900"/>
              </a:stretch>
            </a:blip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516344" y="3529085"/>
            <a:ext cx="3862083" cy="5719690"/>
            <a:chOff x="0" y="0"/>
            <a:chExt cx="1017199" cy="150649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017199" cy="1506498"/>
            </a:xfrm>
            <a:custGeom>
              <a:avLst/>
              <a:gdLst/>
              <a:ahLst/>
              <a:cxnLst/>
              <a:rect l="l" t="t" r="r" b="b"/>
              <a:pathLst>
                <a:path w="1017199" h="1506498">
                  <a:moveTo>
                    <a:pt x="1017199" y="70161"/>
                  </a:moveTo>
                  <a:lnTo>
                    <a:pt x="1017199" y="1436337"/>
                  </a:lnTo>
                  <a:cubicBezTo>
                    <a:pt x="1017199" y="1454945"/>
                    <a:pt x="1009807" y="1472790"/>
                    <a:pt x="996649" y="1485948"/>
                  </a:cubicBezTo>
                  <a:cubicBezTo>
                    <a:pt x="983492" y="1499106"/>
                    <a:pt x="965646" y="1506498"/>
                    <a:pt x="947038" y="1506498"/>
                  </a:cubicBezTo>
                  <a:lnTo>
                    <a:pt x="70161" y="1506498"/>
                  </a:lnTo>
                  <a:cubicBezTo>
                    <a:pt x="51553" y="1506498"/>
                    <a:pt x="33707" y="1499106"/>
                    <a:pt x="20550" y="1485948"/>
                  </a:cubicBezTo>
                  <a:cubicBezTo>
                    <a:pt x="7392" y="1472790"/>
                    <a:pt x="0" y="1454945"/>
                    <a:pt x="0" y="1436337"/>
                  </a:cubicBezTo>
                  <a:lnTo>
                    <a:pt x="0" y="70161"/>
                  </a:lnTo>
                  <a:cubicBezTo>
                    <a:pt x="0" y="51553"/>
                    <a:pt x="7392" y="33707"/>
                    <a:pt x="20550" y="20550"/>
                  </a:cubicBezTo>
                  <a:cubicBezTo>
                    <a:pt x="33707" y="7392"/>
                    <a:pt x="51553" y="0"/>
                    <a:pt x="70161" y="0"/>
                  </a:cubicBezTo>
                  <a:lnTo>
                    <a:pt x="947038" y="0"/>
                  </a:lnTo>
                  <a:cubicBezTo>
                    <a:pt x="965646" y="0"/>
                    <a:pt x="983492" y="7392"/>
                    <a:pt x="996649" y="20550"/>
                  </a:cubicBezTo>
                  <a:cubicBezTo>
                    <a:pt x="1009807" y="33707"/>
                    <a:pt x="1017199" y="51553"/>
                    <a:pt x="1017199" y="70161"/>
                  </a:cubicBezTo>
                  <a:close/>
                </a:path>
              </a:pathLst>
            </a:custGeom>
            <a:solidFill>
              <a:srgbClr val="5B3121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1017199" cy="15636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06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 rot="-1420549">
            <a:off x="6428385" y="3933398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5"/>
                </a:lnTo>
                <a:lnTo>
                  <a:pt x="0" y="92463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grpSp>
        <p:nvGrpSpPr>
          <p:cNvPr id="8" name="Group 8"/>
          <p:cNvGrpSpPr/>
          <p:nvPr/>
        </p:nvGrpSpPr>
        <p:grpSpPr>
          <a:xfrm>
            <a:off x="6066760" y="3529085"/>
            <a:ext cx="3862083" cy="5729215"/>
            <a:chOff x="0" y="0"/>
            <a:chExt cx="1017199" cy="150900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17199" cy="1509007"/>
            </a:xfrm>
            <a:custGeom>
              <a:avLst/>
              <a:gdLst/>
              <a:ahLst/>
              <a:cxnLst/>
              <a:rect l="l" t="t" r="r" b="b"/>
              <a:pathLst>
                <a:path w="1017199" h="1509007">
                  <a:moveTo>
                    <a:pt x="1017199" y="70161"/>
                  </a:moveTo>
                  <a:lnTo>
                    <a:pt x="1017199" y="1438846"/>
                  </a:lnTo>
                  <a:cubicBezTo>
                    <a:pt x="1017199" y="1457453"/>
                    <a:pt x="1009807" y="1475299"/>
                    <a:pt x="996649" y="1488457"/>
                  </a:cubicBezTo>
                  <a:cubicBezTo>
                    <a:pt x="983492" y="1501615"/>
                    <a:pt x="965646" y="1509007"/>
                    <a:pt x="947038" y="1509007"/>
                  </a:cubicBezTo>
                  <a:lnTo>
                    <a:pt x="70161" y="1509007"/>
                  </a:lnTo>
                  <a:cubicBezTo>
                    <a:pt x="51553" y="1509007"/>
                    <a:pt x="33707" y="1501615"/>
                    <a:pt x="20550" y="1488457"/>
                  </a:cubicBezTo>
                  <a:cubicBezTo>
                    <a:pt x="7392" y="1475299"/>
                    <a:pt x="0" y="1457453"/>
                    <a:pt x="0" y="1438846"/>
                  </a:cubicBezTo>
                  <a:lnTo>
                    <a:pt x="0" y="70161"/>
                  </a:lnTo>
                  <a:cubicBezTo>
                    <a:pt x="0" y="51553"/>
                    <a:pt x="7392" y="33707"/>
                    <a:pt x="20550" y="20550"/>
                  </a:cubicBezTo>
                  <a:cubicBezTo>
                    <a:pt x="33707" y="7392"/>
                    <a:pt x="51553" y="0"/>
                    <a:pt x="70161" y="0"/>
                  </a:cubicBezTo>
                  <a:lnTo>
                    <a:pt x="947038" y="0"/>
                  </a:lnTo>
                  <a:cubicBezTo>
                    <a:pt x="965646" y="0"/>
                    <a:pt x="983492" y="7392"/>
                    <a:pt x="996649" y="20550"/>
                  </a:cubicBezTo>
                  <a:cubicBezTo>
                    <a:pt x="1009807" y="33707"/>
                    <a:pt x="1017199" y="51553"/>
                    <a:pt x="1017199" y="70161"/>
                  </a:cubicBezTo>
                  <a:close/>
                </a:path>
              </a:pathLst>
            </a:custGeom>
            <a:solidFill>
              <a:srgbClr val="5B3121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57150"/>
              <a:ext cx="1017199" cy="15661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06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2949143" y="4147014"/>
            <a:ext cx="996486" cy="996486"/>
          </a:xfrm>
          <a:custGeom>
            <a:avLst/>
            <a:gdLst/>
            <a:ahLst/>
            <a:cxnLst/>
            <a:rect l="l" t="t" r="r" b="b"/>
            <a:pathLst>
              <a:path w="996486" h="996486">
                <a:moveTo>
                  <a:pt x="0" y="0"/>
                </a:moveTo>
                <a:lnTo>
                  <a:pt x="996486" y="0"/>
                </a:lnTo>
                <a:lnTo>
                  <a:pt x="996486" y="996486"/>
                </a:lnTo>
                <a:lnTo>
                  <a:pt x="0" y="99648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2" name="Freeform 12"/>
          <p:cNvSpPr/>
          <p:nvPr/>
        </p:nvSpPr>
        <p:spPr>
          <a:xfrm>
            <a:off x="7499559" y="4147014"/>
            <a:ext cx="996486" cy="996486"/>
          </a:xfrm>
          <a:custGeom>
            <a:avLst/>
            <a:gdLst/>
            <a:ahLst/>
            <a:cxnLst/>
            <a:rect l="l" t="t" r="r" b="b"/>
            <a:pathLst>
              <a:path w="996486" h="996486">
                <a:moveTo>
                  <a:pt x="0" y="0"/>
                </a:moveTo>
                <a:lnTo>
                  <a:pt x="996486" y="0"/>
                </a:lnTo>
                <a:lnTo>
                  <a:pt x="996486" y="996486"/>
                </a:lnTo>
                <a:lnTo>
                  <a:pt x="0" y="99648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3" name="Freeform 13"/>
          <p:cNvSpPr/>
          <p:nvPr/>
        </p:nvSpPr>
        <p:spPr>
          <a:xfrm rot="-1825997">
            <a:off x="10218874" y="9134564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grpSp>
        <p:nvGrpSpPr>
          <p:cNvPr id="14" name="Group 14"/>
          <p:cNvGrpSpPr/>
          <p:nvPr/>
        </p:nvGrpSpPr>
        <p:grpSpPr>
          <a:xfrm>
            <a:off x="10617176" y="3529085"/>
            <a:ext cx="3862083" cy="5729215"/>
            <a:chOff x="0" y="0"/>
            <a:chExt cx="1017199" cy="1509006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17199" cy="1509007"/>
            </a:xfrm>
            <a:custGeom>
              <a:avLst/>
              <a:gdLst/>
              <a:ahLst/>
              <a:cxnLst/>
              <a:rect l="l" t="t" r="r" b="b"/>
              <a:pathLst>
                <a:path w="1017199" h="1509007">
                  <a:moveTo>
                    <a:pt x="1017199" y="70161"/>
                  </a:moveTo>
                  <a:lnTo>
                    <a:pt x="1017199" y="1438846"/>
                  </a:lnTo>
                  <a:cubicBezTo>
                    <a:pt x="1017199" y="1457453"/>
                    <a:pt x="1009807" y="1475299"/>
                    <a:pt x="996649" y="1488457"/>
                  </a:cubicBezTo>
                  <a:cubicBezTo>
                    <a:pt x="983492" y="1501615"/>
                    <a:pt x="965646" y="1509007"/>
                    <a:pt x="947038" y="1509007"/>
                  </a:cubicBezTo>
                  <a:lnTo>
                    <a:pt x="70161" y="1509007"/>
                  </a:lnTo>
                  <a:cubicBezTo>
                    <a:pt x="51553" y="1509007"/>
                    <a:pt x="33707" y="1501615"/>
                    <a:pt x="20550" y="1488457"/>
                  </a:cubicBezTo>
                  <a:cubicBezTo>
                    <a:pt x="7392" y="1475299"/>
                    <a:pt x="0" y="1457453"/>
                    <a:pt x="0" y="1438846"/>
                  </a:cubicBezTo>
                  <a:lnTo>
                    <a:pt x="0" y="70161"/>
                  </a:lnTo>
                  <a:cubicBezTo>
                    <a:pt x="0" y="51553"/>
                    <a:pt x="7392" y="33707"/>
                    <a:pt x="20550" y="20550"/>
                  </a:cubicBezTo>
                  <a:cubicBezTo>
                    <a:pt x="33707" y="7392"/>
                    <a:pt x="51553" y="0"/>
                    <a:pt x="70161" y="0"/>
                  </a:cubicBezTo>
                  <a:lnTo>
                    <a:pt x="947038" y="0"/>
                  </a:lnTo>
                  <a:cubicBezTo>
                    <a:pt x="965646" y="0"/>
                    <a:pt x="983492" y="7392"/>
                    <a:pt x="996649" y="20550"/>
                  </a:cubicBezTo>
                  <a:cubicBezTo>
                    <a:pt x="1009807" y="33707"/>
                    <a:pt x="1017199" y="51553"/>
                    <a:pt x="1017199" y="70161"/>
                  </a:cubicBezTo>
                  <a:close/>
                </a:path>
              </a:pathLst>
            </a:custGeom>
            <a:solidFill>
              <a:srgbClr val="5B3121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1017199" cy="15661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06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2049975" y="4147014"/>
            <a:ext cx="996486" cy="996486"/>
          </a:xfrm>
          <a:custGeom>
            <a:avLst/>
            <a:gdLst/>
            <a:ahLst/>
            <a:cxnLst/>
            <a:rect l="l" t="t" r="r" b="b"/>
            <a:pathLst>
              <a:path w="996486" h="996486">
                <a:moveTo>
                  <a:pt x="0" y="0"/>
                </a:moveTo>
                <a:lnTo>
                  <a:pt x="996486" y="0"/>
                </a:lnTo>
                <a:lnTo>
                  <a:pt x="996486" y="996486"/>
                </a:lnTo>
                <a:lnTo>
                  <a:pt x="0" y="99648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8" name="Freeform 18"/>
          <p:cNvSpPr/>
          <p:nvPr/>
        </p:nvSpPr>
        <p:spPr>
          <a:xfrm rot="2235456">
            <a:off x="-99028" y="3503102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9" name="Freeform 19"/>
          <p:cNvSpPr/>
          <p:nvPr/>
        </p:nvSpPr>
        <p:spPr>
          <a:xfrm rot="1294656">
            <a:off x="12631286" y="-373946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1"/>
                </a:lnTo>
                <a:lnTo>
                  <a:pt x="0" y="109689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20" name="Freeform 20"/>
          <p:cNvSpPr/>
          <p:nvPr/>
        </p:nvSpPr>
        <p:spPr>
          <a:xfrm rot="1760731">
            <a:off x="122915" y="9089631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5"/>
                </a:lnTo>
                <a:lnTo>
                  <a:pt x="0" y="92463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21" name="TextBox 21"/>
          <p:cNvSpPr txBox="1"/>
          <p:nvPr/>
        </p:nvSpPr>
        <p:spPr>
          <a:xfrm>
            <a:off x="1808077" y="7050684"/>
            <a:ext cx="3278618" cy="1768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</a:pPr>
            <a:r>
              <a:rPr lang="en-US" sz="1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registren la información personal, clínica y de hábitos de sus mascotas en los primeros 6 meses de uso de la plataforma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383046" y="7050684"/>
            <a:ext cx="3278618" cy="1768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</a:pPr>
            <a:r>
              <a:rPr lang="en-US" sz="1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programe y cumpla rutinas con alertas inteligentes en un periodo de 6 meses, desde la implementación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832630" y="5446674"/>
            <a:ext cx="3229512" cy="126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Lograr que al menos el 50% de los usuarios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224903" y="5446674"/>
            <a:ext cx="3545798" cy="126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Conseguir que el 80% de los usuarios activos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840358" y="7050684"/>
            <a:ext cx="3278618" cy="1416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</a:pPr>
            <a:r>
              <a:rPr lang="en-US" sz="1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utilice la función de comparativas de gastos durante los primeros 6 meses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0958015" y="5446674"/>
            <a:ext cx="3229512" cy="126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Lograr que al menos el 60% de los usuarios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516344" y="1471049"/>
            <a:ext cx="9588765" cy="1143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480"/>
              </a:lnSpc>
              <a:spcBef>
                <a:spcPct val="0"/>
              </a:spcBef>
            </a:pPr>
            <a:r>
              <a:rPr lang="en-US" sz="6800" b="1">
                <a:solidFill>
                  <a:srgbClr val="5B3121"/>
                </a:solidFill>
                <a:latin typeface="Agrandir Bold"/>
                <a:ea typeface="Agrandir Bold"/>
                <a:cs typeface="Agrandir Bold"/>
                <a:sym typeface="Agrandir Bold"/>
              </a:rPr>
              <a:t>Objetivos específicos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42291" y="178692"/>
            <a:ext cx="4361213" cy="4248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>
                <a:solidFill>
                  <a:srgbClr val="5B3121">
                    <a:alpha val="60000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Proyecto “PetCare”</a:t>
            </a:r>
          </a:p>
        </p:txBody>
      </p:sp>
      <p:sp>
        <p:nvSpPr>
          <p:cNvPr id="29" name="Freeform 29"/>
          <p:cNvSpPr/>
          <p:nvPr/>
        </p:nvSpPr>
        <p:spPr>
          <a:xfrm>
            <a:off x="14351620" y="76583"/>
            <a:ext cx="3868919" cy="952117"/>
          </a:xfrm>
          <a:custGeom>
            <a:avLst/>
            <a:gdLst/>
            <a:ahLst/>
            <a:cxnLst/>
            <a:rect l="l" t="t" r="r" b="b"/>
            <a:pathLst>
              <a:path w="3868919" h="952117">
                <a:moveTo>
                  <a:pt x="0" y="0"/>
                </a:moveTo>
                <a:lnTo>
                  <a:pt x="3868920" y="0"/>
                </a:lnTo>
                <a:lnTo>
                  <a:pt x="3868920" y="952117"/>
                </a:lnTo>
                <a:lnTo>
                  <a:pt x="0" y="95211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2606717">
            <a:off x="9199312" y="2181026"/>
            <a:ext cx="1472695" cy="842854"/>
          </a:xfrm>
          <a:custGeom>
            <a:avLst/>
            <a:gdLst/>
            <a:ahLst/>
            <a:cxnLst/>
            <a:rect l="l" t="t" r="r" b="b"/>
            <a:pathLst>
              <a:path w="1472695" h="842854">
                <a:moveTo>
                  <a:pt x="0" y="0"/>
                </a:moveTo>
                <a:lnTo>
                  <a:pt x="1472695" y="0"/>
                </a:lnTo>
                <a:lnTo>
                  <a:pt x="1472695" y="842855"/>
                </a:lnTo>
                <a:lnTo>
                  <a:pt x="0" y="84285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grpSp>
        <p:nvGrpSpPr>
          <p:cNvPr id="3" name="Group 3"/>
          <p:cNvGrpSpPr/>
          <p:nvPr/>
        </p:nvGrpSpPr>
        <p:grpSpPr>
          <a:xfrm>
            <a:off x="9678627" y="1977634"/>
            <a:ext cx="6827629" cy="7976659"/>
            <a:chOff x="0" y="0"/>
            <a:chExt cx="1798223" cy="21008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798223" cy="2100849"/>
            </a:xfrm>
            <a:custGeom>
              <a:avLst/>
              <a:gdLst/>
              <a:ahLst/>
              <a:cxnLst/>
              <a:rect l="l" t="t" r="r" b="b"/>
              <a:pathLst>
                <a:path w="1798223" h="2100849">
                  <a:moveTo>
                    <a:pt x="34017" y="0"/>
                  </a:moveTo>
                  <a:lnTo>
                    <a:pt x="1764206" y="0"/>
                  </a:lnTo>
                  <a:cubicBezTo>
                    <a:pt x="1782993" y="0"/>
                    <a:pt x="1798223" y="15230"/>
                    <a:pt x="1798223" y="34017"/>
                  </a:cubicBezTo>
                  <a:lnTo>
                    <a:pt x="1798223" y="2066831"/>
                  </a:lnTo>
                  <a:cubicBezTo>
                    <a:pt x="1798223" y="2085618"/>
                    <a:pt x="1782993" y="2100849"/>
                    <a:pt x="1764206" y="2100849"/>
                  </a:cubicBezTo>
                  <a:lnTo>
                    <a:pt x="34017" y="2100849"/>
                  </a:lnTo>
                  <a:cubicBezTo>
                    <a:pt x="15230" y="2100849"/>
                    <a:pt x="0" y="2085618"/>
                    <a:pt x="0" y="2066831"/>
                  </a:cubicBezTo>
                  <a:lnTo>
                    <a:pt x="0" y="34017"/>
                  </a:lnTo>
                  <a:cubicBezTo>
                    <a:pt x="0" y="15230"/>
                    <a:pt x="15230" y="0"/>
                    <a:pt x="34017" y="0"/>
                  </a:cubicBezTo>
                  <a:close/>
                </a:path>
              </a:pathLst>
            </a:custGeom>
            <a:solidFill>
              <a:srgbClr val="5B3121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66675"/>
              <a:ext cx="1798223" cy="216752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60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 rot="-1555976">
            <a:off x="2308940" y="771088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7" name="Freeform 7"/>
          <p:cNvSpPr/>
          <p:nvPr/>
        </p:nvSpPr>
        <p:spPr>
          <a:xfrm rot="1455677">
            <a:off x="16957836" y="6960928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1"/>
                </a:lnTo>
                <a:lnTo>
                  <a:pt x="0" y="10968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8" name="Freeform 8"/>
          <p:cNvSpPr/>
          <p:nvPr/>
        </p:nvSpPr>
        <p:spPr>
          <a:xfrm rot="-785146">
            <a:off x="6293881" y="9042561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9" name="Freeform 9"/>
          <p:cNvSpPr/>
          <p:nvPr/>
        </p:nvSpPr>
        <p:spPr>
          <a:xfrm rot="-2024627">
            <a:off x="14923519" y="8836873"/>
            <a:ext cx="1472695" cy="842854"/>
          </a:xfrm>
          <a:custGeom>
            <a:avLst/>
            <a:gdLst/>
            <a:ahLst/>
            <a:cxnLst/>
            <a:rect l="l" t="t" r="r" b="b"/>
            <a:pathLst>
              <a:path w="1472695" h="842854">
                <a:moveTo>
                  <a:pt x="0" y="0"/>
                </a:moveTo>
                <a:lnTo>
                  <a:pt x="1472695" y="0"/>
                </a:lnTo>
                <a:lnTo>
                  <a:pt x="1472695" y="842854"/>
                </a:lnTo>
                <a:lnTo>
                  <a:pt x="0" y="84285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0" name="Freeform 10"/>
          <p:cNvSpPr/>
          <p:nvPr/>
        </p:nvSpPr>
        <p:spPr>
          <a:xfrm rot="-2024627">
            <a:off x="25713" y="8085442"/>
            <a:ext cx="1472695" cy="842854"/>
          </a:xfrm>
          <a:custGeom>
            <a:avLst/>
            <a:gdLst/>
            <a:ahLst/>
            <a:cxnLst/>
            <a:rect l="l" t="t" r="r" b="b"/>
            <a:pathLst>
              <a:path w="1472695" h="842854">
                <a:moveTo>
                  <a:pt x="0" y="0"/>
                </a:moveTo>
                <a:lnTo>
                  <a:pt x="1472695" y="0"/>
                </a:lnTo>
                <a:lnTo>
                  <a:pt x="1472695" y="842854"/>
                </a:lnTo>
                <a:lnTo>
                  <a:pt x="0" y="84285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grpSp>
        <p:nvGrpSpPr>
          <p:cNvPr id="11" name="Group 11"/>
          <p:cNvGrpSpPr/>
          <p:nvPr/>
        </p:nvGrpSpPr>
        <p:grpSpPr>
          <a:xfrm>
            <a:off x="-1036" y="2317907"/>
            <a:ext cx="1109449" cy="3772709"/>
            <a:chOff x="0" y="0"/>
            <a:chExt cx="292201" cy="99363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92201" cy="993635"/>
            </a:xfrm>
            <a:custGeom>
              <a:avLst/>
              <a:gdLst/>
              <a:ahLst/>
              <a:cxnLst/>
              <a:rect l="l" t="t" r="r" b="b"/>
              <a:pathLst>
                <a:path w="292201" h="993635">
                  <a:moveTo>
                    <a:pt x="146100" y="0"/>
                  </a:moveTo>
                  <a:lnTo>
                    <a:pt x="146100" y="0"/>
                  </a:lnTo>
                  <a:cubicBezTo>
                    <a:pt x="184848" y="0"/>
                    <a:pt x="222010" y="15393"/>
                    <a:pt x="249409" y="42792"/>
                  </a:cubicBezTo>
                  <a:cubicBezTo>
                    <a:pt x="276808" y="70191"/>
                    <a:pt x="292201" y="107352"/>
                    <a:pt x="292201" y="146100"/>
                  </a:cubicBezTo>
                  <a:lnTo>
                    <a:pt x="292201" y="847535"/>
                  </a:lnTo>
                  <a:cubicBezTo>
                    <a:pt x="292201" y="886283"/>
                    <a:pt x="276808" y="923444"/>
                    <a:pt x="249409" y="950844"/>
                  </a:cubicBezTo>
                  <a:cubicBezTo>
                    <a:pt x="222010" y="978243"/>
                    <a:pt x="184848" y="993635"/>
                    <a:pt x="146100" y="993635"/>
                  </a:cubicBezTo>
                  <a:lnTo>
                    <a:pt x="146100" y="993635"/>
                  </a:lnTo>
                  <a:cubicBezTo>
                    <a:pt x="107352" y="993635"/>
                    <a:pt x="70191" y="978243"/>
                    <a:pt x="42792" y="950844"/>
                  </a:cubicBezTo>
                  <a:cubicBezTo>
                    <a:pt x="15393" y="923444"/>
                    <a:pt x="0" y="886283"/>
                    <a:pt x="0" y="847535"/>
                  </a:cubicBezTo>
                  <a:lnTo>
                    <a:pt x="0" y="146100"/>
                  </a:lnTo>
                  <a:cubicBezTo>
                    <a:pt x="0" y="107352"/>
                    <a:pt x="15393" y="70191"/>
                    <a:pt x="42792" y="42792"/>
                  </a:cubicBezTo>
                  <a:cubicBezTo>
                    <a:pt x="70191" y="15393"/>
                    <a:pt x="107352" y="0"/>
                    <a:pt x="146100" y="0"/>
                  </a:cubicBezTo>
                  <a:close/>
                </a:path>
              </a:pathLst>
            </a:custGeom>
            <a:solidFill>
              <a:srgbClr val="5B3121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292201" cy="10507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0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679118" y="3036980"/>
            <a:ext cx="821282" cy="821282"/>
            <a:chOff x="0" y="0"/>
            <a:chExt cx="1095043" cy="1095043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095043" cy="1095043"/>
              <a:chOff x="0" y="0"/>
              <a:chExt cx="812800" cy="8128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B3121"/>
              </a:solidFill>
            </p:spPr>
            <p:txBody>
              <a:bodyPr/>
              <a:lstStyle/>
              <a:p>
                <a:endParaRPr lang="es-MX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76200" y="-9525"/>
                <a:ext cx="660400" cy="7461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39"/>
                  </a:lnSpc>
                </a:pPr>
                <a:endParaRPr/>
              </a:p>
            </p:txBody>
          </p:sp>
        </p:grpSp>
        <p:sp>
          <p:nvSpPr>
            <p:cNvPr id="18" name="Freeform 18"/>
            <p:cNvSpPr/>
            <p:nvPr/>
          </p:nvSpPr>
          <p:spPr>
            <a:xfrm>
              <a:off x="302635" y="241413"/>
              <a:ext cx="489774" cy="612217"/>
            </a:xfrm>
            <a:custGeom>
              <a:avLst/>
              <a:gdLst/>
              <a:ahLst/>
              <a:cxnLst/>
              <a:rect l="l" t="t" r="r" b="b"/>
              <a:pathLst>
                <a:path w="489774" h="612217">
                  <a:moveTo>
                    <a:pt x="0" y="0"/>
                  </a:moveTo>
                  <a:lnTo>
                    <a:pt x="489773" y="0"/>
                  </a:lnTo>
                  <a:lnTo>
                    <a:pt x="489773" y="612217"/>
                  </a:lnTo>
                  <a:lnTo>
                    <a:pt x="0" y="6122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MX"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2792941" y="3230134"/>
            <a:ext cx="5590287" cy="457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9"/>
              </a:lnSpc>
            </a:pPr>
            <a:r>
              <a:rPr lang="en-US" sz="2599">
                <a:solidFill>
                  <a:srgbClr val="0B0A0A"/>
                </a:solidFill>
                <a:latin typeface="Poppins"/>
                <a:ea typeface="Poppins"/>
                <a:cs typeface="Poppins"/>
                <a:sym typeface="Poppins"/>
              </a:rPr>
              <a:t>Gestión de usuarios y mascotas.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679118" y="4463579"/>
            <a:ext cx="821282" cy="821282"/>
            <a:chOff x="0" y="0"/>
            <a:chExt cx="1095043" cy="1095043"/>
          </a:xfrm>
        </p:grpSpPr>
        <p:grpSp>
          <p:nvGrpSpPr>
            <p:cNvPr id="21" name="Group 21"/>
            <p:cNvGrpSpPr/>
            <p:nvPr/>
          </p:nvGrpSpPr>
          <p:grpSpPr>
            <a:xfrm>
              <a:off x="0" y="0"/>
              <a:ext cx="1095043" cy="1095043"/>
              <a:chOff x="0" y="0"/>
              <a:chExt cx="812800" cy="81280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B3121"/>
              </a:solidFill>
            </p:spPr>
            <p:txBody>
              <a:bodyPr/>
              <a:lstStyle/>
              <a:p>
                <a:endParaRPr lang="es-MX"/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6200" y="-9525"/>
                <a:ext cx="660400" cy="7461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39"/>
                  </a:lnSpc>
                </a:pPr>
                <a:endParaRPr/>
              </a:p>
            </p:txBody>
          </p:sp>
        </p:grpSp>
        <p:sp>
          <p:nvSpPr>
            <p:cNvPr id="24" name="Freeform 24"/>
            <p:cNvSpPr/>
            <p:nvPr/>
          </p:nvSpPr>
          <p:spPr>
            <a:xfrm>
              <a:off x="233155" y="233155"/>
              <a:ext cx="628732" cy="628732"/>
            </a:xfrm>
            <a:custGeom>
              <a:avLst/>
              <a:gdLst/>
              <a:ahLst/>
              <a:cxnLst/>
              <a:rect l="l" t="t" r="r" b="b"/>
              <a:pathLst>
                <a:path w="628732" h="628732">
                  <a:moveTo>
                    <a:pt x="0" y="0"/>
                  </a:moveTo>
                  <a:lnTo>
                    <a:pt x="628733" y="0"/>
                  </a:lnTo>
                  <a:lnTo>
                    <a:pt x="628733" y="628733"/>
                  </a:lnTo>
                  <a:lnTo>
                    <a:pt x="0" y="6287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MX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679118" y="5894461"/>
            <a:ext cx="821282" cy="821282"/>
            <a:chOff x="0" y="0"/>
            <a:chExt cx="1095043" cy="1095043"/>
          </a:xfrm>
        </p:grpSpPr>
        <p:grpSp>
          <p:nvGrpSpPr>
            <p:cNvPr id="26" name="Group 26"/>
            <p:cNvGrpSpPr/>
            <p:nvPr/>
          </p:nvGrpSpPr>
          <p:grpSpPr>
            <a:xfrm>
              <a:off x="0" y="0"/>
              <a:ext cx="1095043" cy="1095043"/>
              <a:chOff x="0" y="0"/>
              <a:chExt cx="812800" cy="812800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B3121"/>
              </a:solidFill>
            </p:spPr>
            <p:txBody>
              <a:bodyPr/>
              <a:lstStyle/>
              <a:p>
                <a:endParaRPr lang="es-MX"/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76200" y="-9525"/>
                <a:ext cx="660400" cy="7461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39"/>
                  </a:lnSpc>
                </a:pPr>
                <a:endParaRPr/>
              </a:p>
            </p:txBody>
          </p:sp>
        </p:grpSp>
        <p:sp>
          <p:nvSpPr>
            <p:cNvPr id="29" name="Freeform 29"/>
            <p:cNvSpPr/>
            <p:nvPr/>
          </p:nvSpPr>
          <p:spPr>
            <a:xfrm>
              <a:off x="273248" y="212299"/>
              <a:ext cx="548546" cy="670445"/>
            </a:xfrm>
            <a:custGeom>
              <a:avLst/>
              <a:gdLst/>
              <a:ahLst/>
              <a:cxnLst/>
              <a:rect l="l" t="t" r="r" b="b"/>
              <a:pathLst>
                <a:path w="548546" h="670445">
                  <a:moveTo>
                    <a:pt x="0" y="0"/>
                  </a:moveTo>
                  <a:lnTo>
                    <a:pt x="548547" y="0"/>
                  </a:lnTo>
                  <a:lnTo>
                    <a:pt x="548547" y="670445"/>
                  </a:lnTo>
                  <a:lnTo>
                    <a:pt x="0" y="670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MX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679118" y="7325344"/>
            <a:ext cx="821282" cy="821282"/>
            <a:chOff x="0" y="0"/>
            <a:chExt cx="1095043" cy="1095043"/>
          </a:xfrm>
        </p:grpSpPr>
        <p:grpSp>
          <p:nvGrpSpPr>
            <p:cNvPr id="31" name="Group 31"/>
            <p:cNvGrpSpPr/>
            <p:nvPr/>
          </p:nvGrpSpPr>
          <p:grpSpPr>
            <a:xfrm>
              <a:off x="0" y="0"/>
              <a:ext cx="1095043" cy="1095043"/>
              <a:chOff x="0" y="0"/>
              <a:chExt cx="812800" cy="8128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B3121"/>
              </a:solidFill>
            </p:spPr>
            <p:txBody>
              <a:bodyPr/>
              <a:lstStyle/>
              <a:p>
                <a:endParaRPr lang="es-MX"/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6200" y="-9525"/>
                <a:ext cx="660400" cy="7461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39"/>
                  </a:lnSpc>
                </a:pPr>
                <a:endParaRPr/>
              </a:p>
            </p:txBody>
          </p:sp>
        </p:grpSp>
        <p:sp>
          <p:nvSpPr>
            <p:cNvPr id="34" name="Freeform 34"/>
            <p:cNvSpPr/>
            <p:nvPr/>
          </p:nvSpPr>
          <p:spPr>
            <a:xfrm>
              <a:off x="204453" y="211743"/>
              <a:ext cx="686138" cy="671557"/>
            </a:xfrm>
            <a:custGeom>
              <a:avLst/>
              <a:gdLst/>
              <a:ahLst/>
              <a:cxnLst/>
              <a:rect l="l" t="t" r="r" b="b"/>
              <a:pathLst>
                <a:path w="686138" h="671557">
                  <a:moveTo>
                    <a:pt x="0" y="0"/>
                  </a:moveTo>
                  <a:lnTo>
                    <a:pt x="686137" y="0"/>
                  </a:lnTo>
                  <a:lnTo>
                    <a:pt x="686137" y="671557"/>
                  </a:lnTo>
                  <a:lnTo>
                    <a:pt x="0" y="67155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MX"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679118" y="8756226"/>
            <a:ext cx="821282" cy="821282"/>
            <a:chOff x="0" y="0"/>
            <a:chExt cx="1095043" cy="1095043"/>
          </a:xfrm>
        </p:grpSpPr>
        <p:grpSp>
          <p:nvGrpSpPr>
            <p:cNvPr id="36" name="Group 36"/>
            <p:cNvGrpSpPr/>
            <p:nvPr/>
          </p:nvGrpSpPr>
          <p:grpSpPr>
            <a:xfrm>
              <a:off x="0" y="0"/>
              <a:ext cx="1095043" cy="1095043"/>
              <a:chOff x="0" y="0"/>
              <a:chExt cx="812800" cy="81280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B3121"/>
              </a:solidFill>
            </p:spPr>
            <p:txBody>
              <a:bodyPr/>
              <a:lstStyle/>
              <a:p>
                <a:endParaRPr lang="es-MX"/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76200" y="-9525"/>
                <a:ext cx="660400" cy="7461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39"/>
                  </a:lnSpc>
                </a:pPr>
                <a:endParaRPr/>
              </a:p>
            </p:txBody>
          </p:sp>
        </p:grpSp>
        <p:sp>
          <p:nvSpPr>
            <p:cNvPr id="39" name="Freeform 39"/>
            <p:cNvSpPr/>
            <p:nvPr/>
          </p:nvSpPr>
          <p:spPr>
            <a:xfrm>
              <a:off x="205420" y="252887"/>
              <a:ext cx="684203" cy="589270"/>
            </a:xfrm>
            <a:custGeom>
              <a:avLst/>
              <a:gdLst/>
              <a:ahLst/>
              <a:cxnLst/>
              <a:rect l="l" t="t" r="r" b="b"/>
              <a:pathLst>
                <a:path w="684203" h="589270">
                  <a:moveTo>
                    <a:pt x="0" y="0"/>
                  </a:moveTo>
                  <a:lnTo>
                    <a:pt x="684203" y="0"/>
                  </a:lnTo>
                  <a:lnTo>
                    <a:pt x="684203" y="589269"/>
                  </a:lnTo>
                  <a:lnTo>
                    <a:pt x="0" y="5892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MX"/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3994056" y="518017"/>
            <a:ext cx="10299887" cy="1143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480"/>
              </a:lnSpc>
            </a:pPr>
            <a:r>
              <a:rPr lang="en-US" sz="6800" b="1">
                <a:solidFill>
                  <a:srgbClr val="5B3121"/>
                </a:solidFill>
                <a:latin typeface="Agrandir Bold"/>
                <a:ea typeface="Agrandir Bold"/>
                <a:cs typeface="Agrandir Bold"/>
                <a:sym typeface="Agrandir Bold"/>
              </a:rPr>
              <a:t>Alcance y limitaciones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9997002" y="3001515"/>
            <a:ext cx="6203787" cy="5947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2689" lvl="1" indent="-226344" algn="l">
              <a:lnSpc>
                <a:spcPts val="2935"/>
              </a:lnSpc>
              <a:buFont typeface="Arial"/>
              <a:buChar char="•"/>
            </a:pPr>
            <a:r>
              <a:rPr lang="en-US" sz="2096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Funciones de diagnóstico, recomendaciones médicas o cualquier decisión que deba ser realizada por un veterinario.</a:t>
            </a:r>
          </a:p>
          <a:p>
            <a:pPr algn="l">
              <a:lnSpc>
                <a:spcPts val="2935"/>
              </a:lnSpc>
            </a:pPr>
            <a:endParaRPr lang="en-US" sz="2096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2689" lvl="1" indent="-226344" algn="l">
              <a:lnSpc>
                <a:spcPts val="2935"/>
              </a:lnSpc>
              <a:buFont typeface="Arial"/>
              <a:buChar char="•"/>
            </a:pPr>
            <a:r>
              <a:rPr lang="en-US" sz="2096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Integración con dispositivos inteligentes (collares GPS, comederos automáticos, etc.).</a:t>
            </a:r>
          </a:p>
          <a:p>
            <a:pPr algn="l">
              <a:lnSpc>
                <a:spcPts val="2935"/>
              </a:lnSpc>
            </a:pPr>
            <a:endParaRPr lang="en-US" sz="2096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2689" lvl="1" indent="-226344" algn="l">
              <a:lnSpc>
                <a:spcPts val="2935"/>
              </a:lnSpc>
              <a:buFont typeface="Arial"/>
              <a:buChar char="•"/>
            </a:pPr>
            <a:r>
              <a:rPr lang="en-US" sz="2096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Procesamiento avanzado con inteligencia artificial.</a:t>
            </a:r>
          </a:p>
          <a:p>
            <a:pPr algn="l">
              <a:lnSpc>
                <a:spcPts val="2935"/>
              </a:lnSpc>
            </a:pPr>
            <a:endParaRPr lang="en-US" sz="2096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2689" lvl="1" indent="-226344" algn="l">
              <a:lnSpc>
                <a:spcPts val="2935"/>
              </a:lnSpc>
              <a:buFont typeface="Arial"/>
              <a:buChar char="•"/>
            </a:pPr>
            <a:r>
              <a:rPr lang="en-US" sz="2096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Gestión financiera avanzada (pagos electrónicos, integración con bancos o pasarelas de pago).</a:t>
            </a:r>
          </a:p>
          <a:p>
            <a:pPr algn="l">
              <a:lnSpc>
                <a:spcPts val="2935"/>
              </a:lnSpc>
            </a:pPr>
            <a:endParaRPr lang="en-US" sz="2096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2" name="TextBox 42"/>
          <p:cNvSpPr txBox="1"/>
          <p:nvPr/>
        </p:nvSpPr>
        <p:spPr>
          <a:xfrm>
            <a:off x="2490875" y="2308382"/>
            <a:ext cx="4244474" cy="4248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60"/>
              </a:lnSpc>
              <a:spcBef>
                <a:spcPct val="0"/>
              </a:spcBef>
            </a:pPr>
            <a:r>
              <a:rPr lang="en-US" sz="2400" b="1">
                <a:solidFill>
                  <a:srgbClr val="0B0A0A"/>
                </a:solidFill>
                <a:latin typeface="Poppins Bold"/>
                <a:ea typeface="Poppins Bold"/>
                <a:cs typeface="Poppins Bold"/>
                <a:sym typeface="Poppins Bold"/>
              </a:rPr>
              <a:t>Alcances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108184" y="2317907"/>
            <a:ext cx="3968515" cy="4248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60"/>
              </a:lnSpc>
              <a:spcBef>
                <a:spcPct val="0"/>
              </a:spcBef>
            </a:pPr>
            <a:r>
              <a:rPr lang="en-US" sz="24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Limitaciones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2792941" y="4656733"/>
            <a:ext cx="5590287" cy="457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9"/>
              </a:lnSpc>
            </a:pPr>
            <a:r>
              <a:rPr lang="en-US" sz="2599">
                <a:solidFill>
                  <a:srgbClr val="0B0A0A"/>
                </a:solidFill>
                <a:latin typeface="Poppins"/>
                <a:ea typeface="Poppins"/>
                <a:cs typeface="Poppins"/>
                <a:sym typeface="Poppins"/>
              </a:rPr>
              <a:t>Rutinas y alertas automatizadas.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2792941" y="6087615"/>
            <a:ext cx="5590287" cy="457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9"/>
              </a:lnSpc>
            </a:pPr>
            <a:r>
              <a:rPr lang="en-US" sz="2599">
                <a:solidFill>
                  <a:srgbClr val="0B0A0A"/>
                </a:solidFill>
                <a:latin typeface="Poppins"/>
                <a:ea typeface="Poppins"/>
                <a:cs typeface="Poppins"/>
                <a:sym typeface="Poppins"/>
              </a:rPr>
              <a:t>Bitácora clínica y documentos.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2792941" y="7518497"/>
            <a:ext cx="5247699" cy="457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9"/>
              </a:lnSpc>
            </a:pPr>
            <a:r>
              <a:rPr lang="en-US" sz="2599">
                <a:solidFill>
                  <a:srgbClr val="0B0A0A"/>
                </a:solidFill>
                <a:latin typeface="Poppins"/>
                <a:ea typeface="Poppins"/>
                <a:cs typeface="Poppins"/>
                <a:sym typeface="Poppins"/>
              </a:rPr>
              <a:t>Módulo de gastos y métricas.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2792941" y="8949380"/>
            <a:ext cx="4434055" cy="457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9"/>
              </a:lnSpc>
            </a:pPr>
            <a:r>
              <a:rPr lang="en-US" sz="2599">
                <a:solidFill>
                  <a:srgbClr val="0B0A0A"/>
                </a:solidFill>
                <a:latin typeface="Poppins"/>
                <a:ea typeface="Poppins"/>
                <a:cs typeface="Poppins"/>
                <a:sym typeface="Poppins"/>
              </a:rPr>
              <a:t>Módulo de análisis.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42291" y="178692"/>
            <a:ext cx="4361213" cy="4248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>
                <a:solidFill>
                  <a:srgbClr val="5B3121">
                    <a:alpha val="60000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Proyecto “PetCare”</a:t>
            </a:r>
          </a:p>
        </p:txBody>
      </p:sp>
      <p:sp>
        <p:nvSpPr>
          <p:cNvPr id="49" name="Freeform 49"/>
          <p:cNvSpPr/>
          <p:nvPr/>
        </p:nvSpPr>
        <p:spPr>
          <a:xfrm>
            <a:off x="14351620" y="76583"/>
            <a:ext cx="3868919" cy="952117"/>
          </a:xfrm>
          <a:custGeom>
            <a:avLst/>
            <a:gdLst/>
            <a:ahLst/>
            <a:cxnLst/>
            <a:rect l="l" t="t" r="r" b="b"/>
            <a:pathLst>
              <a:path w="3868919" h="952117">
                <a:moveTo>
                  <a:pt x="0" y="0"/>
                </a:moveTo>
                <a:lnTo>
                  <a:pt x="3868920" y="0"/>
                </a:lnTo>
                <a:lnTo>
                  <a:pt x="3868920" y="952117"/>
                </a:lnTo>
                <a:lnTo>
                  <a:pt x="0" y="952117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000193" y="1474121"/>
            <a:ext cx="6754304" cy="5024800"/>
            <a:chOff x="0" y="0"/>
            <a:chExt cx="993688" cy="73924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93688" cy="739245"/>
            </a:xfrm>
            <a:custGeom>
              <a:avLst/>
              <a:gdLst/>
              <a:ahLst/>
              <a:cxnLst/>
              <a:rect l="l" t="t" r="r" b="b"/>
              <a:pathLst>
                <a:path w="993688" h="739245">
                  <a:moveTo>
                    <a:pt x="57311" y="0"/>
                  </a:moveTo>
                  <a:lnTo>
                    <a:pt x="936377" y="0"/>
                  </a:lnTo>
                  <a:cubicBezTo>
                    <a:pt x="968029" y="0"/>
                    <a:pt x="993688" y="25659"/>
                    <a:pt x="993688" y="57311"/>
                  </a:cubicBezTo>
                  <a:lnTo>
                    <a:pt x="993688" y="681934"/>
                  </a:lnTo>
                  <a:cubicBezTo>
                    <a:pt x="993688" y="713586"/>
                    <a:pt x="968029" y="739245"/>
                    <a:pt x="936377" y="739245"/>
                  </a:cubicBezTo>
                  <a:lnTo>
                    <a:pt x="57311" y="739245"/>
                  </a:lnTo>
                  <a:cubicBezTo>
                    <a:pt x="42111" y="739245"/>
                    <a:pt x="27534" y="733207"/>
                    <a:pt x="16786" y="722459"/>
                  </a:cubicBezTo>
                  <a:cubicBezTo>
                    <a:pt x="6038" y="711711"/>
                    <a:pt x="0" y="697134"/>
                    <a:pt x="0" y="681934"/>
                  </a:cubicBezTo>
                  <a:lnTo>
                    <a:pt x="0" y="57311"/>
                  </a:lnTo>
                  <a:cubicBezTo>
                    <a:pt x="0" y="25659"/>
                    <a:pt x="25659" y="0"/>
                    <a:pt x="57311" y="0"/>
                  </a:cubicBezTo>
                  <a:close/>
                </a:path>
              </a:pathLst>
            </a:custGeom>
            <a:blipFill>
              <a:blip r:embed="rId2"/>
              <a:stretch>
                <a:fillRect t="-50722" b="-50722"/>
              </a:stretch>
            </a:blipFill>
          </p:spPr>
          <p:txBody>
            <a:bodyPr/>
            <a:lstStyle/>
            <a:p>
              <a:endParaRPr lang="es-MX"/>
            </a:p>
          </p:txBody>
        </p:sp>
      </p:grpSp>
      <p:sp>
        <p:nvSpPr>
          <p:cNvPr id="4" name="Freeform 4"/>
          <p:cNvSpPr/>
          <p:nvPr/>
        </p:nvSpPr>
        <p:spPr>
          <a:xfrm rot="1687147">
            <a:off x="16047433" y="1354851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5"/>
                </a:lnTo>
                <a:lnTo>
                  <a:pt x="0" y="92463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grpSp>
        <p:nvGrpSpPr>
          <p:cNvPr id="5" name="Group 5"/>
          <p:cNvGrpSpPr/>
          <p:nvPr/>
        </p:nvGrpSpPr>
        <p:grpSpPr>
          <a:xfrm>
            <a:off x="17259300" y="1026928"/>
            <a:ext cx="2221798" cy="5471993"/>
            <a:chOff x="0" y="0"/>
            <a:chExt cx="585165" cy="144118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85165" cy="1441183"/>
            </a:xfrm>
            <a:custGeom>
              <a:avLst/>
              <a:gdLst/>
              <a:ahLst/>
              <a:cxnLst/>
              <a:rect l="l" t="t" r="r" b="b"/>
              <a:pathLst>
                <a:path w="585165" h="1441183">
                  <a:moveTo>
                    <a:pt x="104536" y="0"/>
                  </a:moveTo>
                  <a:lnTo>
                    <a:pt x="480629" y="0"/>
                  </a:lnTo>
                  <a:cubicBezTo>
                    <a:pt x="508354" y="0"/>
                    <a:pt x="534943" y="11014"/>
                    <a:pt x="554547" y="30618"/>
                  </a:cubicBezTo>
                  <a:cubicBezTo>
                    <a:pt x="574151" y="50222"/>
                    <a:pt x="585165" y="76811"/>
                    <a:pt x="585165" y="104536"/>
                  </a:cubicBezTo>
                  <a:lnTo>
                    <a:pt x="585165" y="1336647"/>
                  </a:lnTo>
                  <a:cubicBezTo>
                    <a:pt x="585165" y="1394381"/>
                    <a:pt x="538362" y="1441183"/>
                    <a:pt x="480629" y="1441183"/>
                  </a:cubicBezTo>
                  <a:lnTo>
                    <a:pt x="104536" y="1441183"/>
                  </a:lnTo>
                  <a:cubicBezTo>
                    <a:pt x="46802" y="1441183"/>
                    <a:pt x="0" y="1394381"/>
                    <a:pt x="0" y="1336647"/>
                  </a:cubicBezTo>
                  <a:lnTo>
                    <a:pt x="0" y="104536"/>
                  </a:lnTo>
                  <a:cubicBezTo>
                    <a:pt x="0" y="46802"/>
                    <a:pt x="46802" y="0"/>
                    <a:pt x="104536" y="0"/>
                  </a:cubicBezTo>
                  <a:close/>
                </a:path>
              </a:pathLst>
            </a:custGeom>
            <a:solidFill>
              <a:srgbClr val="5B3121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585165" cy="14983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0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 rot="2266949">
            <a:off x="186195" y="3138067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1"/>
                </a:lnTo>
                <a:lnTo>
                  <a:pt x="0" y="109689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9" name="Freeform 9"/>
          <p:cNvSpPr/>
          <p:nvPr/>
        </p:nvSpPr>
        <p:spPr>
          <a:xfrm rot="-1185263">
            <a:off x="15098779" y="8980861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0" name="Freeform 10"/>
          <p:cNvSpPr/>
          <p:nvPr/>
        </p:nvSpPr>
        <p:spPr>
          <a:xfrm rot="1700383">
            <a:off x="8840844" y="-548446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1" name="Freeform 11"/>
          <p:cNvSpPr/>
          <p:nvPr/>
        </p:nvSpPr>
        <p:spPr>
          <a:xfrm rot="-1420549">
            <a:off x="1018441" y="8284872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5"/>
                </a:lnTo>
                <a:lnTo>
                  <a:pt x="0" y="92463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2" name="Freeform 12"/>
          <p:cNvSpPr/>
          <p:nvPr/>
        </p:nvSpPr>
        <p:spPr>
          <a:xfrm rot="1687147">
            <a:off x="10887897" y="8994174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5"/>
                </a:lnTo>
                <a:lnTo>
                  <a:pt x="0" y="92463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3" name="Freeform 13"/>
          <p:cNvSpPr/>
          <p:nvPr/>
        </p:nvSpPr>
        <p:spPr>
          <a:xfrm>
            <a:off x="8940108" y="2340102"/>
            <a:ext cx="531069" cy="531069"/>
          </a:xfrm>
          <a:custGeom>
            <a:avLst/>
            <a:gdLst/>
            <a:ahLst/>
            <a:cxnLst/>
            <a:rect l="l" t="t" r="r" b="b"/>
            <a:pathLst>
              <a:path w="531069" h="531069">
                <a:moveTo>
                  <a:pt x="0" y="0"/>
                </a:moveTo>
                <a:lnTo>
                  <a:pt x="531069" y="0"/>
                </a:lnTo>
                <a:lnTo>
                  <a:pt x="531069" y="531069"/>
                </a:lnTo>
                <a:lnTo>
                  <a:pt x="0" y="531069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4" name="Freeform 14"/>
          <p:cNvSpPr/>
          <p:nvPr/>
        </p:nvSpPr>
        <p:spPr>
          <a:xfrm>
            <a:off x="5075768" y="6039869"/>
            <a:ext cx="603155" cy="281784"/>
          </a:xfrm>
          <a:custGeom>
            <a:avLst/>
            <a:gdLst/>
            <a:ahLst/>
            <a:cxnLst/>
            <a:rect l="l" t="t" r="r" b="b"/>
            <a:pathLst>
              <a:path w="603155" h="281784">
                <a:moveTo>
                  <a:pt x="0" y="0"/>
                </a:moveTo>
                <a:lnTo>
                  <a:pt x="603155" y="0"/>
                </a:lnTo>
                <a:lnTo>
                  <a:pt x="603155" y="281783"/>
                </a:lnTo>
                <a:lnTo>
                  <a:pt x="0" y="281783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5" name="Freeform 15"/>
          <p:cNvSpPr/>
          <p:nvPr/>
        </p:nvSpPr>
        <p:spPr>
          <a:xfrm>
            <a:off x="3248630" y="5524582"/>
            <a:ext cx="5408979" cy="3753677"/>
          </a:xfrm>
          <a:custGeom>
            <a:avLst/>
            <a:gdLst/>
            <a:ahLst/>
            <a:cxnLst/>
            <a:rect l="l" t="t" r="r" b="b"/>
            <a:pathLst>
              <a:path w="5408979" h="3753677">
                <a:moveTo>
                  <a:pt x="0" y="0"/>
                </a:moveTo>
                <a:lnTo>
                  <a:pt x="5408979" y="0"/>
                </a:lnTo>
                <a:lnTo>
                  <a:pt x="5408979" y="3753677"/>
                </a:lnTo>
                <a:lnTo>
                  <a:pt x="0" y="375367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-2178" r="-2178"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6" name="TextBox 16"/>
          <p:cNvSpPr txBox="1"/>
          <p:nvPr/>
        </p:nvSpPr>
        <p:spPr>
          <a:xfrm>
            <a:off x="9629159" y="2186282"/>
            <a:ext cx="6658648" cy="4915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80"/>
              </a:lnSpc>
            </a:pPr>
            <a:r>
              <a:rPr lang="en-US" sz="6800" b="1">
                <a:solidFill>
                  <a:srgbClr val="5B3121"/>
                </a:solidFill>
                <a:latin typeface="Agrandir Bold"/>
                <a:ea typeface="Agrandir Bold"/>
                <a:cs typeface="Agrandir Bold"/>
                <a:sym typeface="Agrandir Bold"/>
              </a:rPr>
              <a:t>Metodología de trabajo para el desarrollo del proyecto</a:t>
            </a:r>
          </a:p>
          <a:p>
            <a:pPr algn="l">
              <a:lnSpc>
                <a:spcPts val="7480"/>
              </a:lnSpc>
            </a:pPr>
            <a:endParaRPr lang="en-US" sz="6800" b="1">
              <a:solidFill>
                <a:srgbClr val="5B3121"/>
              </a:solidFill>
              <a:latin typeface="Agrandir Bold"/>
              <a:ea typeface="Agrandir Bold"/>
              <a:cs typeface="Agrandir Bold"/>
              <a:sym typeface="Agrandir Bold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9629159" y="6815983"/>
            <a:ext cx="6009671" cy="1425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Para el desarrollo de este proyecto se ha decidido utilizar una metodología híbrida, que combina elementos del enfoque tradicional en cascada y de la metodología ágil de Scrum.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42291" y="178692"/>
            <a:ext cx="4361213" cy="4248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>
                <a:solidFill>
                  <a:srgbClr val="5B3121">
                    <a:alpha val="60000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Proyecto “PetCare”</a:t>
            </a:r>
          </a:p>
        </p:txBody>
      </p:sp>
      <p:sp>
        <p:nvSpPr>
          <p:cNvPr id="19" name="Freeform 19"/>
          <p:cNvSpPr/>
          <p:nvPr/>
        </p:nvSpPr>
        <p:spPr>
          <a:xfrm>
            <a:off x="14351620" y="76583"/>
            <a:ext cx="3868919" cy="952117"/>
          </a:xfrm>
          <a:custGeom>
            <a:avLst/>
            <a:gdLst/>
            <a:ahLst/>
            <a:cxnLst/>
            <a:rect l="l" t="t" r="r" b="b"/>
            <a:pathLst>
              <a:path w="3868919" h="952117">
                <a:moveTo>
                  <a:pt x="0" y="0"/>
                </a:moveTo>
                <a:lnTo>
                  <a:pt x="3868920" y="0"/>
                </a:lnTo>
                <a:lnTo>
                  <a:pt x="3868920" y="952117"/>
                </a:lnTo>
                <a:lnTo>
                  <a:pt x="0" y="95211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7043809" y="5819928"/>
            <a:ext cx="1380745" cy="5471993"/>
            <a:chOff x="0" y="0"/>
            <a:chExt cx="363653" cy="144118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63653" cy="1441183"/>
            </a:xfrm>
            <a:custGeom>
              <a:avLst/>
              <a:gdLst/>
              <a:ahLst/>
              <a:cxnLst/>
              <a:rect l="l" t="t" r="r" b="b"/>
              <a:pathLst>
                <a:path w="363653" h="1441183">
                  <a:moveTo>
                    <a:pt x="168212" y="0"/>
                  </a:moveTo>
                  <a:lnTo>
                    <a:pt x="195441" y="0"/>
                  </a:lnTo>
                  <a:cubicBezTo>
                    <a:pt x="240054" y="0"/>
                    <a:pt x="282839" y="17722"/>
                    <a:pt x="314385" y="49268"/>
                  </a:cubicBezTo>
                  <a:cubicBezTo>
                    <a:pt x="345931" y="80814"/>
                    <a:pt x="363653" y="123599"/>
                    <a:pt x="363653" y="168212"/>
                  </a:cubicBezTo>
                  <a:lnTo>
                    <a:pt x="363653" y="1272972"/>
                  </a:lnTo>
                  <a:cubicBezTo>
                    <a:pt x="363653" y="1317584"/>
                    <a:pt x="345931" y="1360369"/>
                    <a:pt x="314385" y="1391915"/>
                  </a:cubicBezTo>
                  <a:cubicBezTo>
                    <a:pt x="282839" y="1423461"/>
                    <a:pt x="240054" y="1441183"/>
                    <a:pt x="195441" y="1441183"/>
                  </a:cubicBezTo>
                  <a:lnTo>
                    <a:pt x="168212" y="1441183"/>
                  </a:lnTo>
                  <a:cubicBezTo>
                    <a:pt x="123599" y="1441183"/>
                    <a:pt x="80814" y="1423461"/>
                    <a:pt x="49268" y="1391915"/>
                  </a:cubicBezTo>
                  <a:cubicBezTo>
                    <a:pt x="17722" y="1360369"/>
                    <a:pt x="0" y="1317584"/>
                    <a:pt x="0" y="1272972"/>
                  </a:cubicBezTo>
                  <a:lnTo>
                    <a:pt x="0" y="168212"/>
                  </a:lnTo>
                  <a:cubicBezTo>
                    <a:pt x="0" y="123599"/>
                    <a:pt x="17722" y="80814"/>
                    <a:pt x="49268" y="49268"/>
                  </a:cubicBezTo>
                  <a:cubicBezTo>
                    <a:pt x="80814" y="17722"/>
                    <a:pt x="123599" y="0"/>
                    <a:pt x="168212" y="0"/>
                  </a:cubicBezTo>
                  <a:close/>
                </a:path>
              </a:pathLst>
            </a:custGeom>
            <a:solidFill>
              <a:srgbClr val="5B3121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363653" cy="14983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-1825997">
            <a:off x="41005" y="218459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6" name="Freeform 6"/>
          <p:cNvSpPr/>
          <p:nvPr/>
        </p:nvSpPr>
        <p:spPr>
          <a:xfrm rot="2042705">
            <a:off x="15167566" y="8884054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7" name="Freeform 7"/>
          <p:cNvSpPr/>
          <p:nvPr/>
        </p:nvSpPr>
        <p:spPr>
          <a:xfrm rot="-429064">
            <a:off x="6104163" y="8161668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8" name="Freeform 8"/>
          <p:cNvSpPr/>
          <p:nvPr/>
        </p:nvSpPr>
        <p:spPr>
          <a:xfrm rot="1276524">
            <a:off x="15110487" y="-392409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5"/>
                </a:lnTo>
                <a:lnTo>
                  <a:pt x="0" y="9246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9" name="Freeform 9"/>
          <p:cNvSpPr/>
          <p:nvPr/>
        </p:nvSpPr>
        <p:spPr>
          <a:xfrm rot="-1033798">
            <a:off x="13381662" y="7154827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5"/>
                </a:lnTo>
                <a:lnTo>
                  <a:pt x="0" y="9246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0" name="Freeform 10"/>
          <p:cNvSpPr/>
          <p:nvPr/>
        </p:nvSpPr>
        <p:spPr>
          <a:xfrm rot="653614">
            <a:off x="17332115" y="1587458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5"/>
                </a:lnTo>
                <a:lnTo>
                  <a:pt x="0" y="9246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1" name="Freeform 11"/>
          <p:cNvSpPr/>
          <p:nvPr/>
        </p:nvSpPr>
        <p:spPr>
          <a:xfrm>
            <a:off x="1028700" y="665914"/>
            <a:ext cx="531069" cy="531069"/>
          </a:xfrm>
          <a:custGeom>
            <a:avLst/>
            <a:gdLst/>
            <a:ahLst/>
            <a:cxnLst/>
            <a:rect l="l" t="t" r="r" b="b"/>
            <a:pathLst>
              <a:path w="531069" h="531069">
                <a:moveTo>
                  <a:pt x="0" y="0"/>
                </a:moveTo>
                <a:lnTo>
                  <a:pt x="531069" y="0"/>
                </a:lnTo>
                <a:lnTo>
                  <a:pt x="531069" y="531069"/>
                </a:lnTo>
                <a:lnTo>
                  <a:pt x="0" y="53106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2" name="Freeform 12"/>
          <p:cNvSpPr/>
          <p:nvPr/>
        </p:nvSpPr>
        <p:spPr>
          <a:xfrm>
            <a:off x="500921" y="1530465"/>
            <a:ext cx="11067655" cy="2280423"/>
          </a:xfrm>
          <a:custGeom>
            <a:avLst/>
            <a:gdLst/>
            <a:ahLst/>
            <a:cxnLst/>
            <a:rect l="l" t="t" r="r" b="b"/>
            <a:pathLst>
              <a:path w="11067655" h="2280423">
                <a:moveTo>
                  <a:pt x="0" y="0"/>
                </a:moveTo>
                <a:lnTo>
                  <a:pt x="11067655" y="0"/>
                </a:lnTo>
                <a:lnTo>
                  <a:pt x="11067655" y="2280423"/>
                </a:lnTo>
                <a:lnTo>
                  <a:pt x="0" y="228042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3" name="Freeform 13"/>
          <p:cNvSpPr/>
          <p:nvPr/>
        </p:nvSpPr>
        <p:spPr>
          <a:xfrm>
            <a:off x="500921" y="8062620"/>
            <a:ext cx="11067655" cy="2224380"/>
          </a:xfrm>
          <a:custGeom>
            <a:avLst/>
            <a:gdLst/>
            <a:ahLst/>
            <a:cxnLst/>
            <a:rect l="l" t="t" r="r" b="b"/>
            <a:pathLst>
              <a:path w="11067655" h="2224380">
                <a:moveTo>
                  <a:pt x="0" y="0"/>
                </a:moveTo>
                <a:lnTo>
                  <a:pt x="11067655" y="0"/>
                </a:lnTo>
                <a:lnTo>
                  <a:pt x="11067655" y="2224380"/>
                </a:lnTo>
                <a:lnTo>
                  <a:pt x="0" y="222438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t="-30" b="-30"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4" name="Freeform 14"/>
          <p:cNvSpPr/>
          <p:nvPr/>
        </p:nvSpPr>
        <p:spPr>
          <a:xfrm>
            <a:off x="500921" y="3896613"/>
            <a:ext cx="11060956" cy="2209144"/>
          </a:xfrm>
          <a:custGeom>
            <a:avLst/>
            <a:gdLst/>
            <a:ahLst/>
            <a:cxnLst/>
            <a:rect l="l" t="t" r="r" b="b"/>
            <a:pathLst>
              <a:path w="11060956" h="2209144">
                <a:moveTo>
                  <a:pt x="0" y="0"/>
                </a:moveTo>
                <a:lnTo>
                  <a:pt x="11060956" y="0"/>
                </a:lnTo>
                <a:lnTo>
                  <a:pt x="11060956" y="2209145"/>
                </a:lnTo>
                <a:lnTo>
                  <a:pt x="0" y="220914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5" name="Freeform 15"/>
          <p:cNvSpPr/>
          <p:nvPr/>
        </p:nvSpPr>
        <p:spPr>
          <a:xfrm>
            <a:off x="500921" y="6196902"/>
            <a:ext cx="11067655" cy="1869947"/>
          </a:xfrm>
          <a:custGeom>
            <a:avLst/>
            <a:gdLst/>
            <a:ahLst/>
            <a:cxnLst/>
            <a:rect l="l" t="t" r="r" b="b"/>
            <a:pathLst>
              <a:path w="11067655" h="1869947">
                <a:moveTo>
                  <a:pt x="0" y="0"/>
                </a:moveTo>
                <a:lnTo>
                  <a:pt x="11067655" y="0"/>
                </a:lnTo>
                <a:lnTo>
                  <a:pt x="11067655" y="1869947"/>
                </a:lnTo>
                <a:lnTo>
                  <a:pt x="0" y="186994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6" name="TextBox 16"/>
          <p:cNvSpPr txBox="1"/>
          <p:nvPr/>
        </p:nvSpPr>
        <p:spPr>
          <a:xfrm>
            <a:off x="1649531" y="331878"/>
            <a:ext cx="10567195" cy="1111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150"/>
              </a:lnSpc>
              <a:spcBef>
                <a:spcPct val="0"/>
              </a:spcBef>
            </a:pPr>
            <a:r>
              <a:rPr lang="en-US" sz="6500" b="1">
                <a:solidFill>
                  <a:srgbClr val="5B3121"/>
                </a:solidFill>
                <a:latin typeface="Agrandir Bold"/>
                <a:ea typeface="Agrandir Bold"/>
                <a:cs typeface="Agrandir Bold"/>
                <a:sym typeface="Agrandir Bold"/>
              </a:rPr>
              <a:t>Planificacion Temporal</a:t>
            </a:r>
          </a:p>
        </p:txBody>
      </p:sp>
      <p:sp>
        <p:nvSpPr>
          <p:cNvPr id="17" name="Freeform 17"/>
          <p:cNvSpPr/>
          <p:nvPr/>
        </p:nvSpPr>
        <p:spPr>
          <a:xfrm rot="2042705">
            <a:off x="11306053" y="41795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8" name="Freeform 18"/>
          <p:cNvSpPr/>
          <p:nvPr/>
        </p:nvSpPr>
        <p:spPr>
          <a:xfrm rot="2042705">
            <a:off x="13699350" y="2790753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9" name="Freeform 19"/>
          <p:cNvSpPr/>
          <p:nvPr/>
        </p:nvSpPr>
        <p:spPr>
          <a:xfrm rot="-1033798">
            <a:off x="11915709" y="4412226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5"/>
                </a:lnTo>
                <a:lnTo>
                  <a:pt x="0" y="9246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20" name="Freeform 20"/>
          <p:cNvSpPr/>
          <p:nvPr/>
        </p:nvSpPr>
        <p:spPr>
          <a:xfrm>
            <a:off x="14351620" y="76583"/>
            <a:ext cx="3868919" cy="952117"/>
          </a:xfrm>
          <a:custGeom>
            <a:avLst/>
            <a:gdLst/>
            <a:ahLst/>
            <a:cxnLst/>
            <a:rect l="l" t="t" r="r" b="b"/>
            <a:pathLst>
              <a:path w="3868919" h="952117">
                <a:moveTo>
                  <a:pt x="0" y="0"/>
                </a:moveTo>
                <a:lnTo>
                  <a:pt x="3868920" y="0"/>
                </a:lnTo>
                <a:lnTo>
                  <a:pt x="3868920" y="952117"/>
                </a:lnTo>
                <a:lnTo>
                  <a:pt x="0" y="95211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148401" y="3238121"/>
            <a:ext cx="1380745" cy="5471993"/>
            <a:chOff x="0" y="0"/>
            <a:chExt cx="363653" cy="144118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63653" cy="1441183"/>
            </a:xfrm>
            <a:custGeom>
              <a:avLst/>
              <a:gdLst/>
              <a:ahLst/>
              <a:cxnLst/>
              <a:rect l="l" t="t" r="r" b="b"/>
              <a:pathLst>
                <a:path w="363653" h="1441183">
                  <a:moveTo>
                    <a:pt x="168212" y="0"/>
                  </a:moveTo>
                  <a:lnTo>
                    <a:pt x="195441" y="0"/>
                  </a:lnTo>
                  <a:cubicBezTo>
                    <a:pt x="240054" y="0"/>
                    <a:pt x="282839" y="17722"/>
                    <a:pt x="314385" y="49268"/>
                  </a:cubicBezTo>
                  <a:cubicBezTo>
                    <a:pt x="345931" y="80814"/>
                    <a:pt x="363653" y="123599"/>
                    <a:pt x="363653" y="168212"/>
                  </a:cubicBezTo>
                  <a:lnTo>
                    <a:pt x="363653" y="1272972"/>
                  </a:lnTo>
                  <a:cubicBezTo>
                    <a:pt x="363653" y="1317584"/>
                    <a:pt x="345931" y="1360369"/>
                    <a:pt x="314385" y="1391915"/>
                  </a:cubicBezTo>
                  <a:cubicBezTo>
                    <a:pt x="282839" y="1423461"/>
                    <a:pt x="240054" y="1441183"/>
                    <a:pt x="195441" y="1441183"/>
                  </a:cubicBezTo>
                  <a:lnTo>
                    <a:pt x="168212" y="1441183"/>
                  </a:lnTo>
                  <a:cubicBezTo>
                    <a:pt x="123599" y="1441183"/>
                    <a:pt x="80814" y="1423461"/>
                    <a:pt x="49268" y="1391915"/>
                  </a:cubicBezTo>
                  <a:cubicBezTo>
                    <a:pt x="17722" y="1360369"/>
                    <a:pt x="0" y="1317584"/>
                    <a:pt x="0" y="1272972"/>
                  </a:cubicBezTo>
                  <a:lnTo>
                    <a:pt x="0" y="168212"/>
                  </a:lnTo>
                  <a:cubicBezTo>
                    <a:pt x="0" y="123599"/>
                    <a:pt x="17722" y="80814"/>
                    <a:pt x="49268" y="49268"/>
                  </a:cubicBezTo>
                  <a:cubicBezTo>
                    <a:pt x="80814" y="17722"/>
                    <a:pt x="123599" y="0"/>
                    <a:pt x="168212" y="0"/>
                  </a:cubicBezTo>
                  <a:close/>
                </a:path>
              </a:pathLst>
            </a:custGeom>
            <a:solidFill>
              <a:srgbClr val="5B3121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363653" cy="14983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-1825997">
            <a:off x="41005" y="218459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6" name="Freeform 6"/>
          <p:cNvSpPr/>
          <p:nvPr/>
        </p:nvSpPr>
        <p:spPr>
          <a:xfrm rot="2042705">
            <a:off x="15182351" y="8807472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7" name="Freeform 7"/>
          <p:cNvSpPr/>
          <p:nvPr/>
        </p:nvSpPr>
        <p:spPr>
          <a:xfrm rot="-429064">
            <a:off x="6104163" y="8161668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8" name="Freeform 8"/>
          <p:cNvSpPr/>
          <p:nvPr/>
        </p:nvSpPr>
        <p:spPr>
          <a:xfrm rot="1276524">
            <a:off x="15110487" y="-392409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5"/>
                </a:lnTo>
                <a:lnTo>
                  <a:pt x="0" y="9246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9" name="Freeform 9"/>
          <p:cNvSpPr/>
          <p:nvPr/>
        </p:nvSpPr>
        <p:spPr>
          <a:xfrm rot="-1033798">
            <a:off x="13381662" y="7154827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5"/>
                </a:lnTo>
                <a:lnTo>
                  <a:pt x="0" y="9246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0" name="Freeform 10"/>
          <p:cNvSpPr/>
          <p:nvPr/>
        </p:nvSpPr>
        <p:spPr>
          <a:xfrm rot="653614">
            <a:off x="303891" y="8311817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5"/>
                </a:lnTo>
                <a:lnTo>
                  <a:pt x="0" y="9246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1" name="Freeform 11"/>
          <p:cNvSpPr/>
          <p:nvPr/>
        </p:nvSpPr>
        <p:spPr>
          <a:xfrm>
            <a:off x="1028700" y="665914"/>
            <a:ext cx="531069" cy="531069"/>
          </a:xfrm>
          <a:custGeom>
            <a:avLst/>
            <a:gdLst/>
            <a:ahLst/>
            <a:cxnLst/>
            <a:rect l="l" t="t" r="r" b="b"/>
            <a:pathLst>
              <a:path w="531069" h="531069">
                <a:moveTo>
                  <a:pt x="0" y="0"/>
                </a:moveTo>
                <a:lnTo>
                  <a:pt x="531069" y="0"/>
                </a:lnTo>
                <a:lnTo>
                  <a:pt x="531069" y="531069"/>
                </a:lnTo>
                <a:lnTo>
                  <a:pt x="0" y="53106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2" name="Freeform 12"/>
          <p:cNvSpPr/>
          <p:nvPr/>
        </p:nvSpPr>
        <p:spPr>
          <a:xfrm>
            <a:off x="2384899" y="1911105"/>
            <a:ext cx="11804557" cy="8012343"/>
          </a:xfrm>
          <a:custGeom>
            <a:avLst/>
            <a:gdLst/>
            <a:ahLst/>
            <a:cxnLst/>
            <a:rect l="l" t="t" r="r" b="b"/>
            <a:pathLst>
              <a:path w="11804557" h="8012343">
                <a:moveTo>
                  <a:pt x="0" y="0"/>
                </a:moveTo>
                <a:lnTo>
                  <a:pt x="11804557" y="0"/>
                </a:lnTo>
                <a:lnTo>
                  <a:pt x="11804557" y="8012343"/>
                </a:lnTo>
                <a:lnTo>
                  <a:pt x="0" y="80123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3" name="TextBox 13"/>
          <p:cNvSpPr txBox="1"/>
          <p:nvPr/>
        </p:nvSpPr>
        <p:spPr>
          <a:xfrm>
            <a:off x="1789957" y="-53916"/>
            <a:ext cx="10567195" cy="2016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150"/>
              </a:lnSpc>
              <a:spcBef>
                <a:spcPct val="0"/>
              </a:spcBef>
            </a:pPr>
            <a:r>
              <a:rPr lang="en-US" sz="6500" b="1">
                <a:solidFill>
                  <a:srgbClr val="5B3121"/>
                </a:solidFill>
                <a:latin typeface="Agrandir Bold"/>
                <a:ea typeface="Agrandir Bold"/>
                <a:cs typeface="Agrandir Bold"/>
                <a:sym typeface="Agrandir Bold"/>
              </a:rPr>
              <a:t>Arquitectura del Software</a:t>
            </a:r>
          </a:p>
        </p:txBody>
      </p:sp>
      <p:sp>
        <p:nvSpPr>
          <p:cNvPr id="14" name="Freeform 14"/>
          <p:cNvSpPr/>
          <p:nvPr/>
        </p:nvSpPr>
        <p:spPr>
          <a:xfrm>
            <a:off x="14351620" y="76583"/>
            <a:ext cx="3868919" cy="952117"/>
          </a:xfrm>
          <a:custGeom>
            <a:avLst/>
            <a:gdLst/>
            <a:ahLst/>
            <a:cxnLst/>
            <a:rect l="l" t="t" r="r" b="b"/>
            <a:pathLst>
              <a:path w="3868919" h="952117">
                <a:moveTo>
                  <a:pt x="0" y="0"/>
                </a:moveTo>
                <a:lnTo>
                  <a:pt x="3868920" y="0"/>
                </a:lnTo>
                <a:lnTo>
                  <a:pt x="3868920" y="952117"/>
                </a:lnTo>
                <a:lnTo>
                  <a:pt x="0" y="95211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148401" y="3238121"/>
            <a:ext cx="1380745" cy="5471993"/>
            <a:chOff x="0" y="0"/>
            <a:chExt cx="363653" cy="144118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63653" cy="1441183"/>
            </a:xfrm>
            <a:custGeom>
              <a:avLst/>
              <a:gdLst/>
              <a:ahLst/>
              <a:cxnLst/>
              <a:rect l="l" t="t" r="r" b="b"/>
              <a:pathLst>
                <a:path w="363653" h="1441183">
                  <a:moveTo>
                    <a:pt x="168212" y="0"/>
                  </a:moveTo>
                  <a:lnTo>
                    <a:pt x="195441" y="0"/>
                  </a:lnTo>
                  <a:cubicBezTo>
                    <a:pt x="240054" y="0"/>
                    <a:pt x="282839" y="17722"/>
                    <a:pt x="314385" y="49268"/>
                  </a:cubicBezTo>
                  <a:cubicBezTo>
                    <a:pt x="345931" y="80814"/>
                    <a:pt x="363653" y="123599"/>
                    <a:pt x="363653" y="168212"/>
                  </a:cubicBezTo>
                  <a:lnTo>
                    <a:pt x="363653" y="1272972"/>
                  </a:lnTo>
                  <a:cubicBezTo>
                    <a:pt x="363653" y="1317584"/>
                    <a:pt x="345931" y="1360369"/>
                    <a:pt x="314385" y="1391915"/>
                  </a:cubicBezTo>
                  <a:cubicBezTo>
                    <a:pt x="282839" y="1423461"/>
                    <a:pt x="240054" y="1441183"/>
                    <a:pt x="195441" y="1441183"/>
                  </a:cubicBezTo>
                  <a:lnTo>
                    <a:pt x="168212" y="1441183"/>
                  </a:lnTo>
                  <a:cubicBezTo>
                    <a:pt x="123599" y="1441183"/>
                    <a:pt x="80814" y="1423461"/>
                    <a:pt x="49268" y="1391915"/>
                  </a:cubicBezTo>
                  <a:cubicBezTo>
                    <a:pt x="17722" y="1360369"/>
                    <a:pt x="0" y="1317584"/>
                    <a:pt x="0" y="1272972"/>
                  </a:cubicBezTo>
                  <a:lnTo>
                    <a:pt x="0" y="168212"/>
                  </a:lnTo>
                  <a:cubicBezTo>
                    <a:pt x="0" y="123599"/>
                    <a:pt x="17722" y="80814"/>
                    <a:pt x="49268" y="49268"/>
                  </a:cubicBezTo>
                  <a:cubicBezTo>
                    <a:pt x="80814" y="17722"/>
                    <a:pt x="123599" y="0"/>
                    <a:pt x="168212" y="0"/>
                  </a:cubicBezTo>
                  <a:close/>
                </a:path>
              </a:pathLst>
            </a:custGeom>
            <a:solidFill>
              <a:srgbClr val="5B3121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363653" cy="14983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-1825997">
            <a:off x="41005" y="1315098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6" name="Freeform 6"/>
          <p:cNvSpPr/>
          <p:nvPr/>
        </p:nvSpPr>
        <p:spPr>
          <a:xfrm rot="2042705">
            <a:off x="15146398" y="8926524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7" name="Freeform 7"/>
          <p:cNvSpPr/>
          <p:nvPr/>
        </p:nvSpPr>
        <p:spPr>
          <a:xfrm rot="-429064">
            <a:off x="6104163" y="8161668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8" name="Freeform 8"/>
          <p:cNvSpPr/>
          <p:nvPr/>
        </p:nvSpPr>
        <p:spPr>
          <a:xfrm rot="1276524">
            <a:off x="15110487" y="-392409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5"/>
                </a:lnTo>
                <a:lnTo>
                  <a:pt x="0" y="9246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9" name="Freeform 9"/>
          <p:cNvSpPr/>
          <p:nvPr/>
        </p:nvSpPr>
        <p:spPr>
          <a:xfrm rot="-1033798">
            <a:off x="13381662" y="7154827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5"/>
                </a:lnTo>
                <a:lnTo>
                  <a:pt x="0" y="9246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0" name="Freeform 10"/>
          <p:cNvSpPr/>
          <p:nvPr/>
        </p:nvSpPr>
        <p:spPr>
          <a:xfrm rot="653614">
            <a:off x="533456" y="8186493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5"/>
                </a:lnTo>
                <a:lnTo>
                  <a:pt x="0" y="9246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1" name="Freeform 11"/>
          <p:cNvSpPr/>
          <p:nvPr/>
        </p:nvSpPr>
        <p:spPr>
          <a:xfrm>
            <a:off x="1118462" y="497631"/>
            <a:ext cx="531069" cy="531069"/>
          </a:xfrm>
          <a:custGeom>
            <a:avLst/>
            <a:gdLst/>
            <a:ahLst/>
            <a:cxnLst/>
            <a:rect l="l" t="t" r="r" b="b"/>
            <a:pathLst>
              <a:path w="531069" h="531069">
                <a:moveTo>
                  <a:pt x="0" y="0"/>
                </a:moveTo>
                <a:lnTo>
                  <a:pt x="531069" y="0"/>
                </a:lnTo>
                <a:lnTo>
                  <a:pt x="531069" y="531069"/>
                </a:lnTo>
                <a:lnTo>
                  <a:pt x="0" y="53106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2" name="Freeform 12"/>
          <p:cNvSpPr/>
          <p:nvPr/>
        </p:nvSpPr>
        <p:spPr>
          <a:xfrm>
            <a:off x="2401979" y="1236176"/>
            <a:ext cx="10757822" cy="8333899"/>
          </a:xfrm>
          <a:custGeom>
            <a:avLst/>
            <a:gdLst/>
            <a:ahLst/>
            <a:cxnLst/>
            <a:rect l="l" t="t" r="r" b="b"/>
            <a:pathLst>
              <a:path w="10757822" h="8333899">
                <a:moveTo>
                  <a:pt x="0" y="0"/>
                </a:moveTo>
                <a:lnTo>
                  <a:pt x="10757822" y="0"/>
                </a:lnTo>
                <a:lnTo>
                  <a:pt x="10757822" y="8333900"/>
                </a:lnTo>
                <a:lnTo>
                  <a:pt x="0" y="83339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118" r="-918" b="-1404"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3" name="TextBox 13"/>
          <p:cNvSpPr txBox="1"/>
          <p:nvPr/>
        </p:nvSpPr>
        <p:spPr>
          <a:xfrm>
            <a:off x="1774785" y="285290"/>
            <a:ext cx="10567195" cy="925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940"/>
              </a:lnSpc>
              <a:spcBef>
                <a:spcPct val="0"/>
              </a:spcBef>
            </a:pPr>
            <a:r>
              <a:rPr lang="en-US" sz="5400" b="1">
                <a:solidFill>
                  <a:srgbClr val="5B3121"/>
                </a:solidFill>
                <a:latin typeface="Agrandir Bold"/>
                <a:ea typeface="Agrandir Bold"/>
                <a:cs typeface="Agrandir Bold"/>
                <a:sym typeface="Agrandir Bold"/>
              </a:rPr>
              <a:t>Arquitectura de la Solucion</a:t>
            </a:r>
          </a:p>
        </p:txBody>
      </p:sp>
      <p:sp>
        <p:nvSpPr>
          <p:cNvPr id="14" name="Freeform 14"/>
          <p:cNvSpPr/>
          <p:nvPr/>
        </p:nvSpPr>
        <p:spPr>
          <a:xfrm>
            <a:off x="14351620" y="76583"/>
            <a:ext cx="3868919" cy="952117"/>
          </a:xfrm>
          <a:custGeom>
            <a:avLst/>
            <a:gdLst/>
            <a:ahLst/>
            <a:cxnLst/>
            <a:rect l="l" t="t" r="r" b="b"/>
            <a:pathLst>
              <a:path w="3868919" h="952117">
                <a:moveTo>
                  <a:pt x="0" y="0"/>
                </a:moveTo>
                <a:lnTo>
                  <a:pt x="3868920" y="0"/>
                </a:lnTo>
                <a:lnTo>
                  <a:pt x="3868920" y="952117"/>
                </a:lnTo>
                <a:lnTo>
                  <a:pt x="0" y="95211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148401" y="3238121"/>
            <a:ext cx="1380745" cy="5471993"/>
            <a:chOff x="0" y="0"/>
            <a:chExt cx="363653" cy="144118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63653" cy="1441183"/>
            </a:xfrm>
            <a:custGeom>
              <a:avLst/>
              <a:gdLst/>
              <a:ahLst/>
              <a:cxnLst/>
              <a:rect l="l" t="t" r="r" b="b"/>
              <a:pathLst>
                <a:path w="363653" h="1441183">
                  <a:moveTo>
                    <a:pt x="168212" y="0"/>
                  </a:moveTo>
                  <a:lnTo>
                    <a:pt x="195441" y="0"/>
                  </a:lnTo>
                  <a:cubicBezTo>
                    <a:pt x="240054" y="0"/>
                    <a:pt x="282839" y="17722"/>
                    <a:pt x="314385" y="49268"/>
                  </a:cubicBezTo>
                  <a:cubicBezTo>
                    <a:pt x="345931" y="80814"/>
                    <a:pt x="363653" y="123599"/>
                    <a:pt x="363653" y="168212"/>
                  </a:cubicBezTo>
                  <a:lnTo>
                    <a:pt x="363653" y="1272972"/>
                  </a:lnTo>
                  <a:cubicBezTo>
                    <a:pt x="363653" y="1317584"/>
                    <a:pt x="345931" y="1360369"/>
                    <a:pt x="314385" y="1391915"/>
                  </a:cubicBezTo>
                  <a:cubicBezTo>
                    <a:pt x="282839" y="1423461"/>
                    <a:pt x="240054" y="1441183"/>
                    <a:pt x="195441" y="1441183"/>
                  </a:cubicBezTo>
                  <a:lnTo>
                    <a:pt x="168212" y="1441183"/>
                  </a:lnTo>
                  <a:cubicBezTo>
                    <a:pt x="123599" y="1441183"/>
                    <a:pt x="80814" y="1423461"/>
                    <a:pt x="49268" y="1391915"/>
                  </a:cubicBezTo>
                  <a:cubicBezTo>
                    <a:pt x="17722" y="1360369"/>
                    <a:pt x="0" y="1317584"/>
                    <a:pt x="0" y="1272972"/>
                  </a:cubicBezTo>
                  <a:lnTo>
                    <a:pt x="0" y="168212"/>
                  </a:lnTo>
                  <a:cubicBezTo>
                    <a:pt x="0" y="123599"/>
                    <a:pt x="17722" y="80814"/>
                    <a:pt x="49268" y="49268"/>
                  </a:cubicBezTo>
                  <a:cubicBezTo>
                    <a:pt x="80814" y="17722"/>
                    <a:pt x="123599" y="0"/>
                    <a:pt x="168212" y="0"/>
                  </a:cubicBezTo>
                  <a:close/>
                </a:path>
              </a:pathLst>
            </a:custGeom>
            <a:solidFill>
              <a:srgbClr val="5B3121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363653" cy="14983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-1825997">
            <a:off x="41005" y="218459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6" name="Freeform 6"/>
          <p:cNvSpPr/>
          <p:nvPr/>
        </p:nvSpPr>
        <p:spPr>
          <a:xfrm rot="2042705">
            <a:off x="15254072" y="9051992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7" name="Freeform 7"/>
          <p:cNvSpPr/>
          <p:nvPr/>
        </p:nvSpPr>
        <p:spPr>
          <a:xfrm rot="-429064">
            <a:off x="6104163" y="8161668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8" name="Freeform 8"/>
          <p:cNvSpPr/>
          <p:nvPr/>
        </p:nvSpPr>
        <p:spPr>
          <a:xfrm rot="1276524">
            <a:off x="15110487" y="-392409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5"/>
                </a:lnTo>
                <a:lnTo>
                  <a:pt x="0" y="9246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9" name="Freeform 9"/>
          <p:cNvSpPr/>
          <p:nvPr/>
        </p:nvSpPr>
        <p:spPr>
          <a:xfrm rot="-1033798">
            <a:off x="13381662" y="7154827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5"/>
                </a:lnTo>
                <a:lnTo>
                  <a:pt x="0" y="9246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0" name="Freeform 10"/>
          <p:cNvSpPr/>
          <p:nvPr/>
        </p:nvSpPr>
        <p:spPr>
          <a:xfrm rot="653614">
            <a:off x="707240" y="8461085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5"/>
                </a:lnTo>
                <a:lnTo>
                  <a:pt x="0" y="9246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1" name="Freeform 11"/>
          <p:cNvSpPr/>
          <p:nvPr/>
        </p:nvSpPr>
        <p:spPr>
          <a:xfrm>
            <a:off x="920976" y="1336215"/>
            <a:ext cx="531069" cy="531069"/>
          </a:xfrm>
          <a:custGeom>
            <a:avLst/>
            <a:gdLst/>
            <a:ahLst/>
            <a:cxnLst/>
            <a:rect l="l" t="t" r="r" b="b"/>
            <a:pathLst>
              <a:path w="531069" h="531069">
                <a:moveTo>
                  <a:pt x="0" y="0"/>
                </a:moveTo>
                <a:lnTo>
                  <a:pt x="531069" y="0"/>
                </a:lnTo>
                <a:lnTo>
                  <a:pt x="531069" y="531069"/>
                </a:lnTo>
                <a:lnTo>
                  <a:pt x="0" y="53106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2" name="Freeform 12"/>
          <p:cNvSpPr/>
          <p:nvPr/>
        </p:nvSpPr>
        <p:spPr>
          <a:xfrm>
            <a:off x="3304807" y="2274253"/>
            <a:ext cx="9607234" cy="7475541"/>
          </a:xfrm>
          <a:custGeom>
            <a:avLst/>
            <a:gdLst/>
            <a:ahLst/>
            <a:cxnLst/>
            <a:rect l="l" t="t" r="r" b="b"/>
            <a:pathLst>
              <a:path w="9607234" h="7475541">
                <a:moveTo>
                  <a:pt x="0" y="0"/>
                </a:moveTo>
                <a:lnTo>
                  <a:pt x="9607234" y="0"/>
                </a:lnTo>
                <a:lnTo>
                  <a:pt x="9607234" y="7475541"/>
                </a:lnTo>
                <a:lnTo>
                  <a:pt x="0" y="747554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r="-6227"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3" name="TextBox 13"/>
          <p:cNvSpPr txBox="1"/>
          <p:nvPr/>
        </p:nvSpPr>
        <p:spPr>
          <a:xfrm>
            <a:off x="1865821" y="1073158"/>
            <a:ext cx="10752776" cy="2970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5"/>
              </a:lnSpc>
            </a:pPr>
            <a:r>
              <a:rPr lang="en-US" sz="6614" b="1">
                <a:solidFill>
                  <a:srgbClr val="5B3121"/>
                </a:solidFill>
                <a:latin typeface="Agrandir Bold"/>
                <a:ea typeface="Agrandir Bold"/>
                <a:cs typeface="Agrandir Bold"/>
                <a:sym typeface="Agrandir Bold"/>
              </a:rPr>
              <a:t>Modelo de Datos</a:t>
            </a:r>
          </a:p>
          <a:p>
            <a:pPr algn="l">
              <a:lnSpc>
                <a:spcPts val="7275"/>
              </a:lnSpc>
            </a:pPr>
            <a:endParaRPr lang="en-US" sz="6614" b="1">
              <a:solidFill>
                <a:srgbClr val="5B3121"/>
              </a:solidFill>
              <a:latin typeface="Agrandir Bold"/>
              <a:ea typeface="Agrandir Bold"/>
              <a:cs typeface="Agrandir Bold"/>
              <a:sym typeface="Agrandir Bold"/>
            </a:endParaRPr>
          </a:p>
          <a:p>
            <a:pPr marL="0" lvl="0" indent="0" algn="l">
              <a:lnSpc>
                <a:spcPts val="7275"/>
              </a:lnSpc>
              <a:spcBef>
                <a:spcPct val="0"/>
              </a:spcBef>
            </a:pPr>
            <a:endParaRPr lang="en-US" sz="6614" b="1">
              <a:solidFill>
                <a:srgbClr val="5B3121"/>
              </a:solidFill>
              <a:latin typeface="Agrandir Bold"/>
              <a:ea typeface="Agrandir Bold"/>
              <a:cs typeface="Agrandir Bold"/>
              <a:sym typeface="Agrandir Bold"/>
            </a:endParaRPr>
          </a:p>
        </p:txBody>
      </p:sp>
      <p:sp>
        <p:nvSpPr>
          <p:cNvPr id="14" name="Freeform 14"/>
          <p:cNvSpPr/>
          <p:nvPr/>
        </p:nvSpPr>
        <p:spPr>
          <a:xfrm>
            <a:off x="14351620" y="76583"/>
            <a:ext cx="3868919" cy="952117"/>
          </a:xfrm>
          <a:custGeom>
            <a:avLst/>
            <a:gdLst/>
            <a:ahLst/>
            <a:cxnLst/>
            <a:rect l="l" t="t" r="r" b="b"/>
            <a:pathLst>
              <a:path w="3868919" h="952117">
                <a:moveTo>
                  <a:pt x="0" y="0"/>
                </a:moveTo>
                <a:lnTo>
                  <a:pt x="3868920" y="0"/>
                </a:lnTo>
                <a:lnTo>
                  <a:pt x="3868920" y="952117"/>
                </a:lnTo>
                <a:lnTo>
                  <a:pt x="0" y="95211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148401" y="3238121"/>
            <a:ext cx="1380745" cy="5471993"/>
            <a:chOff x="0" y="0"/>
            <a:chExt cx="363653" cy="144118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63653" cy="1441183"/>
            </a:xfrm>
            <a:custGeom>
              <a:avLst/>
              <a:gdLst/>
              <a:ahLst/>
              <a:cxnLst/>
              <a:rect l="l" t="t" r="r" b="b"/>
              <a:pathLst>
                <a:path w="363653" h="1441183">
                  <a:moveTo>
                    <a:pt x="168212" y="0"/>
                  </a:moveTo>
                  <a:lnTo>
                    <a:pt x="195441" y="0"/>
                  </a:lnTo>
                  <a:cubicBezTo>
                    <a:pt x="240054" y="0"/>
                    <a:pt x="282839" y="17722"/>
                    <a:pt x="314385" y="49268"/>
                  </a:cubicBezTo>
                  <a:cubicBezTo>
                    <a:pt x="345931" y="80814"/>
                    <a:pt x="363653" y="123599"/>
                    <a:pt x="363653" y="168212"/>
                  </a:cubicBezTo>
                  <a:lnTo>
                    <a:pt x="363653" y="1272972"/>
                  </a:lnTo>
                  <a:cubicBezTo>
                    <a:pt x="363653" y="1317584"/>
                    <a:pt x="345931" y="1360369"/>
                    <a:pt x="314385" y="1391915"/>
                  </a:cubicBezTo>
                  <a:cubicBezTo>
                    <a:pt x="282839" y="1423461"/>
                    <a:pt x="240054" y="1441183"/>
                    <a:pt x="195441" y="1441183"/>
                  </a:cubicBezTo>
                  <a:lnTo>
                    <a:pt x="168212" y="1441183"/>
                  </a:lnTo>
                  <a:cubicBezTo>
                    <a:pt x="123599" y="1441183"/>
                    <a:pt x="80814" y="1423461"/>
                    <a:pt x="49268" y="1391915"/>
                  </a:cubicBezTo>
                  <a:cubicBezTo>
                    <a:pt x="17722" y="1360369"/>
                    <a:pt x="0" y="1317584"/>
                    <a:pt x="0" y="1272972"/>
                  </a:cubicBezTo>
                  <a:lnTo>
                    <a:pt x="0" y="168212"/>
                  </a:lnTo>
                  <a:cubicBezTo>
                    <a:pt x="0" y="123599"/>
                    <a:pt x="17722" y="80814"/>
                    <a:pt x="49268" y="49268"/>
                  </a:cubicBezTo>
                  <a:cubicBezTo>
                    <a:pt x="80814" y="17722"/>
                    <a:pt x="123599" y="0"/>
                    <a:pt x="168212" y="0"/>
                  </a:cubicBezTo>
                  <a:close/>
                </a:path>
              </a:pathLst>
            </a:custGeom>
            <a:solidFill>
              <a:srgbClr val="5B3121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363653" cy="14983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-1825997">
            <a:off x="41005" y="218459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6" name="Freeform 6"/>
          <p:cNvSpPr/>
          <p:nvPr/>
        </p:nvSpPr>
        <p:spPr>
          <a:xfrm rot="2042705">
            <a:off x="15433812" y="9016167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7" name="Freeform 7"/>
          <p:cNvSpPr/>
          <p:nvPr/>
        </p:nvSpPr>
        <p:spPr>
          <a:xfrm rot="-429064">
            <a:off x="157640" y="9105418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6" y="0"/>
                </a:lnTo>
                <a:lnTo>
                  <a:pt x="1429176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8" name="Freeform 8"/>
          <p:cNvSpPr/>
          <p:nvPr/>
        </p:nvSpPr>
        <p:spPr>
          <a:xfrm rot="1276524">
            <a:off x="15110487" y="-392409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5"/>
                </a:lnTo>
                <a:lnTo>
                  <a:pt x="0" y="9246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9" name="Freeform 9"/>
          <p:cNvSpPr/>
          <p:nvPr/>
        </p:nvSpPr>
        <p:spPr>
          <a:xfrm rot="-1033798">
            <a:off x="13381662" y="7154827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5"/>
                </a:lnTo>
                <a:lnTo>
                  <a:pt x="0" y="9246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0" name="Freeform 10"/>
          <p:cNvSpPr/>
          <p:nvPr/>
        </p:nvSpPr>
        <p:spPr>
          <a:xfrm rot="653614">
            <a:off x="10251485" y="9894124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5"/>
                </a:lnTo>
                <a:lnTo>
                  <a:pt x="0" y="9246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1" name="Freeform 11"/>
          <p:cNvSpPr/>
          <p:nvPr/>
        </p:nvSpPr>
        <p:spPr>
          <a:xfrm>
            <a:off x="920976" y="1336215"/>
            <a:ext cx="531069" cy="531069"/>
          </a:xfrm>
          <a:custGeom>
            <a:avLst/>
            <a:gdLst/>
            <a:ahLst/>
            <a:cxnLst/>
            <a:rect l="l" t="t" r="r" b="b"/>
            <a:pathLst>
              <a:path w="531069" h="531069">
                <a:moveTo>
                  <a:pt x="0" y="0"/>
                </a:moveTo>
                <a:lnTo>
                  <a:pt x="531069" y="0"/>
                </a:lnTo>
                <a:lnTo>
                  <a:pt x="531069" y="531069"/>
                </a:lnTo>
                <a:lnTo>
                  <a:pt x="0" y="53106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2" name="Freeform 12"/>
          <p:cNvSpPr/>
          <p:nvPr/>
        </p:nvSpPr>
        <p:spPr>
          <a:xfrm>
            <a:off x="3748099" y="3478947"/>
            <a:ext cx="4621399" cy="5231167"/>
          </a:xfrm>
          <a:custGeom>
            <a:avLst/>
            <a:gdLst/>
            <a:ahLst/>
            <a:cxnLst/>
            <a:rect l="l" t="t" r="r" b="b"/>
            <a:pathLst>
              <a:path w="4621399" h="5231167">
                <a:moveTo>
                  <a:pt x="0" y="0"/>
                </a:moveTo>
                <a:lnTo>
                  <a:pt x="4621399" y="0"/>
                </a:lnTo>
                <a:lnTo>
                  <a:pt x="4621399" y="5231167"/>
                </a:lnTo>
                <a:lnTo>
                  <a:pt x="0" y="523116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3" name="Freeform 13"/>
          <p:cNvSpPr/>
          <p:nvPr/>
        </p:nvSpPr>
        <p:spPr>
          <a:xfrm>
            <a:off x="12517121" y="2115317"/>
            <a:ext cx="3054046" cy="7958427"/>
          </a:xfrm>
          <a:custGeom>
            <a:avLst/>
            <a:gdLst/>
            <a:ahLst/>
            <a:cxnLst/>
            <a:rect l="l" t="t" r="r" b="b"/>
            <a:pathLst>
              <a:path w="3054046" h="7958427">
                <a:moveTo>
                  <a:pt x="0" y="0"/>
                </a:moveTo>
                <a:lnTo>
                  <a:pt x="3054046" y="0"/>
                </a:lnTo>
                <a:lnTo>
                  <a:pt x="3054046" y="7958427"/>
                </a:lnTo>
                <a:lnTo>
                  <a:pt x="0" y="79584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4" name="Freeform 14"/>
          <p:cNvSpPr/>
          <p:nvPr/>
        </p:nvSpPr>
        <p:spPr>
          <a:xfrm>
            <a:off x="8481179" y="3525219"/>
            <a:ext cx="3901839" cy="5328318"/>
          </a:xfrm>
          <a:custGeom>
            <a:avLst/>
            <a:gdLst/>
            <a:ahLst/>
            <a:cxnLst/>
            <a:rect l="l" t="t" r="r" b="b"/>
            <a:pathLst>
              <a:path w="3901839" h="5328318">
                <a:moveTo>
                  <a:pt x="0" y="0"/>
                </a:moveTo>
                <a:lnTo>
                  <a:pt x="3901840" y="0"/>
                </a:lnTo>
                <a:lnTo>
                  <a:pt x="3901840" y="5328318"/>
                </a:lnTo>
                <a:lnTo>
                  <a:pt x="0" y="532831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5" name="Freeform 15"/>
          <p:cNvSpPr/>
          <p:nvPr/>
        </p:nvSpPr>
        <p:spPr>
          <a:xfrm>
            <a:off x="371935" y="2620132"/>
            <a:ext cx="2987770" cy="6356958"/>
          </a:xfrm>
          <a:custGeom>
            <a:avLst/>
            <a:gdLst/>
            <a:ahLst/>
            <a:cxnLst/>
            <a:rect l="l" t="t" r="r" b="b"/>
            <a:pathLst>
              <a:path w="2987770" h="6356958">
                <a:moveTo>
                  <a:pt x="0" y="0"/>
                </a:moveTo>
                <a:lnTo>
                  <a:pt x="2987771" y="0"/>
                </a:lnTo>
                <a:lnTo>
                  <a:pt x="2987771" y="6356958"/>
                </a:lnTo>
                <a:lnTo>
                  <a:pt x="0" y="63569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6" name="TextBox 16"/>
          <p:cNvSpPr txBox="1"/>
          <p:nvPr/>
        </p:nvSpPr>
        <p:spPr>
          <a:xfrm>
            <a:off x="1865821" y="1073158"/>
            <a:ext cx="10752776" cy="2970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5"/>
              </a:lnSpc>
            </a:pPr>
            <a:r>
              <a:rPr lang="en-US" sz="6614" b="1">
                <a:solidFill>
                  <a:srgbClr val="5B3121"/>
                </a:solidFill>
                <a:latin typeface="Agrandir Bold"/>
                <a:ea typeface="Agrandir Bold"/>
                <a:cs typeface="Agrandir Bold"/>
                <a:sym typeface="Agrandir Bold"/>
              </a:rPr>
              <a:t>Modelo de Datos </a:t>
            </a:r>
          </a:p>
          <a:p>
            <a:pPr algn="l">
              <a:lnSpc>
                <a:spcPts val="7275"/>
              </a:lnSpc>
            </a:pPr>
            <a:endParaRPr lang="en-US" sz="6614" b="1">
              <a:solidFill>
                <a:srgbClr val="5B3121"/>
              </a:solidFill>
              <a:latin typeface="Agrandir Bold"/>
              <a:ea typeface="Agrandir Bold"/>
              <a:cs typeface="Agrandir Bold"/>
              <a:sym typeface="Agrandir Bold"/>
            </a:endParaRPr>
          </a:p>
          <a:p>
            <a:pPr marL="0" lvl="0" indent="0" algn="l">
              <a:lnSpc>
                <a:spcPts val="7275"/>
              </a:lnSpc>
              <a:spcBef>
                <a:spcPct val="0"/>
              </a:spcBef>
            </a:pPr>
            <a:endParaRPr lang="en-US" sz="6614" b="1">
              <a:solidFill>
                <a:srgbClr val="5B3121"/>
              </a:solidFill>
              <a:latin typeface="Agrandir Bold"/>
              <a:ea typeface="Agrandir Bold"/>
              <a:cs typeface="Agrandir Bold"/>
              <a:sym typeface="Agrandir Bold"/>
            </a:endParaRPr>
          </a:p>
        </p:txBody>
      </p:sp>
      <p:sp>
        <p:nvSpPr>
          <p:cNvPr id="17" name="Freeform 17"/>
          <p:cNvSpPr/>
          <p:nvPr/>
        </p:nvSpPr>
        <p:spPr>
          <a:xfrm>
            <a:off x="14351620" y="76583"/>
            <a:ext cx="3868919" cy="952117"/>
          </a:xfrm>
          <a:custGeom>
            <a:avLst/>
            <a:gdLst/>
            <a:ahLst/>
            <a:cxnLst/>
            <a:rect l="l" t="t" r="r" b="b"/>
            <a:pathLst>
              <a:path w="3868919" h="952117">
                <a:moveTo>
                  <a:pt x="0" y="0"/>
                </a:moveTo>
                <a:lnTo>
                  <a:pt x="3868920" y="0"/>
                </a:lnTo>
                <a:lnTo>
                  <a:pt x="3868920" y="952117"/>
                </a:lnTo>
                <a:lnTo>
                  <a:pt x="0" y="95211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45982" y="482057"/>
            <a:ext cx="6720450" cy="3437820"/>
            <a:chOff x="0" y="0"/>
            <a:chExt cx="1769995" cy="90543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69995" cy="905434"/>
            </a:xfrm>
            <a:custGeom>
              <a:avLst/>
              <a:gdLst/>
              <a:ahLst/>
              <a:cxnLst/>
              <a:rect l="l" t="t" r="r" b="b"/>
              <a:pathLst>
                <a:path w="1769995" h="905434">
                  <a:moveTo>
                    <a:pt x="34560" y="0"/>
                  </a:moveTo>
                  <a:lnTo>
                    <a:pt x="1735435" y="0"/>
                  </a:lnTo>
                  <a:cubicBezTo>
                    <a:pt x="1754522" y="0"/>
                    <a:pt x="1769995" y="15473"/>
                    <a:pt x="1769995" y="34560"/>
                  </a:cubicBezTo>
                  <a:lnTo>
                    <a:pt x="1769995" y="870874"/>
                  </a:lnTo>
                  <a:cubicBezTo>
                    <a:pt x="1769995" y="880040"/>
                    <a:pt x="1766354" y="888831"/>
                    <a:pt x="1759873" y="895312"/>
                  </a:cubicBezTo>
                  <a:cubicBezTo>
                    <a:pt x="1753391" y="901793"/>
                    <a:pt x="1744601" y="905434"/>
                    <a:pt x="1735435" y="905434"/>
                  </a:cubicBezTo>
                  <a:lnTo>
                    <a:pt x="34560" y="905434"/>
                  </a:lnTo>
                  <a:cubicBezTo>
                    <a:pt x="15473" y="905434"/>
                    <a:pt x="0" y="889961"/>
                    <a:pt x="0" y="870874"/>
                  </a:cubicBezTo>
                  <a:lnTo>
                    <a:pt x="0" y="34560"/>
                  </a:lnTo>
                  <a:cubicBezTo>
                    <a:pt x="0" y="15473"/>
                    <a:pt x="15473" y="0"/>
                    <a:pt x="34560" y="0"/>
                  </a:cubicBezTo>
                  <a:close/>
                </a:path>
              </a:pathLst>
            </a:custGeom>
            <a:solidFill>
              <a:srgbClr val="5B3121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1769995" cy="96258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12994" y="1199101"/>
            <a:ext cx="6807293" cy="3944399"/>
            <a:chOff x="0" y="0"/>
            <a:chExt cx="1054628" cy="61109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054628" cy="611091"/>
            </a:xfrm>
            <a:custGeom>
              <a:avLst/>
              <a:gdLst/>
              <a:ahLst/>
              <a:cxnLst/>
              <a:rect l="l" t="t" r="r" b="b"/>
              <a:pathLst>
                <a:path w="1054628" h="611091">
                  <a:moveTo>
                    <a:pt x="71650" y="0"/>
                  </a:moveTo>
                  <a:lnTo>
                    <a:pt x="982978" y="0"/>
                  </a:lnTo>
                  <a:cubicBezTo>
                    <a:pt x="1001981" y="0"/>
                    <a:pt x="1020205" y="7549"/>
                    <a:pt x="1033642" y="20986"/>
                  </a:cubicBezTo>
                  <a:cubicBezTo>
                    <a:pt x="1047079" y="34423"/>
                    <a:pt x="1054628" y="52647"/>
                    <a:pt x="1054628" y="71650"/>
                  </a:cubicBezTo>
                  <a:lnTo>
                    <a:pt x="1054628" y="539441"/>
                  </a:lnTo>
                  <a:cubicBezTo>
                    <a:pt x="1054628" y="558444"/>
                    <a:pt x="1047079" y="576668"/>
                    <a:pt x="1033642" y="590105"/>
                  </a:cubicBezTo>
                  <a:cubicBezTo>
                    <a:pt x="1020205" y="603542"/>
                    <a:pt x="1001981" y="611091"/>
                    <a:pt x="982978" y="611091"/>
                  </a:cubicBezTo>
                  <a:lnTo>
                    <a:pt x="71650" y="611091"/>
                  </a:lnTo>
                  <a:cubicBezTo>
                    <a:pt x="52647" y="611091"/>
                    <a:pt x="34423" y="603542"/>
                    <a:pt x="20986" y="590105"/>
                  </a:cubicBezTo>
                  <a:cubicBezTo>
                    <a:pt x="7549" y="576668"/>
                    <a:pt x="0" y="558444"/>
                    <a:pt x="0" y="539441"/>
                  </a:cubicBezTo>
                  <a:lnTo>
                    <a:pt x="0" y="71650"/>
                  </a:lnTo>
                  <a:cubicBezTo>
                    <a:pt x="0" y="52647"/>
                    <a:pt x="7549" y="34423"/>
                    <a:pt x="20986" y="20986"/>
                  </a:cubicBezTo>
                  <a:cubicBezTo>
                    <a:pt x="34423" y="7549"/>
                    <a:pt x="52647" y="0"/>
                    <a:pt x="71650" y="0"/>
                  </a:cubicBezTo>
                  <a:close/>
                </a:path>
              </a:pathLst>
            </a:custGeom>
            <a:blipFill>
              <a:blip r:embed="rId2"/>
              <a:stretch>
                <a:fillRect t="-79516" b="-79516"/>
              </a:stretch>
            </a:blipFill>
          </p:spPr>
          <p:txBody>
            <a:bodyPr/>
            <a:lstStyle/>
            <a:p>
              <a:endParaRPr lang="es-MX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612994" y="5794766"/>
            <a:ext cx="7052705" cy="3658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800"/>
              </a:lnSpc>
            </a:pPr>
            <a:r>
              <a:rPr lang="en-US" sz="6800" b="1">
                <a:solidFill>
                  <a:srgbClr val="5B3121"/>
                </a:solidFill>
                <a:latin typeface="Agrandir Bold"/>
                <a:ea typeface="Agrandir Bold"/>
                <a:cs typeface="Agrandir Bold"/>
                <a:sym typeface="Agrandir Bold"/>
              </a:rPr>
              <a:t>Elementos Analíticos a Incorporar</a:t>
            </a:r>
          </a:p>
          <a:p>
            <a:pPr algn="l">
              <a:lnSpc>
                <a:spcPts val="6800"/>
              </a:lnSpc>
            </a:pPr>
            <a:endParaRPr lang="en-US" sz="6800" b="1">
              <a:solidFill>
                <a:srgbClr val="5B3121"/>
              </a:solidFill>
              <a:latin typeface="Agrandir Bold"/>
              <a:ea typeface="Agrandir Bold"/>
              <a:cs typeface="Agrandir Bold"/>
              <a:sym typeface="Agrandir Bold"/>
            </a:endParaRPr>
          </a:p>
        </p:txBody>
      </p:sp>
      <p:sp>
        <p:nvSpPr>
          <p:cNvPr id="8" name="Freeform 8"/>
          <p:cNvSpPr/>
          <p:nvPr/>
        </p:nvSpPr>
        <p:spPr>
          <a:xfrm rot="-1521398">
            <a:off x="10729598" y="7992322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9" name="Freeform 9"/>
          <p:cNvSpPr/>
          <p:nvPr/>
        </p:nvSpPr>
        <p:spPr>
          <a:xfrm rot="-1825997">
            <a:off x="4468" y="7009650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0" name="Freeform 10"/>
          <p:cNvSpPr/>
          <p:nvPr/>
        </p:nvSpPr>
        <p:spPr>
          <a:xfrm rot="274515">
            <a:off x="17372256" y="819335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1" name="Freeform 11"/>
          <p:cNvSpPr/>
          <p:nvPr/>
        </p:nvSpPr>
        <p:spPr>
          <a:xfrm rot="-1420549">
            <a:off x="9025778" y="-11000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5"/>
                </a:lnTo>
                <a:lnTo>
                  <a:pt x="0" y="92463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2" name="Freeform 12"/>
          <p:cNvSpPr/>
          <p:nvPr/>
        </p:nvSpPr>
        <p:spPr>
          <a:xfrm rot="2619672">
            <a:off x="16372069" y="8475600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5"/>
                </a:lnTo>
                <a:lnTo>
                  <a:pt x="0" y="92463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3" name="Freeform 13"/>
          <p:cNvSpPr/>
          <p:nvPr/>
        </p:nvSpPr>
        <p:spPr>
          <a:xfrm rot="-1289189">
            <a:off x="3837121" y="8880083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5"/>
                </a:lnTo>
                <a:lnTo>
                  <a:pt x="0" y="92463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4" name="Freeform 14"/>
          <p:cNvSpPr/>
          <p:nvPr/>
        </p:nvSpPr>
        <p:spPr>
          <a:xfrm>
            <a:off x="6635363" y="7861871"/>
            <a:ext cx="531069" cy="531069"/>
          </a:xfrm>
          <a:custGeom>
            <a:avLst/>
            <a:gdLst/>
            <a:ahLst/>
            <a:cxnLst/>
            <a:rect l="l" t="t" r="r" b="b"/>
            <a:pathLst>
              <a:path w="531069" h="531069">
                <a:moveTo>
                  <a:pt x="0" y="0"/>
                </a:moveTo>
                <a:lnTo>
                  <a:pt x="531069" y="0"/>
                </a:lnTo>
                <a:lnTo>
                  <a:pt x="531069" y="531069"/>
                </a:lnTo>
                <a:lnTo>
                  <a:pt x="0" y="531069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5" name="TextBox 15"/>
          <p:cNvSpPr txBox="1"/>
          <p:nvPr/>
        </p:nvSpPr>
        <p:spPr>
          <a:xfrm>
            <a:off x="9656299" y="678356"/>
            <a:ext cx="7603001" cy="7824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699"/>
              </a:lnSpc>
            </a:pPr>
            <a:r>
              <a:rPr lang="en-US" sz="1927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1. Gasto en Cuidado de Mascotas</a:t>
            </a:r>
          </a:p>
          <a:p>
            <a:pPr algn="just">
              <a:lnSpc>
                <a:spcPts val="2699"/>
              </a:lnSpc>
            </a:pPr>
            <a:r>
              <a:rPr lang="en-US" sz="1927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Qué:</a:t>
            </a:r>
          </a:p>
          <a:p>
            <a:pPr algn="just">
              <a:lnSpc>
                <a:spcPts val="2699"/>
              </a:lnSpc>
            </a:pPr>
            <a:r>
              <a:rPr lang="en-US" sz="1927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 Comparación del gasto mensual entre 2026-2027 (mes a mes o Q1 vs Q2), segmentado por comuna, categoría y número de mascotas.</a:t>
            </a:r>
          </a:p>
          <a:p>
            <a:pPr algn="just">
              <a:lnSpc>
                <a:spcPts val="2699"/>
              </a:lnSpc>
            </a:pPr>
            <a:r>
              <a:rPr lang="en-US" sz="1927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Por qué:</a:t>
            </a:r>
          </a:p>
          <a:p>
            <a:pPr algn="just">
              <a:lnSpc>
                <a:spcPts val="2699"/>
              </a:lnSpc>
            </a:pPr>
            <a:r>
              <a:rPr lang="en-US" sz="1927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 Identificar aumentos o caídas de consumo para ajustar promociones, convenios y estrategias comerciales.</a:t>
            </a:r>
          </a:p>
          <a:p>
            <a:pPr algn="just">
              <a:lnSpc>
                <a:spcPts val="2699"/>
              </a:lnSpc>
            </a:pPr>
            <a:r>
              <a:rPr lang="en-US" sz="1927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Cómo:</a:t>
            </a:r>
          </a:p>
          <a:p>
            <a:pPr marL="416251" lvl="1" indent="-208126" algn="just">
              <a:lnSpc>
                <a:spcPts val="2699"/>
              </a:lnSpc>
              <a:buFont typeface="Arial"/>
              <a:buChar char="•"/>
            </a:pPr>
            <a:r>
              <a:rPr lang="en-US" sz="1927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Consolidar gasto mensual</a:t>
            </a:r>
          </a:p>
          <a:p>
            <a:pPr marL="416251" lvl="1" indent="-208126" algn="just">
              <a:lnSpc>
                <a:spcPts val="2699"/>
              </a:lnSpc>
              <a:buFont typeface="Arial"/>
              <a:buChar char="•"/>
            </a:pPr>
            <a:r>
              <a:rPr lang="en-US" sz="1927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Segmentar dueños (1 / 2–4 / 5+)</a:t>
            </a:r>
          </a:p>
          <a:p>
            <a:pPr marL="416251" lvl="1" indent="-208126" algn="just">
              <a:lnSpc>
                <a:spcPts val="2699"/>
              </a:lnSpc>
              <a:buFont typeface="Arial"/>
              <a:buChar char="•"/>
            </a:pPr>
            <a:r>
              <a:rPr lang="en-US" sz="1927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Calcular promedios y variaciones</a:t>
            </a:r>
          </a:p>
          <a:p>
            <a:pPr marL="416251" lvl="1" indent="-208126" algn="just">
              <a:lnSpc>
                <a:spcPts val="2699"/>
              </a:lnSpc>
              <a:buFont typeface="Arial"/>
              <a:buChar char="•"/>
            </a:pPr>
            <a:r>
              <a:rPr lang="en-US" sz="1927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Comparar períodos equivalentes</a:t>
            </a:r>
          </a:p>
          <a:p>
            <a:pPr marL="416251" lvl="1" indent="-208126" algn="just">
              <a:lnSpc>
                <a:spcPts val="2699"/>
              </a:lnSpc>
              <a:buFont typeface="Arial"/>
              <a:buChar char="•"/>
            </a:pPr>
            <a:r>
              <a:rPr lang="en-US" sz="1927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Visualizar en barras y líneas</a:t>
            </a:r>
          </a:p>
          <a:p>
            <a:pPr algn="just">
              <a:lnSpc>
                <a:spcPts val="2699"/>
              </a:lnSpc>
            </a:pPr>
            <a:r>
              <a:rPr lang="en-US" sz="1927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Periodicidad:</a:t>
            </a:r>
          </a:p>
          <a:p>
            <a:pPr algn="just">
              <a:lnSpc>
                <a:spcPts val="2699"/>
              </a:lnSpc>
            </a:pPr>
            <a:r>
              <a:rPr lang="en-US" sz="1927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 Mensual (monitoreo) / Trimestral (decisiones comerciales)</a:t>
            </a:r>
          </a:p>
          <a:p>
            <a:pPr algn="just">
              <a:lnSpc>
                <a:spcPts val="2699"/>
              </a:lnSpc>
            </a:pPr>
            <a:r>
              <a:rPr lang="en-US" sz="1927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Umbrales:</a:t>
            </a:r>
          </a:p>
          <a:p>
            <a:pPr algn="just">
              <a:lnSpc>
                <a:spcPts val="2699"/>
              </a:lnSpc>
            </a:pPr>
            <a:r>
              <a:rPr lang="en-US" sz="1927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 Caída ≥15% = reforzar campañas; crecimiento ≥20% = oportunidad.</a:t>
            </a:r>
          </a:p>
          <a:p>
            <a:pPr algn="just">
              <a:lnSpc>
                <a:spcPts val="2699"/>
              </a:lnSpc>
            </a:pPr>
            <a:r>
              <a:rPr lang="en-US" sz="1927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Valor:</a:t>
            </a:r>
          </a:p>
          <a:p>
            <a:pPr algn="just">
              <a:lnSpc>
                <a:spcPts val="2699"/>
              </a:lnSpc>
            </a:pPr>
            <a:r>
              <a:rPr lang="en-US" sz="1927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 Optimiza decisiones comerciales basadas en tendencias reales.</a:t>
            </a:r>
          </a:p>
          <a:p>
            <a:pPr algn="just">
              <a:lnSpc>
                <a:spcPts val="2699"/>
              </a:lnSpc>
            </a:pPr>
            <a:endParaRPr lang="en-US" sz="1927" b="1">
              <a:solidFill>
                <a:srgbClr val="000000"/>
              </a:solidFill>
              <a:latin typeface="Agrandir Bold"/>
              <a:ea typeface="Agrandir Bold"/>
              <a:cs typeface="Agrandir Bold"/>
              <a:sym typeface="Agrandir Bold"/>
            </a:endParaRPr>
          </a:p>
        </p:txBody>
      </p:sp>
      <p:sp>
        <p:nvSpPr>
          <p:cNvPr id="16" name="Freeform 16"/>
          <p:cNvSpPr/>
          <p:nvPr/>
        </p:nvSpPr>
        <p:spPr>
          <a:xfrm>
            <a:off x="14351620" y="76583"/>
            <a:ext cx="3868919" cy="952117"/>
          </a:xfrm>
          <a:custGeom>
            <a:avLst/>
            <a:gdLst/>
            <a:ahLst/>
            <a:cxnLst/>
            <a:rect l="l" t="t" r="r" b="b"/>
            <a:pathLst>
              <a:path w="3868919" h="952117">
                <a:moveTo>
                  <a:pt x="0" y="0"/>
                </a:moveTo>
                <a:lnTo>
                  <a:pt x="3868920" y="0"/>
                </a:lnTo>
                <a:lnTo>
                  <a:pt x="3868920" y="952117"/>
                </a:lnTo>
                <a:lnTo>
                  <a:pt x="0" y="95211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45982" y="482057"/>
            <a:ext cx="6720450" cy="3437820"/>
            <a:chOff x="0" y="0"/>
            <a:chExt cx="1769995" cy="90543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69995" cy="905434"/>
            </a:xfrm>
            <a:custGeom>
              <a:avLst/>
              <a:gdLst/>
              <a:ahLst/>
              <a:cxnLst/>
              <a:rect l="l" t="t" r="r" b="b"/>
              <a:pathLst>
                <a:path w="1769995" h="905434">
                  <a:moveTo>
                    <a:pt x="34560" y="0"/>
                  </a:moveTo>
                  <a:lnTo>
                    <a:pt x="1735435" y="0"/>
                  </a:lnTo>
                  <a:cubicBezTo>
                    <a:pt x="1754522" y="0"/>
                    <a:pt x="1769995" y="15473"/>
                    <a:pt x="1769995" y="34560"/>
                  </a:cubicBezTo>
                  <a:lnTo>
                    <a:pt x="1769995" y="870874"/>
                  </a:lnTo>
                  <a:cubicBezTo>
                    <a:pt x="1769995" y="880040"/>
                    <a:pt x="1766354" y="888831"/>
                    <a:pt x="1759873" y="895312"/>
                  </a:cubicBezTo>
                  <a:cubicBezTo>
                    <a:pt x="1753391" y="901793"/>
                    <a:pt x="1744601" y="905434"/>
                    <a:pt x="1735435" y="905434"/>
                  </a:cubicBezTo>
                  <a:lnTo>
                    <a:pt x="34560" y="905434"/>
                  </a:lnTo>
                  <a:cubicBezTo>
                    <a:pt x="15473" y="905434"/>
                    <a:pt x="0" y="889961"/>
                    <a:pt x="0" y="870874"/>
                  </a:cubicBezTo>
                  <a:lnTo>
                    <a:pt x="0" y="34560"/>
                  </a:lnTo>
                  <a:cubicBezTo>
                    <a:pt x="0" y="15473"/>
                    <a:pt x="15473" y="0"/>
                    <a:pt x="34560" y="0"/>
                  </a:cubicBezTo>
                  <a:close/>
                </a:path>
              </a:pathLst>
            </a:custGeom>
            <a:solidFill>
              <a:srgbClr val="5B3121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1769995" cy="96258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12994" y="1199101"/>
            <a:ext cx="6807293" cy="3944399"/>
            <a:chOff x="0" y="0"/>
            <a:chExt cx="1054628" cy="61109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054628" cy="611091"/>
            </a:xfrm>
            <a:custGeom>
              <a:avLst/>
              <a:gdLst/>
              <a:ahLst/>
              <a:cxnLst/>
              <a:rect l="l" t="t" r="r" b="b"/>
              <a:pathLst>
                <a:path w="1054628" h="611091">
                  <a:moveTo>
                    <a:pt x="71650" y="0"/>
                  </a:moveTo>
                  <a:lnTo>
                    <a:pt x="982978" y="0"/>
                  </a:lnTo>
                  <a:cubicBezTo>
                    <a:pt x="1001981" y="0"/>
                    <a:pt x="1020205" y="7549"/>
                    <a:pt x="1033642" y="20986"/>
                  </a:cubicBezTo>
                  <a:cubicBezTo>
                    <a:pt x="1047079" y="34423"/>
                    <a:pt x="1054628" y="52647"/>
                    <a:pt x="1054628" y="71650"/>
                  </a:cubicBezTo>
                  <a:lnTo>
                    <a:pt x="1054628" y="539441"/>
                  </a:lnTo>
                  <a:cubicBezTo>
                    <a:pt x="1054628" y="558444"/>
                    <a:pt x="1047079" y="576668"/>
                    <a:pt x="1033642" y="590105"/>
                  </a:cubicBezTo>
                  <a:cubicBezTo>
                    <a:pt x="1020205" y="603542"/>
                    <a:pt x="1001981" y="611091"/>
                    <a:pt x="982978" y="611091"/>
                  </a:cubicBezTo>
                  <a:lnTo>
                    <a:pt x="71650" y="611091"/>
                  </a:lnTo>
                  <a:cubicBezTo>
                    <a:pt x="52647" y="611091"/>
                    <a:pt x="34423" y="603542"/>
                    <a:pt x="20986" y="590105"/>
                  </a:cubicBezTo>
                  <a:cubicBezTo>
                    <a:pt x="7549" y="576668"/>
                    <a:pt x="0" y="558444"/>
                    <a:pt x="0" y="539441"/>
                  </a:cubicBezTo>
                  <a:lnTo>
                    <a:pt x="0" y="71650"/>
                  </a:lnTo>
                  <a:cubicBezTo>
                    <a:pt x="0" y="52647"/>
                    <a:pt x="7549" y="34423"/>
                    <a:pt x="20986" y="20986"/>
                  </a:cubicBezTo>
                  <a:cubicBezTo>
                    <a:pt x="34423" y="7549"/>
                    <a:pt x="52647" y="0"/>
                    <a:pt x="71650" y="0"/>
                  </a:cubicBezTo>
                  <a:close/>
                </a:path>
              </a:pathLst>
            </a:custGeom>
            <a:blipFill>
              <a:blip r:embed="rId2"/>
              <a:stretch>
                <a:fillRect t="-79516" b="-79516"/>
              </a:stretch>
            </a:blipFill>
          </p:spPr>
          <p:txBody>
            <a:bodyPr/>
            <a:lstStyle/>
            <a:p>
              <a:endParaRPr lang="es-MX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612994" y="5794766"/>
            <a:ext cx="7052705" cy="3658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800"/>
              </a:lnSpc>
            </a:pPr>
            <a:r>
              <a:rPr lang="en-US" sz="6800" b="1">
                <a:solidFill>
                  <a:srgbClr val="5B3121"/>
                </a:solidFill>
                <a:latin typeface="Agrandir Bold"/>
                <a:ea typeface="Agrandir Bold"/>
                <a:cs typeface="Agrandir Bold"/>
                <a:sym typeface="Agrandir Bold"/>
              </a:rPr>
              <a:t>Elementos Analíticos a Incorporar</a:t>
            </a:r>
          </a:p>
          <a:p>
            <a:pPr algn="l">
              <a:lnSpc>
                <a:spcPts val="6800"/>
              </a:lnSpc>
            </a:pPr>
            <a:endParaRPr lang="en-US" sz="6800" b="1">
              <a:solidFill>
                <a:srgbClr val="5B3121"/>
              </a:solidFill>
              <a:latin typeface="Agrandir Bold"/>
              <a:ea typeface="Agrandir Bold"/>
              <a:cs typeface="Agrandir Bold"/>
              <a:sym typeface="Agrandir Bold"/>
            </a:endParaRPr>
          </a:p>
        </p:txBody>
      </p:sp>
      <p:sp>
        <p:nvSpPr>
          <p:cNvPr id="8" name="Freeform 8"/>
          <p:cNvSpPr/>
          <p:nvPr/>
        </p:nvSpPr>
        <p:spPr>
          <a:xfrm rot="-1521398">
            <a:off x="457726" y="8936922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9" name="Freeform 9"/>
          <p:cNvSpPr/>
          <p:nvPr/>
        </p:nvSpPr>
        <p:spPr>
          <a:xfrm rot="-1825997">
            <a:off x="4468" y="7009650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0" name="Freeform 10"/>
          <p:cNvSpPr/>
          <p:nvPr/>
        </p:nvSpPr>
        <p:spPr>
          <a:xfrm rot="274515">
            <a:off x="142347" y="55254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1" name="Freeform 11"/>
          <p:cNvSpPr/>
          <p:nvPr/>
        </p:nvSpPr>
        <p:spPr>
          <a:xfrm rot="-1420549">
            <a:off x="5923835" y="141382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9" y="0"/>
                </a:lnTo>
                <a:lnTo>
                  <a:pt x="1615589" y="924635"/>
                </a:lnTo>
                <a:lnTo>
                  <a:pt x="0" y="92463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2" name="Freeform 12"/>
          <p:cNvSpPr/>
          <p:nvPr/>
        </p:nvSpPr>
        <p:spPr>
          <a:xfrm rot="2619672">
            <a:off x="16403807" y="6783740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5"/>
                </a:lnTo>
                <a:lnTo>
                  <a:pt x="0" y="92463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3" name="Freeform 13"/>
          <p:cNvSpPr/>
          <p:nvPr/>
        </p:nvSpPr>
        <p:spPr>
          <a:xfrm rot="-1289189">
            <a:off x="4077388" y="9128754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5"/>
                </a:lnTo>
                <a:lnTo>
                  <a:pt x="0" y="92463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4" name="Freeform 14"/>
          <p:cNvSpPr/>
          <p:nvPr/>
        </p:nvSpPr>
        <p:spPr>
          <a:xfrm>
            <a:off x="6635363" y="7861871"/>
            <a:ext cx="531069" cy="531069"/>
          </a:xfrm>
          <a:custGeom>
            <a:avLst/>
            <a:gdLst/>
            <a:ahLst/>
            <a:cxnLst/>
            <a:rect l="l" t="t" r="r" b="b"/>
            <a:pathLst>
              <a:path w="531069" h="531069">
                <a:moveTo>
                  <a:pt x="0" y="0"/>
                </a:moveTo>
                <a:lnTo>
                  <a:pt x="531069" y="0"/>
                </a:lnTo>
                <a:lnTo>
                  <a:pt x="531069" y="531069"/>
                </a:lnTo>
                <a:lnTo>
                  <a:pt x="0" y="531069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5" name="TextBox 15"/>
          <p:cNvSpPr txBox="1"/>
          <p:nvPr/>
        </p:nvSpPr>
        <p:spPr>
          <a:xfrm>
            <a:off x="8665699" y="1809418"/>
            <a:ext cx="9066667" cy="6640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2. Cobertura de Vacunación </a:t>
            </a:r>
          </a:p>
          <a:p>
            <a:pPr algn="l">
              <a:lnSpc>
                <a:spcPts val="2520"/>
              </a:lnSpc>
            </a:pPr>
            <a:r>
              <a:rPr lang="en-US" sz="1800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Qué:</a:t>
            </a:r>
          </a:p>
          <a:p>
            <a:pPr algn="l">
              <a:lnSpc>
                <a:spcPts val="2520"/>
              </a:lnSpc>
            </a:pPr>
            <a:r>
              <a:rPr lang="en-US" sz="1800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 Comparación de cobertura de vacunación entre períodos del 2026-2027 (Q1 vs Q2; S1 vs S2), por comuna y especie.</a:t>
            </a:r>
          </a:p>
          <a:p>
            <a:pPr algn="l">
              <a:lnSpc>
                <a:spcPts val="2520"/>
              </a:lnSpc>
            </a:pPr>
            <a:r>
              <a:rPr lang="en-US" sz="1800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Por qué:</a:t>
            </a:r>
          </a:p>
          <a:p>
            <a:pPr algn="l">
              <a:lnSpc>
                <a:spcPts val="2520"/>
              </a:lnSpc>
            </a:pPr>
            <a:r>
              <a:rPr lang="en-US" sz="1800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 Detectar tendencias (mejora/caída) y ajustar campañas, focalizar recursos y evaluar impacto municipal.</a:t>
            </a:r>
          </a:p>
          <a:p>
            <a:pPr algn="l">
              <a:lnSpc>
                <a:spcPts val="2520"/>
              </a:lnSpc>
            </a:pPr>
            <a:r>
              <a:rPr lang="en-US" sz="1800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Cómo:</a:t>
            </a:r>
          </a:p>
          <a:p>
            <a:pPr marL="388620" lvl="1" indent="-194310" algn="l">
              <a:lnSpc>
                <a:spcPts val="2520"/>
              </a:lnSpc>
              <a:buFont typeface="Arial"/>
              <a:buChar char="•"/>
            </a:pPr>
            <a:r>
              <a:rPr lang="en-US" sz="1800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Filtrar eventos de vacunación</a:t>
            </a:r>
          </a:p>
          <a:p>
            <a:pPr marL="388620" lvl="1" indent="-194310" algn="l">
              <a:lnSpc>
                <a:spcPts val="2520"/>
              </a:lnSpc>
              <a:buFont typeface="Arial"/>
              <a:buChar char="•"/>
            </a:pPr>
            <a:r>
              <a:rPr lang="en-US" sz="1800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Agrupar por período, comuna y especie</a:t>
            </a:r>
          </a:p>
          <a:p>
            <a:pPr marL="388620" lvl="1" indent="-194310" algn="l">
              <a:lnSpc>
                <a:spcPts val="2520"/>
              </a:lnSpc>
              <a:buFont typeface="Arial"/>
              <a:buChar char="•"/>
            </a:pPr>
            <a:r>
              <a:rPr lang="en-US" sz="1800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Calcular % cobertura</a:t>
            </a:r>
          </a:p>
          <a:p>
            <a:pPr marL="388620" lvl="1" indent="-194310" algn="l">
              <a:lnSpc>
                <a:spcPts val="2520"/>
              </a:lnSpc>
              <a:buFont typeface="Arial"/>
              <a:buChar char="•"/>
            </a:pPr>
            <a:r>
              <a:rPr lang="en-US" sz="1800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Comparar períodos equivalentes</a:t>
            </a:r>
          </a:p>
          <a:p>
            <a:pPr marL="388620" lvl="1" indent="-194310" algn="l">
              <a:lnSpc>
                <a:spcPts val="2520"/>
              </a:lnSpc>
              <a:buFont typeface="Arial"/>
              <a:buChar char="•"/>
            </a:pPr>
            <a:r>
              <a:rPr lang="en-US" sz="1800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Clasificar tendencia (↑ ↓ →)</a:t>
            </a:r>
          </a:p>
          <a:p>
            <a:pPr marL="388620" lvl="1" indent="-194310" algn="l">
              <a:lnSpc>
                <a:spcPts val="2520"/>
              </a:lnSpc>
              <a:buFont typeface="Arial"/>
              <a:buChar char="•"/>
            </a:pPr>
            <a:r>
              <a:rPr lang="en-US" sz="1800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Visualizar en líneas y mapas</a:t>
            </a:r>
          </a:p>
          <a:p>
            <a:pPr algn="l">
              <a:lnSpc>
                <a:spcPts val="2520"/>
              </a:lnSpc>
            </a:pPr>
            <a:r>
              <a:rPr lang="en-US" sz="1800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Periodicidad:</a:t>
            </a:r>
          </a:p>
          <a:p>
            <a:pPr algn="l">
              <a:lnSpc>
                <a:spcPts val="2520"/>
              </a:lnSpc>
            </a:pPr>
            <a:r>
              <a:rPr lang="en-US" sz="1800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 Mensual (seguimiento) / Semestral (evaluación estratégica)</a:t>
            </a:r>
          </a:p>
          <a:p>
            <a:pPr algn="l">
              <a:lnSpc>
                <a:spcPts val="2520"/>
              </a:lnSpc>
            </a:pPr>
            <a:r>
              <a:rPr lang="en-US" sz="1800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Umbrales:</a:t>
            </a:r>
          </a:p>
          <a:p>
            <a:pPr algn="l">
              <a:lnSpc>
                <a:spcPts val="2520"/>
              </a:lnSpc>
            </a:pPr>
            <a:r>
              <a:rPr lang="en-US" sz="1800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 &lt;60% = zona crítica; caída ≥10% = alerta.</a:t>
            </a:r>
          </a:p>
          <a:p>
            <a:pPr algn="l">
              <a:lnSpc>
                <a:spcPts val="2520"/>
              </a:lnSpc>
            </a:pPr>
            <a:r>
              <a:rPr lang="en-US" sz="1800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Valor:</a:t>
            </a:r>
          </a:p>
          <a:p>
            <a:pPr algn="l">
              <a:lnSpc>
                <a:spcPts val="2520"/>
              </a:lnSpc>
            </a:pPr>
            <a:r>
              <a:rPr lang="en-US" sz="1800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 Permite priorizar campañas y recursos según evolución sanitaria.</a:t>
            </a:r>
          </a:p>
          <a:p>
            <a:pPr algn="l">
              <a:lnSpc>
                <a:spcPts val="2520"/>
              </a:lnSpc>
            </a:pPr>
            <a:endParaRPr lang="en-US" sz="1800" b="1">
              <a:solidFill>
                <a:srgbClr val="000000"/>
              </a:solidFill>
              <a:latin typeface="Agrandir Bold"/>
              <a:ea typeface="Agrandir Bold"/>
              <a:cs typeface="Agrandir Bold"/>
              <a:sym typeface="Agrandir Bold"/>
            </a:endParaRPr>
          </a:p>
        </p:txBody>
      </p:sp>
      <p:sp>
        <p:nvSpPr>
          <p:cNvPr id="16" name="Freeform 16"/>
          <p:cNvSpPr/>
          <p:nvPr/>
        </p:nvSpPr>
        <p:spPr>
          <a:xfrm>
            <a:off x="14351620" y="76583"/>
            <a:ext cx="3868919" cy="952117"/>
          </a:xfrm>
          <a:custGeom>
            <a:avLst/>
            <a:gdLst/>
            <a:ahLst/>
            <a:cxnLst/>
            <a:rect l="l" t="t" r="r" b="b"/>
            <a:pathLst>
              <a:path w="3868919" h="952117">
                <a:moveTo>
                  <a:pt x="0" y="0"/>
                </a:moveTo>
                <a:lnTo>
                  <a:pt x="3868920" y="0"/>
                </a:lnTo>
                <a:lnTo>
                  <a:pt x="3868920" y="952117"/>
                </a:lnTo>
                <a:lnTo>
                  <a:pt x="0" y="95211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45982" y="482057"/>
            <a:ext cx="6720450" cy="3437820"/>
            <a:chOff x="0" y="0"/>
            <a:chExt cx="1769995" cy="90543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69995" cy="905434"/>
            </a:xfrm>
            <a:custGeom>
              <a:avLst/>
              <a:gdLst/>
              <a:ahLst/>
              <a:cxnLst/>
              <a:rect l="l" t="t" r="r" b="b"/>
              <a:pathLst>
                <a:path w="1769995" h="905434">
                  <a:moveTo>
                    <a:pt x="34560" y="0"/>
                  </a:moveTo>
                  <a:lnTo>
                    <a:pt x="1735435" y="0"/>
                  </a:lnTo>
                  <a:cubicBezTo>
                    <a:pt x="1754522" y="0"/>
                    <a:pt x="1769995" y="15473"/>
                    <a:pt x="1769995" y="34560"/>
                  </a:cubicBezTo>
                  <a:lnTo>
                    <a:pt x="1769995" y="870874"/>
                  </a:lnTo>
                  <a:cubicBezTo>
                    <a:pt x="1769995" y="880040"/>
                    <a:pt x="1766354" y="888831"/>
                    <a:pt x="1759873" y="895312"/>
                  </a:cubicBezTo>
                  <a:cubicBezTo>
                    <a:pt x="1753391" y="901793"/>
                    <a:pt x="1744601" y="905434"/>
                    <a:pt x="1735435" y="905434"/>
                  </a:cubicBezTo>
                  <a:lnTo>
                    <a:pt x="34560" y="905434"/>
                  </a:lnTo>
                  <a:cubicBezTo>
                    <a:pt x="15473" y="905434"/>
                    <a:pt x="0" y="889961"/>
                    <a:pt x="0" y="870874"/>
                  </a:cubicBezTo>
                  <a:lnTo>
                    <a:pt x="0" y="34560"/>
                  </a:lnTo>
                  <a:cubicBezTo>
                    <a:pt x="0" y="15473"/>
                    <a:pt x="15473" y="0"/>
                    <a:pt x="34560" y="0"/>
                  </a:cubicBezTo>
                  <a:close/>
                </a:path>
              </a:pathLst>
            </a:custGeom>
            <a:solidFill>
              <a:srgbClr val="5B3121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1769995" cy="96258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12994" y="1199101"/>
            <a:ext cx="6807293" cy="3944399"/>
            <a:chOff x="0" y="0"/>
            <a:chExt cx="1054628" cy="61109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054628" cy="611091"/>
            </a:xfrm>
            <a:custGeom>
              <a:avLst/>
              <a:gdLst/>
              <a:ahLst/>
              <a:cxnLst/>
              <a:rect l="l" t="t" r="r" b="b"/>
              <a:pathLst>
                <a:path w="1054628" h="611091">
                  <a:moveTo>
                    <a:pt x="71650" y="0"/>
                  </a:moveTo>
                  <a:lnTo>
                    <a:pt x="982978" y="0"/>
                  </a:lnTo>
                  <a:cubicBezTo>
                    <a:pt x="1001981" y="0"/>
                    <a:pt x="1020205" y="7549"/>
                    <a:pt x="1033642" y="20986"/>
                  </a:cubicBezTo>
                  <a:cubicBezTo>
                    <a:pt x="1047079" y="34423"/>
                    <a:pt x="1054628" y="52647"/>
                    <a:pt x="1054628" y="71650"/>
                  </a:cubicBezTo>
                  <a:lnTo>
                    <a:pt x="1054628" y="539441"/>
                  </a:lnTo>
                  <a:cubicBezTo>
                    <a:pt x="1054628" y="558444"/>
                    <a:pt x="1047079" y="576668"/>
                    <a:pt x="1033642" y="590105"/>
                  </a:cubicBezTo>
                  <a:cubicBezTo>
                    <a:pt x="1020205" y="603542"/>
                    <a:pt x="1001981" y="611091"/>
                    <a:pt x="982978" y="611091"/>
                  </a:cubicBezTo>
                  <a:lnTo>
                    <a:pt x="71650" y="611091"/>
                  </a:lnTo>
                  <a:cubicBezTo>
                    <a:pt x="52647" y="611091"/>
                    <a:pt x="34423" y="603542"/>
                    <a:pt x="20986" y="590105"/>
                  </a:cubicBezTo>
                  <a:cubicBezTo>
                    <a:pt x="7549" y="576668"/>
                    <a:pt x="0" y="558444"/>
                    <a:pt x="0" y="539441"/>
                  </a:cubicBezTo>
                  <a:lnTo>
                    <a:pt x="0" y="71650"/>
                  </a:lnTo>
                  <a:cubicBezTo>
                    <a:pt x="0" y="52647"/>
                    <a:pt x="7549" y="34423"/>
                    <a:pt x="20986" y="20986"/>
                  </a:cubicBezTo>
                  <a:cubicBezTo>
                    <a:pt x="34423" y="7549"/>
                    <a:pt x="52647" y="0"/>
                    <a:pt x="71650" y="0"/>
                  </a:cubicBezTo>
                  <a:close/>
                </a:path>
              </a:pathLst>
            </a:custGeom>
            <a:blipFill>
              <a:blip r:embed="rId2"/>
              <a:stretch>
                <a:fillRect t="-79516" b="-79516"/>
              </a:stretch>
            </a:blipFill>
          </p:spPr>
          <p:txBody>
            <a:bodyPr/>
            <a:lstStyle/>
            <a:p>
              <a:endParaRPr lang="es-MX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612994" y="5794766"/>
            <a:ext cx="7052705" cy="3658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800"/>
              </a:lnSpc>
            </a:pPr>
            <a:r>
              <a:rPr lang="en-US" sz="6800" b="1">
                <a:solidFill>
                  <a:srgbClr val="5B3121"/>
                </a:solidFill>
                <a:latin typeface="Agrandir Bold"/>
                <a:ea typeface="Agrandir Bold"/>
                <a:cs typeface="Agrandir Bold"/>
                <a:sym typeface="Agrandir Bold"/>
              </a:rPr>
              <a:t>Elementos Analíticos a Incorporar</a:t>
            </a:r>
          </a:p>
          <a:p>
            <a:pPr algn="l">
              <a:lnSpc>
                <a:spcPts val="6800"/>
              </a:lnSpc>
            </a:pPr>
            <a:endParaRPr lang="en-US" sz="6800" b="1">
              <a:solidFill>
                <a:srgbClr val="5B3121"/>
              </a:solidFill>
              <a:latin typeface="Agrandir Bold"/>
              <a:ea typeface="Agrandir Bold"/>
              <a:cs typeface="Agrandir Bold"/>
              <a:sym typeface="Agrandir Bold"/>
            </a:endParaRPr>
          </a:p>
        </p:txBody>
      </p:sp>
      <p:sp>
        <p:nvSpPr>
          <p:cNvPr id="8" name="Freeform 8"/>
          <p:cNvSpPr/>
          <p:nvPr/>
        </p:nvSpPr>
        <p:spPr>
          <a:xfrm rot="-1521398">
            <a:off x="10729598" y="7992322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grpSp>
        <p:nvGrpSpPr>
          <p:cNvPr id="9" name="Group 9"/>
          <p:cNvGrpSpPr/>
          <p:nvPr/>
        </p:nvGrpSpPr>
        <p:grpSpPr>
          <a:xfrm>
            <a:off x="418686" y="8500417"/>
            <a:ext cx="8539470" cy="1790564"/>
            <a:chOff x="0" y="0"/>
            <a:chExt cx="2249079" cy="47158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249079" cy="471589"/>
            </a:xfrm>
            <a:custGeom>
              <a:avLst/>
              <a:gdLst/>
              <a:ahLst/>
              <a:cxnLst/>
              <a:rect l="l" t="t" r="r" b="b"/>
              <a:pathLst>
                <a:path w="2249079" h="471589">
                  <a:moveTo>
                    <a:pt x="27198" y="0"/>
                  </a:moveTo>
                  <a:lnTo>
                    <a:pt x="2221880" y="0"/>
                  </a:lnTo>
                  <a:cubicBezTo>
                    <a:pt x="2229094" y="0"/>
                    <a:pt x="2236012" y="2866"/>
                    <a:pt x="2241112" y="7966"/>
                  </a:cubicBezTo>
                  <a:cubicBezTo>
                    <a:pt x="2246213" y="13067"/>
                    <a:pt x="2249079" y="19985"/>
                    <a:pt x="2249079" y="27198"/>
                  </a:cubicBezTo>
                  <a:lnTo>
                    <a:pt x="2249079" y="444391"/>
                  </a:lnTo>
                  <a:cubicBezTo>
                    <a:pt x="2249079" y="459412"/>
                    <a:pt x="2236902" y="471589"/>
                    <a:pt x="2221880" y="471589"/>
                  </a:cubicBezTo>
                  <a:lnTo>
                    <a:pt x="27198" y="471589"/>
                  </a:lnTo>
                  <a:cubicBezTo>
                    <a:pt x="12177" y="471589"/>
                    <a:pt x="0" y="459412"/>
                    <a:pt x="0" y="444391"/>
                  </a:cubicBezTo>
                  <a:lnTo>
                    <a:pt x="0" y="27198"/>
                  </a:lnTo>
                  <a:cubicBezTo>
                    <a:pt x="0" y="12177"/>
                    <a:pt x="12177" y="0"/>
                    <a:pt x="27198" y="0"/>
                  </a:cubicBezTo>
                  <a:close/>
                </a:path>
              </a:pathLst>
            </a:custGeom>
            <a:solidFill>
              <a:srgbClr val="5B3121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57150"/>
              <a:ext cx="2249079" cy="5287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0"/>
                </a:lnSpc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 rot="-1825997">
            <a:off x="4468" y="7009650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3" name="Freeform 13"/>
          <p:cNvSpPr/>
          <p:nvPr/>
        </p:nvSpPr>
        <p:spPr>
          <a:xfrm rot="274515">
            <a:off x="16575867" y="3226554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4" name="Freeform 14"/>
          <p:cNvSpPr/>
          <p:nvPr/>
        </p:nvSpPr>
        <p:spPr>
          <a:xfrm rot="-1420549">
            <a:off x="9261659" y="-181402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5"/>
                </a:lnTo>
                <a:lnTo>
                  <a:pt x="0" y="92463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5" name="Freeform 15"/>
          <p:cNvSpPr/>
          <p:nvPr/>
        </p:nvSpPr>
        <p:spPr>
          <a:xfrm rot="2619672">
            <a:off x="16482661" y="5878135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5"/>
                </a:lnTo>
                <a:lnTo>
                  <a:pt x="0" y="92463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6" name="Freeform 16"/>
          <p:cNvSpPr/>
          <p:nvPr/>
        </p:nvSpPr>
        <p:spPr>
          <a:xfrm rot="-1289189">
            <a:off x="3630267" y="8991318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5"/>
                </a:lnTo>
                <a:lnTo>
                  <a:pt x="0" y="92463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7" name="Freeform 17"/>
          <p:cNvSpPr/>
          <p:nvPr/>
        </p:nvSpPr>
        <p:spPr>
          <a:xfrm>
            <a:off x="6635363" y="7861871"/>
            <a:ext cx="531069" cy="531069"/>
          </a:xfrm>
          <a:custGeom>
            <a:avLst/>
            <a:gdLst/>
            <a:ahLst/>
            <a:cxnLst/>
            <a:rect l="l" t="t" r="r" b="b"/>
            <a:pathLst>
              <a:path w="531069" h="531069">
                <a:moveTo>
                  <a:pt x="0" y="0"/>
                </a:moveTo>
                <a:lnTo>
                  <a:pt x="531069" y="0"/>
                </a:lnTo>
                <a:lnTo>
                  <a:pt x="531069" y="531069"/>
                </a:lnTo>
                <a:lnTo>
                  <a:pt x="0" y="531069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8" name="TextBox 18"/>
          <p:cNvSpPr txBox="1"/>
          <p:nvPr/>
        </p:nvSpPr>
        <p:spPr>
          <a:xfrm>
            <a:off x="9444042" y="1414780"/>
            <a:ext cx="8186784" cy="7371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9"/>
              </a:lnSpc>
            </a:pPr>
            <a:r>
              <a:rPr lang="en-US" sz="1899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3. Adherencia a Rutinas de Cuidado</a:t>
            </a:r>
          </a:p>
          <a:p>
            <a:pPr algn="l">
              <a:lnSpc>
                <a:spcPts val="2659"/>
              </a:lnSpc>
            </a:pPr>
            <a:r>
              <a:rPr lang="en-US" sz="1899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Qué:</a:t>
            </a:r>
          </a:p>
          <a:p>
            <a:pPr algn="l">
              <a:lnSpc>
                <a:spcPts val="2659"/>
              </a:lnSpc>
            </a:pPr>
            <a:r>
              <a:rPr lang="en-US" sz="1899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 Comparación del cumplimiento de rutinas (alimentación, paseos, controles, medicación) entre períodos de 2026 - 2027 (meses o semestres), por comuna, especie y tipo.</a:t>
            </a:r>
          </a:p>
          <a:p>
            <a:pPr algn="l">
              <a:lnSpc>
                <a:spcPts val="2659"/>
              </a:lnSpc>
            </a:pPr>
            <a:r>
              <a:rPr lang="en-US" sz="1899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Por qué:</a:t>
            </a:r>
          </a:p>
          <a:p>
            <a:pPr algn="l">
              <a:lnSpc>
                <a:spcPts val="2659"/>
              </a:lnSpc>
            </a:pPr>
            <a:r>
              <a:rPr lang="en-US" sz="1899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 Evaluar mejora o deterioro de hábitos para optimizar recordatorios, gamificación y campañas educativas.</a:t>
            </a:r>
          </a:p>
          <a:p>
            <a:pPr algn="l">
              <a:lnSpc>
                <a:spcPts val="2659"/>
              </a:lnSpc>
            </a:pPr>
            <a:r>
              <a:rPr lang="en-US" sz="1899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Cómo:</a:t>
            </a:r>
          </a:p>
          <a:p>
            <a:pPr marL="410209" lvl="1" indent="-205105" algn="l">
              <a:lnSpc>
                <a:spcPts val="2659"/>
              </a:lnSpc>
              <a:buFont typeface="Arial"/>
              <a:buChar char="•"/>
            </a:pPr>
            <a:r>
              <a:rPr lang="en-US" sz="1899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Calcular % cumplimiento</a:t>
            </a:r>
          </a:p>
          <a:p>
            <a:pPr marL="410209" lvl="1" indent="-205105" algn="l">
              <a:lnSpc>
                <a:spcPts val="2659"/>
              </a:lnSpc>
              <a:buFont typeface="Arial"/>
              <a:buChar char="•"/>
            </a:pPr>
            <a:r>
              <a:rPr lang="en-US" sz="1899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Segmentar por rutina, especie y comuna</a:t>
            </a:r>
          </a:p>
          <a:p>
            <a:pPr marL="410209" lvl="1" indent="-205105" algn="l">
              <a:lnSpc>
                <a:spcPts val="2659"/>
              </a:lnSpc>
              <a:buFont typeface="Arial"/>
              <a:buChar char="•"/>
            </a:pPr>
            <a:r>
              <a:rPr lang="en-US" sz="1899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Medir retrasos</a:t>
            </a:r>
          </a:p>
          <a:p>
            <a:pPr marL="410209" lvl="1" indent="-205105" algn="l">
              <a:lnSpc>
                <a:spcPts val="2659"/>
              </a:lnSpc>
              <a:buFont typeface="Arial"/>
              <a:buChar char="•"/>
            </a:pPr>
            <a:r>
              <a:rPr lang="en-US" sz="1899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Comparar períodos equivalentes</a:t>
            </a:r>
          </a:p>
          <a:p>
            <a:pPr marL="410209" lvl="1" indent="-205105" algn="l">
              <a:lnSpc>
                <a:spcPts val="2659"/>
              </a:lnSpc>
              <a:buFont typeface="Arial"/>
              <a:buChar char="•"/>
            </a:pPr>
            <a:r>
              <a:rPr lang="en-US" sz="1899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Visualizar tendencias y rankings</a:t>
            </a:r>
          </a:p>
          <a:p>
            <a:pPr algn="l">
              <a:lnSpc>
                <a:spcPts val="2659"/>
              </a:lnSpc>
            </a:pPr>
            <a:r>
              <a:rPr lang="en-US" sz="1899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Periodicidad:</a:t>
            </a:r>
          </a:p>
          <a:p>
            <a:pPr algn="l">
              <a:lnSpc>
                <a:spcPts val="2659"/>
              </a:lnSpc>
            </a:pPr>
            <a:r>
              <a:rPr lang="en-US" sz="1899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 Mensual (seguimiento) / Semestral (evaluación funcional)</a:t>
            </a:r>
          </a:p>
          <a:p>
            <a:pPr algn="l">
              <a:lnSpc>
                <a:spcPts val="2659"/>
              </a:lnSpc>
            </a:pPr>
            <a:r>
              <a:rPr lang="en-US" sz="1899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Umbrales:</a:t>
            </a:r>
          </a:p>
          <a:p>
            <a:pPr algn="l">
              <a:lnSpc>
                <a:spcPts val="2659"/>
              </a:lnSpc>
            </a:pPr>
            <a:r>
              <a:rPr lang="en-US" sz="1899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 &lt;50% = baja adherencia; caída ≥10% = reforzar engagement.</a:t>
            </a:r>
          </a:p>
          <a:p>
            <a:pPr algn="l">
              <a:lnSpc>
                <a:spcPts val="2659"/>
              </a:lnSpc>
            </a:pPr>
            <a:r>
              <a:rPr lang="en-US" sz="1899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Valor:</a:t>
            </a:r>
          </a:p>
          <a:p>
            <a:pPr algn="l">
              <a:lnSpc>
                <a:spcPts val="2659"/>
              </a:lnSpc>
            </a:pPr>
            <a:r>
              <a:rPr lang="en-US" sz="1899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 Permite mejorar funcionalidades de engagement y promover bienestar animal basado en el comportamiento.</a:t>
            </a:r>
          </a:p>
          <a:p>
            <a:pPr algn="l">
              <a:lnSpc>
                <a:spcPts val="2659"/>
              </a:lnSpc>
            </a:pPr>
            <a:endParaRPr lang="en-US" sz="1899" b="1">
              <a:solidFill>
                <a:srgbClr val="000000"/>
              </a:solidFill>
              <a:latin typeface="Agrandir Bold"/>
              <a:ea typeface="Agrandir Bold"/>
              <a:cs typeface="Agrandir Bold"/>
              <a:sym typeface="Agrandir Bold"/>
            </a:endParaRPr>
          </a:p>
        </p:txBody>
      </p:sp>
      <p:sp>
        <p:nvSpPr>
          <p:cNvPr id="19" name="Freeform 19"/>
          <p:cNvSpPr/>
          <p:nvPr/>
        </p:nvSpPr>
        <p:spPr>
          <a:xfrm>
            <a:off x="14351620" y="76583"/>
            <a:ext cx="3868919" cy="952117"/>
          </a:xfrm>
          <a:custGeom>
            <a:avLst/>
            <a:gdLst/>
            <a:ahLst/>
            <a:cxnLst/>
            <a:rect l="l" t="t" r="r" b="b"/>
            <a:pathLst>
              <a:path w="3868919" h="952117">
                <a:moveTo>
                  <a:pt x="0" y="0"/>
                </a:moveTo>
                <a:lnTo>
                  <a:pt x="3868920" y="0"/>
                </a:lnTo>
                <a:lnTo>
                  <a:pt x="3868920" y="952117"/>
                </a:lnTo>
                <a:lnTo>
                  <a:pt x="0" y="95211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1813758">
            <a:off x="587717" y="947122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3" name="Freeform 3"/>
          <p:cNvSpPr/>
          <p:nvPr/>
        </p:nvSpPr>
        <p:spPr>
          <a:xfrm rot="-1420549">
            <a:off x="3156874" y="820526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4"/>
                </a:lnTo>
                <a:lnTo>
                  <a:pt x="0" y="92463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4" name="Freeform 4"/>
          <p:cNvSpPr/>
          <p:nvPr/>
        </p:nvSpPr>
        <p:spPr>
          <a:xfrm rot="2606717">
            <a:off x="15864597" y="1419600"/>
            <a:ext cx="1472695" cy="842854"/>
          </a:xfrm>
          <a:custGeom>
            <a:avLst/>
            <a:gdLst/>
            <a:ahLst/>
            <a:cxnLst/>
            <a:rect l="l" t="t" r="r" b="b"/>
            <a:pathLst>
              <a:path w="1472695" h="842854">
                <a:moveTo>
                  <a:pt x="0" y="0"/>
                </a:moveTo>
                <a:lnTo>
                  <a:pt x="1472695" y="0"/>
                </a:lnTo>
                <a:lnTo>
                  <a:pt x="1472695" y="842854"/>
                </a:lnTo>
                <a:lnTo>
                  <a:pt x="0" y="84285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5" name="Freeform 5"/>
          <p:cNvSpPr/>
          <p:nvPr/>
        </p:nvSpPr>
        <p:spPr>
          <a:xfrm rot="-1998823">
            <a:off x="13932033" y="8196135"/>
            <a:ext cx="2509269" cy="1925864"/>
          </a:xfrm>
          <a:custGeom>
            <a:avLst/>
            <a:gdLst/>
            <a:ahLst/>
            <a:cxnLst/>
            <a:rect l="l" t="t" r="r" b="b"/>
            <a:pathLst>
              <a:path w="2509269" h="1925864">
                <a:moveTo>
                  <a:pt x="0" y="0"/>
                </a:moveTo>
                <a:lnTo>
                  <a:pt x="2509269" y="0"/>
                </a:lnTo>
                <a:lnTo>
                  <a:pt x="2509269" y="1925864"/>
                </a:lnTo>
                <a:lnTo>
                  <a:pt x="0" y="192586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6" name="Freeform 6"/>
          <p:cNvSpPr/>
          <p:nvPr/>
        </p:nvSpPr>
        <p:spPr>
          <a:xfrm rot="-2024627">
            <a:off x="5287535" y="8952304"/>
            <a:ext cx="1472695" cy="842854"/>
          </a:xfrm>
          <a:custGeom>
            <a:avLst/>
            <a:gdLst/>
            <a:ahLst/>
            <a:cxnLst/>
            <a:rect l="l" t="t" r="r" b="b"/>
            <a:pathLst>
              <a:path w="1472695" h="842854">
                <a:moveTo>
                  <a:pt x="0" y="0"/>
                </a:moveTo>
                <a:lnTo>
                  <a:pt x="1472695" y="0"/>
                </a:lnTo>
                <a:lnTo>
                  <a:pt x="1472695" y="842854"/>
                </a:lnTo>
                <a:lnTo>
                  <a:pt x="0" y="84285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grpSp>
        <p:nvGrpSpPr>
          <p:cNvPr id="7" name="Group 7"/>
          <p:cNvGrpSpPr/>
          <p:nvPr/>
        </p:nvGrpSpPr>
        <p:grpSpPr>
          <a:xfrm>
            <a:off x="887550" y="2473092"/>
            <a:ext cx="3077118" cy="2670408"/>
            <a:chOff x="0" y="0"/>
            <a:chExt cx="4102823" cy="3560544"/>
          </a:xfrm>
        </p:grpSpPr>
        <p:sp>
          <p:nvSpPr>
            <p:cNvPr id="8" name="Freeform 8"/>
            <p:cNvSpPr/>
            <p:nvPr/>
          </p:nvSpPr>
          <p:spPr>
            <a:xfrm>
              <a:off x="0" y="39820"/>
              <a:ext cx="1797761" cy="2535304"/>
            </a:xfrm>
            <a:custGeom>
              <a:avLst/>
              <a:gdLst/>
              <a:ahLst/>
              <a:cxnLst/>
              <a:rect l="l" t="t" r="r" b="b"/>
              <a:pathLst>
                <a:path w="1797761" h="2535304">
                  <a:moveTo>
                    <a:pt x="0" y="0"/>
                  </a:moveTo>
                  <a:lnTo>
                    <a:pt x="1797761" y="0"/>
                  </a:lnTo>
                  <a:lnTo>
                    <a:pt x="1797761" y="2535303"/>
                  </a:lnTo>
                  <a:lnTo>
                    <a:pt x="0" y="25353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MX"/>
            </a:p>
          </p:txBody>
        </p:sp>
        <p:sp>
          <p:nvSpPr>
            <p:cNvPr id="9" name="Freeform 9"/>
            <p:cNvSpPr/>
            <p:nvPr/>
          </p:nvSpPr>
          <p:spPr>
            <a:xfrm>
              <a:off x="2241599" y="0"/>
              <a:ext cx="1861224" cy="2614943"/>
            </a:xfrm>
            <a:custGeom>
              <a:avLst/>
              <a:gdLst/>
              <a:ahLst/>
              <a:cxnLst/>
              <a:rect l="l" t="t" r="r" b="b"/>
              <a:pathLst>
                <a:path w="1861224" h="2614943">
                  <a:moveTo>
                    <a:pt x="0" y="0"/>
                  </a:moveTo>
                  <a:lnTo>
                    <a:pt x="1861224" y="0"/>
                  </a:lnTo>
                  <a:lnTo>
                    <a:pt x="1861224" y="2614943"/>
                  </a:lnTo>
                  <a:lnTo>
                    <a:pt x="0" y="26149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27879" t="-5838" r="-27939" b="-5067"/>
              </a:stretch>
            </a:blipFill>
          </p:spPr>
          <p:txBody>
            <a:bodyPr/>
            <a:lstStyle/>
            <a:p>
              <a:endParaRPr lang="es-MX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1110514" y="945601"/>
              <a:ext cx="1852145" cy="2614943"/>
            </a:xfrm>
            <a:custGeom>
              <a:avLst/>
              <a:gdLst/>
              <a:ahLst/>
              <a:cxnLst/>
              <a:rect l="l" t="t" r="r" b="b"/>
              <a:pathLst>
                <a:path w="1852145" h="2614943">
                  <a:moveTo>
                    <a:pt x="0" y="0"/>
                  </a:moveTo>
                  <a:lnTo>
                    <a:pt x="1852145" y="0"/>
                  </a:lnTo>
                  <a:lnTo>
                    <a:pt x="1852145" y="2614943"/>
                  </a:lnTo>
                  <a:lnTo>
                    <a:pt x="0" y="26149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 lang="es-MX"/>
            </a:p>
          </p:txBody>
        </p:sp>
      </p:grpSp>
      <p:sp>
        <p:nvSpPr>
          <p:cNvPr id="11" name="Freeform 11"/>
          <p:cNvSpPr/>
          <p:nvPr/>
        </p:nvSpPr>
        <p:spPr>
          <a:xfrm>
            <a:off x="5697513" y="2473092"/>
            <a:ext cx="2859875" cy="2670408"/>
          </a:xfrm>
          <a:custGeom>
            <a:avLst/>
            <a:gdLst/>
            <a:ahLst/>
            <a:cxnLst/>
            <a:rect l="l" t="t" r="r" b="b"/>
            <a:pathLst>
              <a:path w="2859875" h="2670408">
                <a:moveTo>
                  <a:pt x="0" y="0"/>
                </a:moveTo>
                <a:lnTo>
                  <a:pt x="2859875" y="0"/>
                </a:lnTo>
                <a:lnTo>
                  <a:pt x="2859875" y="2670408"/>
                </a:lnTo>
                <a:lnTo>
                  <a:pt x="0" y="267040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2" name="Freeform 12"/>
          <p:cNvSpPr/>
          <p:nvPr/>
        </p:nvSpPr>
        <p:spPr>
          <a:xfrm>
            <a:off x="10069434" y="2509275"/>
            <a:ext cx="3003263" cy="2515233"/>
          </a:xfrm>
          <a:custGeom>
            <a:avLst/>
            <a:gdLst/>
            <a:ahLst/>
            <a:cxnLst/>
            <a:rect l="l" t="t" r="r" b="b"/>
            <a:pathLst>
              <a:path w="3003263" h="2515233">
                <a:moveTo>
                  <a:pt x="0" y="0"/>
                </a:moveTo>
                <a:lnTo>
                  <a:pt x="3003263" y="0"/>
                </a:lnTo>
                <a:lnTo>
                  <a:pt x="3003263" y="2515233"/>
                </a:lnTo>
                <a:lnTo>
                  <a:pt x="0" y="251523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3" name="Freeform 13"/>
          <p:cNvSpPr/>
          <p:nvPr/>
        </p:nvSpPr>
        <p:spPr>
          <a:xfrm>
            <a:off x="14434413" y="2653355"/>
            <a:ext cx="2684242" cy="2550030"/>
          </a:xfrm>
          <a:custGeom>
            <a:avLst/>
            <a:gdLst/>
            <a:ahLst/>
            <a:cxnLst/>
            <a:rect l="l" t="t" r="r" b="b"/>
            <a:pathLst>
              <a:path w="2684242" h="2550030">
                <a:moveTo>
                  <a:pt x="0" y="0"/>
                </a:moveTo>
                <a:lnTo>
                  <a:pt x="2684242" y="0"/>
                </a:lnTo>
                <a:lnTo>
                  <a:pt x="2684242" y="2550029"/>
                </a:lnTo>
                <a:lnTo>
                  <a:pt x="0" y="2550029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4" name="TextBox 14"/>
          <p:cNvSpPr txBox="1"/>
          <p:nvPr/>
        </p:nvSpPr>
        <p:spPr>
          <a:xfrm>
            <a:off x="4379422" y="153813"/>
            <a:ext cx="9213532" cy="1341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520"/>
              </a:lnSpc>
            </a:pPr>
            <a:r>
              <a:rPr lang="en-US" sz="6800" b="1" dirty="0" err="1">
                <a:solidFill>
                  <a:srgbClr val="5B3121"/>
                </a:solidFill>
                <a:latin typeface="Agrandir Bold"/>
                <a:ea typeface="Agrandir Bold"/>
                <a:cs typeface="Agrandir Bold"/>
                <a:sym typeface="Agrandir Bold"/>
              </a:rPr>
              <a:t>Tecnologías</a:t>
            </a:r>
            <a:r>
              <a:rPr lang="en-US" sz="6800" b="1" dirty="0">
                <a:solidFill>
                  <a:srgbClr val="5B3121"/>
                </a:solidFill>
                <a:latin typeface="Agrandir Bold"/>
                <a:ea typeface="Agrandir Bold"/>
                <a:cs typeface="Agrandir Bold"/>
                <a:sym typeface="Agrandir Bold"/>
              </a:rPr>
              <a:t> </a:t>
            </a:r>
            <a:r>
              <a:rPr lang="en-US" sz="6800" b="1" dirty="0" err="1">
                <a:solidFill>
                  <a:srgbClr val="5B3121"/>
                </a:solidFill>
                <a:latin typeface="Agrandir Bold"/>
                <a:ea typeface="Agrandir Bold"/>
                <a:cs typeface="Agrandir Bold"/>
                <a:sym typeface="Agrandir Bold"/>
              </a:rPr>
              <a:t>utilizadas</a:t>
            </a:r>
            <a:endParaRPr lang="en-US" sz="6800" b="1" dirty="0">
              <a:solidFill>
                <a:srgbClr val="5B3121"/>
              </a:solidFill>
              <a:latin typeface="Agrandir Bold"/>
              <a:ea typeface="Agrandir Bold"/>
              <a:cs typeface="Agrandir Bold"/>
              <a:sym typeface="Agrandir Bold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242291" y="178692"/>
            <a:ext cx="4361213" cy="4248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>
                <a:solidFill>
                  <a:srgbClr val="5B3121">
                    <a:alpha val="60000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Proyecto “PetCare”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42291" y="5543550"/>
            <a:ext cx="4286250" cy="43014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3390" lvl="1" indent="-226695" algn="just">
              <a:lnSpc>
                <a:spcPts val="2100"/>
              </a:lnSpc>
              <a:buFont typeface="Arial"/>
              <a:buChar char="•"/>
            </a:pPr>
            <a:r>
              <a:rPr lang="en-US" sz="2100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HTML:</a:t>
            </a:r>
            <a:r>
              <a:rPr lang="en-US" sz="21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Provee la estructura mínima necesaria para que el navegador cargue los archivos de React, usando el contenedor de “</a:t>
            </a:r>
            <a:r>
              <a:rPr lang="en-US" sz="2100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index.html</a:t>
            </a:r>
            <a:r>
              <a:rPr lang="en-US" sz="21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”, donde también se encuentran los metadatos de la aplicación.</a:t>
            </a:r>
          </a:p>
          <a:p>
            <a:pPr algn="just">
              <a:lnSpc>
                <a:spcPts val="2100"/>
              </a:lnSpc>
            </a:pPr>
            <a:endParaRPr lang="en-US" sz="21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3390" lvl="1" indent="-226695" algn="just">
              <a:lnSpc>
                <a:spcPts val="2100"/>
              </a:lnSpc>
              <a:buFont typeface="Arial"/>
              <a:buChar char="•"/>
            </a:pPr>
            <a:r>
              <a:rPr lang="en-US" sz="2100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CSS:</a:t>
            </a:r>
            <a:r>
              <a:rPr lang="en-US" sz="21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Define la presentación y el diseño visual de la interfaz.</a:t>
            </a:r>
          </a:p>
          <a:p>
            <a:pPr algn="just">
              <a:lnSpc>
                <a:spcPts val="2100"/>
              </a:lnSpc>
            </a:pPr>
            <a:endParaRPr lang="en-US" sz="21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3390" lvl="1" indent="-226695" algn="just">
              <a:lnSpc>
                <a:spcPts val="2100"/>
              </a:lnSpc>
              <a:buFont typeface="Arial"/>
              <a:buChar char="•"/>
            </a:pPr>
            <a:r>
              <a:rPr lang="en-US" sz="2100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JS:</a:t>
            </a:r>
            <a:r>
              <a:rPr lang="en-US" sz="21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Gestiona la funcionalidad dinámica y la lógica de la aplicación.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196827" y="5543550"/>
            <a:ext cx="3861247" cy="13677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100"/>
              </a:lnSpc>
            </a:pPr>
            <a:r>
              <a:rPr lang="en-US" sz="2100" b="1" dirty="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React:</a:t>
            </a:r>
            <a:r>
              <a:rPr lang="en-US" sz="21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Librería de </a:t>
            </a:r>
            <a:r>
              <a:rPr lang="en-US" sz="2100" i="1" dirty="0">
                <a:solidFill>
                  <a:srgbClr val="000000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JS</a:t>
            </a:r>
            <a:r>
              <a:rPr lang="en-US" sz="21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100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que</a:t>
            </a:r>
            <a:r>
              <a:rPr lang="en-US" sz="21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100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permite</a:t>
            </a:r>
            <a:r>
              <a:rPr lang="en-US" sz="21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la </a:t>
            </a:r>
            <a:r>
              <a:rPr lang="en-US" sz="2100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construcción</a:t>
            </a:r>
            <a:r>
              <a:rPr lang="en-US" sz="21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de interfaces de </a:t>
            </a:r>
            <a:r>
              <a:rPr lang="en-US" sz="2100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usuario</a:t>
            </a:r>
            <a:r>
              <a:rPr lang="en-US" sz="21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100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complejas</a:t>
            </a:r>
            <a:r>
              <a:rPr lang="en-US" sz="21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y </a:t>
            </a:r>
            <a:r>
              <a:rPr lang="en-US" sz="2100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dinámicas</a:t>
            </a:r>
            <a:r>
              <a:rPr lang="en-US" sz="21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</a:p>
          <a:p>
            <a:pPr algn="just">
              <a:lnSpc>
                <a:spcPts val="2100"/>
              </a:lnSpc>
            </a:pPr>
            <a:endParaRPr lang="en-US" sz="2100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9676385" y="5543550"/>
            <a:ext cx="3789361" cy="13677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100"/>
              </a:lnSpc>
            </a:pPr>
            <a:r>
              <a:rPr lang="en-US" sz="2100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SQL:</a:t>
            </a:r>
            <a:r>
              <a:rPr lang="en-US" sz="21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Lenguaje estandarizado para definir, consultar y manipular bases de datos relacionales.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3963736" y="5543550"/>
            <a:ext cx="3916569" cy="1901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100"/>
              </a:lnSpc>
            </a:pPr>
            <a:r>
              <a:rPr lang="en-US" sz="2100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Control de versiones:</a:t>
            </a:r>
            <a:r>
              <a:rPr lang="en-US" sz="21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Permite gestionar el historial y las versiones de un proyecto en colaboración. Además, permite registrar y coordinar cambios en el código fuente</a:t>
            </a:r>
          </a:p>
        </p:txBody>
      </p:sp>
      <p:sp>
        <p:nvSpPr>
          <p:cNvPr id="20" name="Freeform 20"/>
          <p:cNvSpPr/>
          <p:nvPr/>
        </p:nvSpPr>
        <p:spPr>
          <a:xfrm>
            <a:off x="14351620" y="76583"/>
            <a:ext cx="3868919" cy="952117"/>
          </a:xfrm>
          <a:custGeom>
            <a:avLst/>
            <a:gdLst/>
            <a:ahLst/>
            <a:cxnLst/>
            <a:rect l="l" t="t" r="r" b="b"/>
            <a:pathLst>
              <a:path w="3868919" h="952117">
                <a:moveTo>
                  <a:pt x="0" y="0"/>
                </a:moveTo>
                <a:lnTo>
                  <a:pt x="3868920" y="0"/>
                </a:lnTo>
                <a:lnTo>
                  <a:pt x="3868920" y="952117"/>
                </a:lnTo>
                <a:lnTo>
                  <a:pt x="0" y="952117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1813758">
            <a:off x="587717" y="947122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3" name="Freeform 3"/>
          <p:cNvSpPr/>
          <p:nvPr/>
        </p:nvSpPr>
        <p:spPr>
          <a:xfrm rot="-1420549">
            <a:off x="3649525" y="225785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4"/>
                </a:lnTo>
                <a:lnTo>
                  <a:pt x="0" y="92463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4" name="Freeform 4"/>
          <p:cNvSpPr/>
          <p:nvPr/>
        </p:nvSpPr>
        <p:spPr>
          <a:xfrm rot="2606717">
            <a:off x="15864597" y="1419600"/>
            <a:ext cx="1472695" cy="842854"/>
          </a:xfrm>
          <a:custGeom>
            <a:avLst/>
            <a:gdLst/>
            <a:ahLst/>
            <a:cxnLst/>
            <a:rect l="l" t="t" r="r" b="b"/>
            <a:pathLst>
              <a:path w="1472695" h="842854">
                <a:moveTo>
                  <a:pt x="0" y="0"/>
                </a:moveTo>
                <a:lnTo>
                  <a:pt x="1472695" y="0"/>
                </a:lnTo>
                <a:lnTo>
                  <a:pt x="1472695" y="842854"/>
                </a:lnTo>
                <a:lnTo>
                  <a:pt x="0" y="84285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5" name="Freeform 5"/>
          <p:cNvSpPr/>
          <p:nvPr/>
        </p:nvSpPr>
        <p:spPr>
          <a:xfrm rot="-2024627">
            <a:off x="-554037" y="8256975"/>
            <a:ext cx="1472695" cy="842854"/>
          </a:xfrm>
          <a:custGeom>
            <a:avLst/>
            <a:gdLst/>
            <a:ahLst/>
            <a:cxnLst/>
            <a:rect l="l" t="t" r="r" b="b"/>
            <a:pathLst>
              <a:path w="1472695" h="842854">
                <a:moveTo>
                  <a:pt x="0" y="0"/>
                </a:moveTo>
                <a:lnTo>
                  <a:pt x="1472695" y="0"/>
                </a:lnTo>
                <a:lnTo>
                  <a:pt x="1472695" y="842854"/>
                </a:lnTo>
                <a:lnTo>
                  <a:pt x="0" y="84285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6" name="TextBox 6"/>
          <p:cNvSpPr txBox="1"/>
          <p:nvPr/>
        </p:nvSpPr>
        <p:spPr>
          <a:xfrm>
            <a:off x="3821996" y="75981"/>
            <a:ext cx="10239495" cy="1341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520"/>
              </a:lnSpc>
            </a:pPr>
            <a:r>
              <a:rPr lang="en-US" sz="6800" b="1" dirty="0" err="1">
                <a:solidFill>
                  <a:srgbClr val="5B3121"/>
                </a:solidFill>
                <a:latin typeface="Agrandir Bold"/>
                <a:ea typeface="Agrandir Bold"/>
                <a:cs typeface="Agrandir Bold"/>
                <a:sym typeface="Agrandir Bold"/>
              </a:rPr>
              <a:t>Herramientas</a:t>
            </a:r>
            <a:r>
              <a:rPr lang="en-US" sz="6800" b="1" dirty="0">
                <a:solidFill>
                  <a:srgbClr val="5B3121"/>
                </a:solidFill>
                <a:latin typeface="Agrandir Bold"/>
                <a:ea typeface="Agrandir Bold"/>
                <a:cs typeface="Agrandir Bold"/>
                <a:sym typeface="Agrandir Bold"/>
              </a:rPr>
              <a:t> </a:t>
            </a:r>
            <a:r>
              <a:rPr lang="en-US" sz="6800" b="1" dirty="0" err="1">
                <a:solidFill>
                  <a:srgbClr val="5B3121"/>
                </a:solidFill>
                <a:latin typeface="Agrandir Bold"/>
                <a:ea typeface="Agrandir Bold"/>
                <a:cs typeface="Agrandir Bold"/>
                <a:sym typeface="Agrandir Bold"/>
              </a:rPr>
              <a:t>utilizadas</a:t>
            </a:r>
            <a:endParaRPr lang="en-US" sz="6800" b="1" dirty="0">
              <a:solidFill>
                <a:srgbClr val="5B3121"/>
              </a:solidFill>
              <a:latin typeface="Agrandir Bold"/>
              <a:ea typeface="Agrandir Bold"/>
              <a:cs typeface="Agrandir Bold"/>
              <a:sym typeface="Agrandir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242291" y="178692"/>
            <a:ext cx="4361213" cy="4248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>
                <a:solidFill>
                  <a:srgbClr val="5B3121">
                    <a:alpha val="60000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Proyecto “PetCare”</a:t>
            </a:r>
          </a:p>
        </p:txBody>
      </p:sp>
      <p:sp>
        <p:nvSpPr>
          <p:cNvPr id="8" name="Freeform 8"/>
          <p:cNvSpPr/>
          <p:nvPr/>
        </p:nvSpPr>
        <p:spPr>
          <a:xfrm>
            <a:off x="2062270" y="2390502"/>
            <a:ext cx="2560254" cy="2670408"/>
          </a:xfrm>
          <a:custGeom>
            <a:avLst/>
            <a:gdLst/>
            <a:ahLst/>
            <a:cxnLst/>
            <a:rect l="l" t="t" r="r" b="b"/>
            <a:pathLst>
              <a:path w="2560254" h="2670408">
                <a:moveTo>
                  <a:pt x="0" y="0"/>
                </a:moveTo>
                <a:lnTo>
                  <a:pt x="2560254" y="0"/>
                </a:lnTo>
                <a:lnTo>
                  <a:pt x="2560254" y="2670409"/>
                </a:lnTo>
                <a:lnTo>
                  <a:pt x="0" y="267040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9" name="Freeform 9"/>
          <p:cNvSpPr/>
          <p:nvPr/>
        </p:nvSpPr>
        <p:spPr>
          <a:xfrm>
            <a:off x="6356074" y="2386353"/>
            <a:ext cx="2674558" cy="2674558"/>
          </a:xfrm>
          <a:custGeom>
            <a:avLst/>
            <a:gdLst/>
            <a:ahLst/>
            <a:cxnLst/>
            <a:rect l="l" t="t" r="r" b="b"/>
            <a:pathLst>
              <a:path w="2674558" h="2674558">
                <a:moveTo>
                  <a:pt x="0" y="0"/>
                </a:moveTo>
                <a:lnTo>
                  <a:pt x="2674557" y="0"/>
                </a:lnTo>
                <a:lnTo>
                  <a:pt x="2674557" y="2674558"/>
                </a:lnTo>
                <a:lnTo>
                  <a:pt x="0" y="267455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0" name="TextBox 10"/>
          <p:cNvSpPr txBox="1"/>
          <p:nvPr/>
        </p:nvSpPr>
        <p:spPr>
          <a:xfrm>
            <a:off x="1447716" y="5460961"/>
            <a:ext cx="3789361" cy="21678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100"/>
              </a:lnSpc>
            </a:pPr>
            <a:r>
              <a:rPr lang="en-US" sz="2100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PostgreSQL:</a:t>
            </a:r>
            <a:r>
              <a:rPr lang="en-US" sz="21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Sistema de gestión de bases de datos relacionales que permite almacenar datos de forma segura, gestionar relaciones complejas entre ellos y garantizar la integridad de la información.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735068" y="5460961"/>
            <a:ext cx="3916569" cy="24345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100"/>
              </a:lnSpc>
            </a:pPr>
            <a:r>
              <a:rPr lang="en-US" sz="2100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Git:</a:t>
            </a:r>
            <a:r>
              <a:rPr lang="en-US" sz="21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Sistema de control de versiones distribuido que permite rastrear y gestionar los cambios en archivos a lo largo del tiempo, volver a versiones anteriores, trabajar en paralelo sin interferencias y fusionar el trabajo de varios colaboradores.</a:t>
            </a:r>
          </a:p>
        </p:txBody>
      </p:sp>
      <p:sp>
        <p:nvSpPr>
          <p:cNvPr id="12" name="Freeform 12"/>
          <p:cNvSpPr/>
          <p:nvPr/>
        </p:nvSpPr>
        <p:spPr>
          <a:xfrm>
            <a:off x="13991583" y="2386353"/>
            <a:ext cx="2684103" cy="2670408"/>
          </a:xfrm>
          <a:custGeom>
            <a:avLst/>
            <a:gdLst/>
            <a:ahLst/>
            <a:cxnLst/>
            <a:rect l="l" t="t" r="r" b="b"/>
            <a:pathLst>
              <a:path w="2684103" h="2670408">
                <a:moveTo>
                  <a:pt x="0" y="0"/>
                </a:moveTo>
                <a:lnTo>
                  <a:pt x="2684103" y="0"/>
                </a:lnTo>
                <a:lnTo>
                  <a:pt x="2684103" y="2670408"/>
                </a:lnTo>
                <a:lnTo>
                  <a:pt x="0" y="267040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17003" t="-17644" r="-16383" b="-16426"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3" name="Freeform 13"/>
          <p:cNvSpPr/>
          <p:nvPr/>
        </p:nvSpPr>
        <p:spPr>
          <a:xfrm>
            <a:off x="10318382" y="2386353"/>
            <a:ext cx="2670408" cy="2670408"/>
          </a:xfrm>
          <a:custGeom>
            <a:avLst/>
            <a:gdLst/>
            <a:ahLst/>
            <a:cxnLst/>
            <a:rect l="l" t="t" r="r" b="b"/>
            <a:pathLst>
              <a:path w="2670408" h="2670408">
                <a:moveTo>
                  <a:pt x="0" y="0"/>
                </a:moveTo>
                <a:lnTo>
                  <a:pt x="2670408" y="0"/>
                </a:lnTo>
                <a:lnTo>
                  <a:pt x="2670408" y="2670408"/>
                </a:lnTo>
                <a:lnTo>
                  <a:pt x="0" y="267040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4" name="TextBox 14"/>
          <p:cNvSpPr txBox="1"/>
          <p:nvPr/>
        </p:nvSpPr>
        <p:spPr>
          <a:xfrm>
            <a:off x="13826985" y="5456811"/>
            <a:ext cx="3013298" cy="21678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100"/>
              </a:lnSpc>
            </a:pPr>
            <a:r>
              <a:rPr lang="en-US" sz="2100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Github:</a:t>
            </a:r>
            <a:r>
              <a:rPr lang="en-US" sz="21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Plataforma en línea basada en Git que permite alojar repositorios, colaborar en proyectos, gestionar versiones y revisar código en equipo.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146937" y="5460961"/>
            <a:ext cx="3013298" cy="29679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100"/>
              </a:lnSpc>
            </a:pPr>
            <a:r>
              <a:rPr lang="en-US" sz="2100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Supabase: </a:t>
            </a:r>
            <a:r>
              <a:rPr lang="en-US" sz="21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Plataforma Backend as a Service (BaaS) que ofrece base de datos PostgreSQL, autenticación, almacenamiento y API automáticas. Facilita el desarrollo rápido de aplicaciones.</a:t>
            </a:r>
          </a:p>
        </p:txBody>
      </p:sp>
      <p:sp>
        <p:nvSpPr>
          <p:cNvPr id="16" name="Freeform 16"/>
          <p:cNvSpPr/>
          <p:nvPr/>
        </p:nvSpPr>
        <p:spPr>
          <a:xfrm>
            <a:off x="14351620" y="76583"/>
            <a:ext cx="3868919" cy="952117"/>
          </a:xfrm>
          <a:custGeom>
            <a:avLst/>
            <a:gdLst/>
            <a:ahLst/>
            <a:cxnLst/>
            <a:rect l="l" t="t" r="r" b="b"/>
            <a:pathLst>
              <a:path w="3868919" h="952117">
                <a:moveTo>
                  <a:pt x="0" y="0"/>
                </a:moveTo>
                <a:lnTo>
                  <a:pt x="3868920" y="0"/>
                </a:lnTo>
                <a:lnTo>
                  <a:pt x="3868920" y="952117"/>
                </a:lnTo>
                <a:lnTo>
                  <a:pt x="0" y="95211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1813758">
            <a:off x="587717" y="947122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3" name="Freeform 3"/>
          <p:cNvSpPr/>
          <p:nvPr/>
        </p:nvSpPr>
        <p:spPr>
          <a:xfrm rot="-1420549">
            <a:off x="3878616" y="158455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4"/>
                </a:lnTo>
                <a:lnTo>
                  <a:pt x="0" y="92463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4" name="Freeform 4"/>
          <p:cNvSpPr/>
          <p:nvPr/>
        </p:nvSpPr>
        <p:spPr>
          <a:xfrm rot="2606717">
            <a:off x="15864597" y="1419600"/>
            <a:ext cx="1472695" cy="842854"/>
          </a:xfrm>
          <a:custGeom>
            <a:avLst/>
            <a:gdLst/>
            <a:ahLst/>
            <a:cxnLst/>
            <a:rect l="l" t="t" r="r" b="b"/>
            <a:pathLst>
              <a:path w="1472695" h="842854">
                <a:moveTo>
                  <a:pt x="0" y="0"/>
                </a:moveTo>
                <a:lnTo>
                  <a:pt x="1472695" y="0"/>
                </a:lnTo>
                <a:lnTo>
                  <a:pt x="1472695" y="842854"/>
                </a:lnTo>
                <a:lnTo>
                  <a:pt x="0" y="84285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5" name="Freeform 5"/>
          <p:cNvSpPr/>
          <p:nvPr/>
        </p:nvSpPr>
        <p:spPr>
          <a:xfrm rot="-1998823">
            <a:off x="14010043" y="8449787"/>
            <a:ext cx="2509269" cy="1925864"/>
          </a:xfrm>
          <a:custGeom>
            <a:avLst/>
            <a:gdLst/>
            <a:ahLst/>
            <a:cxnLst/>
            <a:rect l="l" t="t" r="r" b="b"/>
            <a:pathLst>
              <a:path w="2509269" h="1925864">
                <a:moveTo>
                  <a:pt x="0" y="0"/>
                </a:moveTo>
                <a:lnTo>
                  <a:pt x="2509269" y="0"/>
                </a:lnTo>
                <a:lnTo>
                  <a:pt x="2509269" y="1925864"/>
                </a:lnTo>
                <a:lnTo>
                  <a:pt x="0" y="192586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6" name="Freeform 6"/>
          <p:cNvSpPr/>
          <p:nvPr/>
        </p:nvSpPr>
        <p:spPr>
          <a:xfrm rot="-2024627">
            <a:off x="-280433" y="8927426"/>
            <a:ext cx="1472695" cy="842854"/>
          </a:xfrm>
          <a:custGeom>
            <a:avLst/>
            <a:gdLst/>
            <a:ahLst/>
            <a:cxnLst/>
            <a:rect l="l" t="t" r="r" b="b"/>
            <a:pathLst>
              <a:path w="1472695" h="842854">
                <a:moveTo>
                  <a:pt x="0" y="0"/>
                </a:moveTo>
                <a:lnTo>
                  <a:pt x="1472695" y="0"/>
                </a:lnTo>
                <a:lnTo>
                  <a:pt x="1472695" y="842854"/>
                </a:lnTo>
                <a:lnTo>
                  <a:pt x="0" y="84285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7" name="Freeform 7"/>
          <p:cNvSpPr/>
          <p:nvPr/>
        </p:nvSpPr>
        <p:spPr>
          <a:xfrm>
            <a:off x="1392848" y="2653355"/>
            <a:ext cx="2857500" cy="2857500"/>
          </a:xfrm>
          <a:custGeom>
            <a:avLst/>
            <a:gdLst/>
            <a:ahLst/>
            <a:cxnLst/>
            <a:rect l="l" t="t" r="r" b="b"/>
            <a:pathLst>
              <a:path w="2857500" h="2857500">
                <a:moveTo>
                  <a:pt x="0" y="0"/>
                </a:moveTo>
                <a:lnTo>
                  <a:pt x="2857500" y="0"/>
                </a:lnTo>
                <a:lnTo>
                  <a:pt x="2857500" y="2857500"/>
                </a:lnTo>
                <a:lnTo>
                  <a:pt x="0" y="2857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8" name="Freeform 8"/>
          <p:cNvSpPr/>
          <p:nvPr/>
        </p:nvSpPr>
        <p:spPr>
          <a:xfrm>
            <a:off x="5602898" y="2653355"/>
            <a:ext cx="2857500" cy="2857500"/>
          </a:xfrm>
          <a:custGeom>
            <a:avLst/>
            <a:gdLst/>
            <a:ahLst/>
            <a:cxnLst/>
            <a:rect l="l" t="t" r="r" b="b"/>
            <a:pathLst>
              <a:path w="2857500" h="2857500">
                <a:moveTo>
                  <a:pt x="0" y="0"/>
                </a:moveTo>
                <a:lnTo>
                  <a:pt x="2857500" y="0"/>
                </a:lnTo>
                <a:lnTo>
                  <a:pt x="2857500" y="2857500"/>
                </a:lnTo>
                <a:lnTo>
                  <a:pt x="0" y="28575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9" name="Freeform 9"/>
          <p:cNvSpPr/>
          <p:nvPr/>
        </p:nvSpPr>
        <p:spPr>
          <a:xfrm>
            <a:off x="14563606" y="2649105"/>
            <a:ext cx="2861750" cy="2861750"/>
          </a:xfrm>
          <a:custGeom>
            <a:avLst/>
            <a:gdLst/>
            <a:ahLst/>
            <a:cxnLst/>
            <a:rect l="l" t="t" r="r" b="b"/>
            <a:pathLst>
              <a:path w="2861750" h="2861750">
                <a:moveTo>
                  <a:pt x="0" y="0"/>
                </a:moveTo>
                <a:lnTo>
                  <a:pt x="2861749" y="0"/>
                </a:lnTo>
                <a:lnTo>
                  <a:pt x="2861749" y="2861750"/>
                </a:lnTo>
                <a:lnTo>
                  <a:pt x="0" y="286175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0" name="Freeform 10"/>
          <p:cNvSpPr/>
          <p:nvPr/>
        </p:nvSpPr>
        <p:spPr>
          <a:xfrm>
            <a:off x="9951195" y="2653355"/>
            <a:ext cx="2903668" cy="2903668"/>
          </a:xfrm>
          <a:custGeom>
            <a:avLst/>
            <a:gdLst/>
            <a:ahLst/>
            <a:cxnLst/>
            <a:rect l="l" t="t" r="r" b="b"/>
            <a:pathLst>
              <a:path w="2903668" h="2903668">
                <a:moveTo>
                  <a:pt x="0" y="0"/>
                </a:moveTo>
                <a:lnTo>
                  <a:pt x="2903668" y="0"/>
                </a:lnTo>
                <a:lnTo>
                  <a:pt x="2903668" y="2903668"/>
                </a:lnTo>
                <a:lnTo>
                  <a:pt x="0" y="2903668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1" name="TextBox 11"/>
          <p:cNvSpPr txBox="1"/>
          <p:nvPr/>
        </p:nvSpPr>
        <p:spPr>
          <a:xfrm>
            <a:off x="3866440" y="361753"/>
            <a:ext cx="10239495" cy="1341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520"/>
              </a:lnSpc>
            </a:pPr>
            <a:r>
              <a:rPr lang="en-US" sz="6800" b="1" dirty="0" err="1">
                <a:solidFill>
                  <a:srgbClr val="5B3121"/>
                </a:solidFill>
                <a:latin typeface="Agrandir Bold"/>
                <a:ea typeface="Agrandir Bold"/>
                <a:cs typeface="Agrandir Bold"/>
                <a:sym typeface="Agrandir Bold"/>
              </a:rPr>
              <a:t>Herramientas</a:t>
            </a:r>
            <a:r>
              <a:rPr lang="en-US" sz="6800" b="1" dirty="0">
                <a:solidFill>
                  <a:srgbClr val="5B3121"/>
                </a:solidFill>
                <a:latin typeface="Agrandir Bold"/>
                <a:ea typeface="Agrandir Bold"/>
                <a:cs typeface="Agrandir Bold"/>
                <a:sym typeface="Agrandir Bold"/>
              </a:rPr>
              <a:t> </a:t>
            </a:r>
            <a:r>
              <a:rPr lang="en-US" sz="6800" b="1" dirty="0" err="1">
                <a:solidFill>
                  <a:srgbClr val="5B3121"/>
                </a:solidFill>
                <a:latin typeface="Agrandir Bold"/>
                <a:ea typeface="Agrandir Bold"/>
                <a:cs typeface="Agrandir Bold"/>
                <a:sym typeface="Agrandir Bold"/>
              </a:rPr>
              <a:t>utilizadas</a:t>
            </a:r>
            <a:endParaRPr lang="en-US" sz="6800" b="1" dirty="0">
              <a:solidFill>
                <a:srgbClr val="5B3121"/>
              </a:solidFill>
              <a:latin typeface="Agrandir Bold"/>
              <a:ea typeface="Agrandir Bold"/>
              <a:cs typeface="Agrandir Bold"/>
              <a:sym typeface="Agrandir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242291" y="178692"/>
            <a:ext cx="4361213" cy="4248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>
                <a:solidFill>
                  <a:srgbClr val="5B3121">
                    <a:alpha val="60000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Proyecto “PetCare”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34196" y="6177605"/>
            <a:ext cx="3574804" cy="24345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100"/>
              </a:lnSpc>
            </a:pPr>
            <a:r>
              <a:rPr lang="en-US" sz="2100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Discord:</a:t>
            </a:r>
            <a:r>
              <a:rPr lang="en-US" sz="21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Plataforma de comunicación por voz, texto y video utilizada por comunidades y equipos de desarrollo para coordinar proyectos y compartir información en tiempo real.</a:t>
            </a:r>
          </a:p>
          <a:p>
            <a:pPr algn="just">
              <a:lnSpc>
                <a:spcPts val="2100"/>
              </a:lnSpc>
            </a:pPr>
            <a:endParaRPr lang="en-US" sz="21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5448609" y="6177605"/>
            <a:ext cx="3166078" cy="21678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100"/>
              </a:lnSpc>
            </a:pPr>
            <a:r>
              <a:rPr lang="en-US" sz="2100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Visual Studio Code:</a:t>
            </a:r>
            <a:r>
              <a:rPr lang="en-US" sz="21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Editor de código fuente. Soporta múltiples lenguajes, extensiones y depuración, ideal para desarrollo web y de software.</a:t>
            </a:r>
          </a:p>
          <a:p>
            <a:pPr algn="just">
              <a:lnSpc>
                <a:spcPts val="2100"/>
              </a:lnSpc>
            </a:pPr>
            <a:endParaRPr lang="en-US" sz="21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9452887" y="6177605"/>
            <a:ext cx="4234459" cy="27012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100"/>
              </a:lnSpc>
            </a:pPr>
            <a:r>
              <a:rPr lang="en-US" sz="2100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Resend:</a:t>
            </a:r>
            <a:r>
              <a:rPr lang="en-US" sz="21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Servicio API en la nube diseñado para enviar correos electrónicos transaccionales desde aplicaciones.</a:t>
            </a:r>
          </a:p>
          <a:p>
            <a:pPr algn="just">
              <a:lnSpc>
                <a:spcPts val="2100"/>
              </a:lnSpc>
            </a:pPr>
            <a:r>
              <a:rPr lang="en-US" sz="21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Facilita la integración mediante REST API o SDK, asegurando una entrega rápida, segura y confiable de mensajes automatizados.</a:t>
            </a:r>
          </a:p>
          <a:p>
            <a:pPr algn="just">
              <a:lnSpc>
                <a:spcPts val="2100"/>
              </a:lnSpc>
            </a:pPr>
            <a:endParaRPr lang="en-US" sz="21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4284480" y="6177605"/>
            <a:ext cx="3574804" cy="1901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100"/>
              </a:lnSpc>
            </a:pPr>
            <a:r>
              <a:rPr lang="en-US" sz="2100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Vercel:</a:t>
            </a:r>
            <a:r>
              <a:rPr lang="en-US" sz="21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Plataforma en la nube (PaaS) que permite desplegar y alojar aplicaciones web de manera rápida y automática.</a:t>
            </a:r>
          </a:p>
          <a:p>
            <a:pPr algn="just">
              <a:lnSpc>
                <a:spcPts val="2100"/>
              </a:lnSpc>
            </a:pPr>
            <a:endParaRPr lang="en-US" sz="21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7" name="Freeform 17"/>
          <p:cNvSpPr/>
          <p:nvPr/>
        </p:nvSpPr>
        <p:spPr>
          <a:xfrm>
            <a:off x="14351620" y="76583"/>
            <a:ext cx="3868919" cy="952117"/>
          </a:xfrm>
          <a:custGeom>
            <a:avLst/>
            <a:gdLst/>
            <a:ahLst/>
            <a:cxnLst/>
            <a:rect l="l" t="t" r="r" b="b"/>
            <a:pathLst>
              <a:path w="3868919" h="952117">
                <a:moveTo>
                  <a:pt x="0" y="0"/>
                </a:moveTo>
                <a:lnTo>
                  <a:pt x="3868920" y="0"/>
                </a:lnTo>
                <a:lnTo>
                  <a:pt x="3868920" y="952117"/>
                </a:lnTo>
                <a:lnTo>
                  <a:pt x="0" y="95211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42291" y="178692"/>
            <a:ext cx="4361213" cy="4248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>
                <a:solidFill>
                  <a:srgbClr val="5B3121">
                    <a:alpha val="60000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Proyecto “PetCare”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10695085" y="454025"/>
            <a:ext cx="7307231" cy="7349691"/>
            <a:chOff x="0" y="0"/>
            <a:chExt cx="1924538" cy="19357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924538" cy="1935721"/>
            </a:xfrm>
            <a:custGeom>
              <a:avLst/>
              <a:gdLst/>
              <a:ahLst/>
              <a:cxnLst/>
              <a:rect l="l" t="t" r="r" b="b"/>
              <a:pathLst>
                <a:path w="1924538" h="1935721">
                  <a:moveTo>
                    <a:pt x="31785" y="0"/>
                  </a:moveTo>
                  <a:lnTo>
                    <a:pt x="1892753" y="0"/>
                  </a:lnTo>
                  <a:cubicBezTo>
                    <a:pt x="1910308" y="0"/>
                    <a:pt x="1924538" y="14230"/>
                    <a:pt x="1924538" y="31785"/>
                  </a:cubicBezTo>
                  <a:lnTo>
                    <a:pt x="1924538" y="1903936"/>
                  </a:lnTo>
                  <a:cubicBezTo>
                    <a:pt x="1924538" y="1921491"/>
                    <a:pt x="1910308" y="1935721"/>
                    <a:pt x="1892753" y="1935721"/>
                  </a:cubicBezTo>
                  <a:lnTo>
                    <a:pt x="31785" y="1935721"/>
                  </a:lnTo>
                  <a:cubicBezTo>
                    <a:pt x="14230" y="1935721"/>
                    <a:pt x="0" y="1921491"/>
                    <a:pt x="0" y="1903936"/>
                  </a:cubicBezTo>
                  <a:lnTo>
                    <a:pt x="0" y="31785"/>
                  </a:lnTo>
                  <a:cubicBezTo>
                    <a:pt x="0" y="14230"/>
                    <a:pt x="14230" y="0"/>
                    <a:pt x="31785" y="0"/>
                  </a:cubicBezTo>
                  <a:close/>
                </a:path>
              </a:pathLst>
            </a:custGeom>
            <a:solidFill>
              <a:srgbClr val="5B3121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57150"/>
              <a:ext cx="1924538" cy="19928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0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 rot="-1420549">
            <a:off x="7998660" y="8089183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5"/>
                </a:lnTo>
                <a:lnTo>
                  <a:pt x="0" y="9246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grpSp>
        <p:nvGrpSpPr>
          <p:cNvPr id="7" name="Group 7"/>
          <p:cNvGrpSpPr/>
          <p:nvPr/>
        </p:nvGrpSpPr>
        <p:grpSpPr>
          <a:xfrm>
            <a:off x="9457379" y="1263557"/>
            <a:ext cx="7041302" cy="7759885"/>
            <a:chOff x="0" y="0"/>
            <a:chExt cx="1069836" cy="1179016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069836" cy="1179016"/>
            </a:xfrm>
            <a:custGeom>
              <a:avLst/>
              <a:gdLst/>
              <a:ahLst/>
              <a:cxnLst/>
              <a:rect l="l" t="t" r="r" b="b"/>
              <a:pathLst>
                <a:path w="1069836" h="1179016">
                  <a:moveTo>
                    <a:pt x="57174" y="0"/>
                  </a:moveTo>
                  <a:lnTo>
                    <a:pt x="1012662" y="0"/>
                  </a:lnTo>
                  <a:cubicBezTo>
                    <a:pt x="1027826" y="0"/>
                    <a:pt x="1042368" y="6024"/>
                    <a:pt x="1053090" y="16746"/>
                  </a:cubicBezTo>
                  <a:cubicBezTo>
                    <a:pt x="1063813" y="27468"/>
                    <a:pt x="1069836" y="42011"/>
                    <a:pt x="1069836" y="57174"/>
                  </a:cubicBezTo>
                  <a:lnTo>
                    <a:pt x="1069836" y="1121842"/>
                  </a:lnTo>
                  <a:cubicBezTo>
                    <a:pt x="1069836" y="1137005"/>
                    <a:pt x="1063813" y="1151548"/>
                    <a:pt x="1053090" y="1162270"/>
                  </a:cubicBezTo>
                  <a:cubicBezTo>
                    <a:pt x="1042368" y="1172992"/>
                    <a:pt x="1027826" y="1179016"/>
                    <a:pt x="1012662" y="1179016"/>
                  </a:cubicBezTo>
                  <a:lnTo>
                    <a:pt x="57174" y="1179016"/>
                  </a:lnTo>
                  <a:cubicBezTo>
                    <a:pt x="42011" y="1179016"/>
                    <a:pt x="27468" y="1172992"/>
                    <a:pt x="16746" y="1162270"/>
                  </a:cubicBezTo>
                  <a:cubicBezTo>
                    <a:pt x="6024" y="1151548"/>
                    <a:pt x="0" y="1137005"/>
                    <a:pt x="0" y="1121842"/>
                  </a:cubicBezTo>
                  <a:lnTo>
                    <a:pt x="0" y="57174"/>
                  </a:lnTo>
                  <a:cubicBezTo>
                    <a:pt x="0" y="42011"/>
                    <a:pt x="6024" y="27468"/>
                    <a:pt x="16746" y="16746"/>
                  </a:cubicBezTo>
                  <a:cubicBezTo>
                    <a:pt x="27468" y="6024"/>
                    <a:pt x="42011" y="0"/>
                    <a:pt x="57174" y="0"/>
                  </a:cubicBezTo>
                  <a:close/>
                </a:path>
              </a:pathLst>
            </a:custGeom>
            <a:blipFill>
              <a:blip r:embed="rId4"/>
              <a:stretch>
                <a:fillRect l="-32705" r="-32705"/>
              </a:stretch>
            </a:blipFill>
          </p:spPr>
          <p:txBody>
            <a:bodyPr/>
            <a:lstStyle/>
            <a:p>
              <a:endParaRPr lang="es-MX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028700" y="897540"/>
            <a:ext cx="6580374" cy="1944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800"/>
              </a:lnSpc>
            </a:pPr>
            <a:r>
              <a:rPr lang="en-US" sz="6800" b="1">
                <a:solidFill>
                  <a:srgbClr val="5B3121"/>
                </a:solidFill>
                <a:latin typeface="Agrandir Bold"/>
                <a:ea typeface="Agrandir Bold"/>
                <a:cs typeface="Agrandir Bold"/>
                <a:sym typeface="Agrandir Bold"/>
              </a:rPr>
              <a:t>Resultado Obtenido</a:t>
            </a:r>
          </a:p>
        </p:txBody>
      </p:sp>
      <p:sp>
        <p:nvSpPr>
          <p:cNvPr id="10" name="Freeform 10"/>
          <p:cNvSpPr/>
          <p:nvPr/>
        </p:nvSpPr>
        <p:spPr>
          <a:xfrm rot="-1825997">
            <a:off x="5687123" y="531766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1" name="Freeform 11"/>
          <p:cNvSpPr/>
          <p:nvPr/>
        </p:nvSpPr>
        <p:spPr>
          <a:xfrm rot="167058">
            <a:off x="14856387" y="9292365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1"/>
                </a:lnTo>
                <a:lnTo>
                  <a:pt x="0" y="109689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2" name="Freeform 12"/>
          <p:cNvSpPr/>
          <p:nvPr/>
        </p:nvSpPr>
        <p:spPr>
          <a:xfrm rot="-1858074">
            <a:off x="285231" y="8928332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6" y="0"/>
                </a:lnTo>
                <a:lnTo>
                  <a:pt x="1429176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3" name="Freeform 13"/>
          <p:cNvSpPr/>
          <p:nvPr/>
        </p:nvSpPr>
        <p:spPr>
          <a:xfrm rot="-1420549">
            <a:off x="4395602" y="3218038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5"/>
                </a:lnTo>
                <a:lnTo>
                  <a:pt x="0" y="9246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4" name="Freeform 14"/>
          <p:cNvSpPr/>
          <p:nvPr/>
        </p:nvSpPr>
        <p:spPr>
          <a:xfrm>
            <a:off x="5242238" y="1649521"/>
            <a:ext cx="531069" cy="531069"/>
          </a:xfrm>
          <a:custGeom>
            <a:avLst/>
            <a:gdLst/>
            <a:ahLst/>
            <a:cxnLst/>
            <a:rect l="l" t="t" r="r" b="b"/>
            <a:pathLst>
              <a:path w="531069" h="531069">
                <a:moveTo>
                  <a:pt x="0" y="0"/>
                </a:moveTo>
                <a:lnTo>
                  <a:pt x="531069" y="0"/>
                </a:lnTo>
                <a:lnTo>
                  <a:pt x="531069" y="531069"/>
                </a:lnTo>
                <a:lnTo>
                  <a:pt x="0" y="531069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5" name="TextBox 15"/>
          <p:cNvSpPr txBox="1"/>
          <p:nvPr/>
        </p:nvSpPr>
        <p:spPr>
          <a:xfrm>
            <a:off x="242291" y="3551594"/>
            <a:ext cx="9040753" cy="5925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940"/>
              </a:lnSpc>
            </a:pPr>
            <a:r>
              <a:rPr lang="en-US" sz="2100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Fase 1: Definición del Proyecto</a:t>
            </a:r>
          </a:p>
          <a:p>
            <a:pPr algn="just">
              <a:lnSpc>
                <a:spcPts val="2940"/>
              </a:lnSpc>
            </a:pPr>
            <a:endParaRPr lang="en-US" sz="2100">
              <a:solidFill>
                <a:srgbClr val="5B312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just">
              <a:lnSpc>
                <a:spcPts val="2940"/>
              </a:lnSpc>
            </a:pPr>
            <a:r>
              <a:rPr lang="en-US" sz="2100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Resultado principal:</a:t>
            </a:r>
          </a:p>
          <a:p>
            <a:pPr algn="just">
              <a:lnSpc>
                <a:spcPts val="2940"/>
              </a:lnSpc>
            </a:pPr>
            <a:r>
              <a:rPr lang="en-US" sz="2100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Se completó la definición, planificación y fundamentación del proyecto PetCare, dejando preparado todo lo necesario para iniciar la construcción.</a:t>
            </a:r>
          </a:p>
          <a:p>
            <a:pPr algn="just">
              <a:lnSpc>
                <a:spcPts val="2940"/>
              </a:lnSpc>
            </a:pPr>
            <a:endParaRPr lang="en-US" sz="2100">
              <a:solidFill>
                <a:srgbClr val="5B312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just">
              <a:lnSpc>
                <a:spcPts val="2940"/>
              </a:lnSpc>
            </a:pPr>
            <a:r>
              <a:rPr lang="en-US" sz="2100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Logros:</a:t>
            </a:r>
          </a:p>
          <a:p>
            <a:pPr marL="453396" lvl="1" indent="-226698" algn="just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Identificación de la problemática,</a:t>
            </a:r>
          </a:p>
          <a:p>
            <a:pPr marL="453396" lvl="1" indent="-226698" algn="just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descripción de propuesta de solución: aplicación web PetCare,</a:t>
            </a:r>
          </a:p>
          <a:p>
            <a:pPr marL="453396" lvl="1" indent="-226698" algn="just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definición del alcance y de los objetivos generales y específicos,</a:t>
            </a:r>
          </a:p>
          <a:p>
            <a:pPr marL="453396" lvl="1" indent="-226698" algn="just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selección de metodología de trabajo: híbrida Waterfall-Agile,</a:t>
            </a:r>
          </a:p>
          <a:p>
            <a:pPr marL="453396" lvl="1" indent="-226698" algn="just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y definición de requerimientos funcionales y no funcionales.</a:t>
            </a:r>
          </a:p>
          <a:p>
            <a:pPr algn="just">
              <a:lnSpc>
                <a:spcPts val="2240"/>
              </a:lnSpc>
            </a:pPr>
            <a:endParaRPr lang="en-US" sz="2100">
              <a:solidFill>
                <a:srgbClr val="5B312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just">
              <a:lnSpc>
                <a:spcPts val="2240"/>
              </a:lnSpc>
            </a:pPr>
            <a:endParaRPr lang="en-US" sz="2100">
              <a:solidFill>
                <a:srgbClr val="5B312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just">
              <a:lnSpc>
                <a:spcPts val="2240"/>
              </a:lnSpc>
            </a:pPr>
            <a:endParaRPr lang="en-US" sz="2100">
              <a:solidFill>
                <a:srgbClr val="5B312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2240"/>
              </a:lnSpc>
            </a:pPr>
            <a:endParaRPr lang="en-US" sz="2100">
              <a:solidFill>
                <a:srgbClr val="5B312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6" name="Freeform 16"/>
          <p:cNvSpPr/>
          <p:nvPr/>
        </p:nvSpPr>
        <p:spPr>
          <a:xfrm>
            <a:off x="14351620" y="76583"/>
            <a:ext cx="3868919" cy="952117"/>
          </a:xfrm>
          <a:custGeom>
            <a:avLst/>
            <a:gdLst/>
            <a:ahLst/>
            <a:cxnLst/>
            <a:rect l="l" t="t" r="r" b="b"/>
            <a:pathLst>
              <a:path w="3868919" h="952117">
                <a:moveTo>
                  <a:pt x="0" y="0"/>
                </a:moveTo>
                <a:lnTo>
                  <a:pt x="3868920" y="0"/>
                </a:lnTo>
                <a:lnTo>
                  <a:pt x="3868920" y="952117"/>
                </a:lnTo>
                <a:lnTo>
                  <a:pt x="0" y="95211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42291" y="178692"/>
            <a:ext cx="4361213" cy="4248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>
                <a:solidFill>
                  <a:srgbClr val="5B3121">
                    <a:alpha val="60000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Proyecto “PetCare”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10695085" y="454025"/>
            <a:ext cx="7307231" cy="7349691"/>
            <a:chOff x="0" y="0"/>
            <a:chExt cx="1924538" cy="19357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924538" cy="1935721"/>
            </a:xfrm>
            <a:custGeom>
              <a:avLst/>
              <a:gdLst/>
              <a:ahLst/>
              <a:cxnLst/>
              <a:rect l="l" t="t" r="r" b="b"/>
              <a:pathLst>
                <a:path w="1924538" h="1935721">
                  <a:moveTo>
                    <a:pt x="31785" y="0"/>
                  </a:moveTo>
                  <a:lnTo>
                    <a:pt x="1892753" y="0"/>
                  </a:lnTo>
                  <a:cubicBezTo>
                    <a:pt x="1910308" y="0"/>
                    <a:pt x="1924538" y="14230"/>
                    <a:pt x="1924538" y="31785"/>
                  </a:cubicBezTo>
                  <a:lnTo>
                    <a:pt x="1924538" y="1903936"/>
                  </a:lnTo>
                  <a:cubicBezTo>
                    <a:pt x="1924538" y="1921491"/>
                    <a:pt x="1910308" y="1935721"/>
                    <a:pt x="1892753" y="1935721"/>
                  </a:cubicBezTo>
                  <a:lnTo>
                    <a:pt x="31785" y="1935721"/>
                  </a:lnTo>
                  <a:cubicBezTo>
                    <a:pt x="14230" y="1935721"/>
                    <a:pt x="0" y="1921491"/>
                    <a:pt x="0" y="1903936"/>
                  </a:cubicBezTo>
                  <a:lnTo>
                    <a:pt x="0" y="31785"/>
                  </a:lnTo>
                  <a:cubicBezTo>
                    <a:pt x="0" y="14230"/>
                    <a:pt x="14230" y="0"/>
                    <a:pt x="31785" y="0"/>
                  </a:cubicBezTo>
                  <a:close/>
                </a:path>
              </a:pathLst>
            </a:custGeom>
            <a:solidFill>
              <a:srgbClr val="5B3121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57150"/>
              <a:ext cx="1924538" cy="19928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0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 rot="-1420549">
            <a:off x="7998660" y="8089183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5"/>
                </a:lnTo>
                <a:lnTo>
                  <a:pt x="0" y="9246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grpSp>
        <p:nvGrpSpPr>
          <p:cNvPr id="7" name="Group 7"/>
          <p:cNvGrpSpPr/>
          <p:nvPr/>
        </p:nvGrpSpPr>
        <p:grpSpPr>
          <a:xfrm>
            <a:off x="9457379" y="1263557"/>
            <a:ext cx="7041302" cy="7759885"/>
            <a:chOff x="0" y="0"/>
            <a:chExt cx="1069836" cy="1179016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069836" cy="1179016"/>
            </a:xfrm>
            <a:custGeom>
              <a:avLst/>
              <a:gdLst/>
              <a:ahLst/>
              <a:cxnLst/>
              <a:rect l="l" t="t" r="r" b="b"/>
              <a:pathLst>
                <a:path w="1069836" h="1179016">
                  <a:moveTo>
                    <a:pt x="57174" y="0"/>
                  </a:moveTo>
                  <a:lnTo>
                    <a:pt x="1012662" y="0"/>
                  </a:lnTo>
                  <a:cubicBezTo>
                    <a:pt x="1027826" y="0"/>
                    <a:pt x="1042368" y="6024"/>
                    <a:pt x="1053090" y="16746"/>
                  </a:cubicBezTo>
                  <a:cubicBezTo>
                    <a:pt x="1063813" y="27468"/>
                    <a:pt x="1069836" y="42011"/>
                    <a:pt x="1069836" y="57174"/>
                  </a:cubicBezTo>
                  <a:lnTo>
                    <a:pt x="1069836" y="1121842"/>
                  </a:lnTo>
                  <a:cubicBezTo>
                    <a:pt x="1069836" y="1137005"/>
                    <a:pt x="1063813" y="1151548"/>
                    <a:pt x="1053090" y="1162270"/>
                  </a:cubicBezTo>
                  <a:cubicBezTo>
                    <a:pt x="1042368" y="1172992"/>
                    <a:pt x="1027826" y="1179016"/>
                    <a:pt x="1012662" y="1179016"/>
                  </a:cubicBezTo>
                  <a:lnTo>
                    <a:pt x="57174" y="1179016"/>
                  </a:lnTo>
                  <a:cubicBezTo>
                    <a:pt x="42011" y="1179016"/>
                    <a:pt x="27468" y="1172992"/>
                    <a:pt x="16746" y="1162270"/>
                  </a:cubicBezTo>
                  <a:cubicBezTo>
                    <a:pt x="6024" y="1151548"/>
                    <a:pt x="0" y="1137005"/>
                    <a:pt x="0" y="1121842"/>
                  </a:cubicBezTo>
                  <a:lnTo>
                    <a:pt x="0" y="57174"/>
                  </a:lnTo>
                  <a:cubicBezTo>
                    <a:pt x="0" y="42011"/>
                    <a:pt x="6024" y="27468"/>
                    <a:pt x="16746" y="16746"/>
                  </a:cubicBezTo>
                  <a:cubicBezTo>
                    <a:pt x="27468" y="6024"/>
                    <a:pt x="42011" y="0"/>
                    <a:pt x="57174" y="0"/>
                  </a:cubicBezTo>
                  <a:close/>
                </a:path>
              </a:pathLst>
            </a:custGeom>
            <a:blipFill>
              <a:blip r:embed="rId4"/>
              <a:stretch>
                <a:fillRect l="-32705" r="-32705"/>
              </a:stretch>
            </a:blipFill>
          </p:spPr>
          <p:txBody>
            <a:bodyPr/>
            <a:lstStyle/>
            <a:p>
              <a:endParaRPr lang="es-MX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028700" y="897540"/>
            <a:ext cx="6580374" cy="1944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800"/>
              </a:lnSpc>
            </a:pPr>
            <a:r>
              <a:rPr lang="en-US" sz="6800" b="1">
                <a:solidFill>
                  <a:srgbClr val="5B3121"/>
                </a:solidFill>
                <a:latin typeface="Agrandir Bold"/>
                <a:ea typeface="Agrandir Bold"/>
                <a:cs typeface="Agrandir Bold"/>
                <a:sym typeface="Agrandir Bold"/>
              </a:rPr>
              <a:t>Resultado Obtenido</a:t>
            </a:r>
          </a:p>
        </p:txBody>
      </p:sp>
      <p:sp>
        <p:nvSpPr>
          <p:cNvPr id="10" name="Freeform 10"/>
          <p:cNvSpPr/>
          <p:nvPr/>
        </p:nvSpPr>
        <p:spPr>
          <a:xfrm rot="-1825997">
            <a:off x="5687123" y="531766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1" name="Freeform 11"/>
          <p:cNvSpPr/>
          <p:nvPr/>
        </p:nvSpPr>
        <p:spPr>
          <a:xfrm rot="167058">
            <a:off x="14831106" y="9109599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1"/>
                </a:lnTo>
                <a:lnTo>
                  <a:pt x="0" y="109689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2" name="Freeform 12"/>
          <p:cNvSpPr/>
          <p:nvPr/>
        </p:nvSpPr>
        <p:spPr>
          <a:xfrm rot="-1858074">
            <a:off x="-43243" y="8805236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6" y="0"/>
                </a:lnTo>
                <a:lnTo>
                  <a:pt x="1429176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3" name="Freeform 13"/>
          <p:cNvSpPr/>
          <p:nvPr/>
        </p:nvSpPr>
        <p:spPr>
          <a:xfrm rot="-1420549">
            <a:off x="6910391" y="2575751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5"/>
                </a:lnTo>
                <a:lnTo>
                  <a:pt x="0" y="9246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4" name="Freeform 14"/>
          <p:cNvSpPr/>
          <p:nvPr/>
        </p:nvSpPr>
        <p:spPr>
          <a:xfrm>
            <a:off x="5242238" y="1649521"/>
            <a:ext cx="531069" cy="531069"/>
          </a:xfrm>
          <a:custGeom>
            <a:avLst/>
            <a:gdLst/>
            <a:ahLst/>
            <a:cxnLst/>
            <a:rect l="l" t="t" r="r" b="b"/>
            <a:pathLst>
              <a:path w="531069" h="531069">
                <a:moveTo>
                  <a:pt x="0" y="0"/>
                </a:moveTo>
                <a:lnTo>
                  <a:pt x="531069" y="0"/>
                </a:lnTo>
                <a:lnTo>
                  <a:pt x="531069" y="531069"/>
                </a:lnTo>
                <a:lnTo>
                  <a:pt x="0" y="531069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5" name="TextBox 15"/>
          <p:cNvSpPr txBox="1"/>
          <p:nvPr/>
        </p:nvSpPr>
        <p:spPr>
          <a:xfrm>
            <a:off x="242291" y="3701415"/>
            <a:ext cx="9040753" cy="5556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940"/>
              </a:lnSpc>
            </a:pPr>
            <a:r>
              <a:rPr lang="en-US" sz="2100" dirty="0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Fase 2: Desarrollo del Proyecto (Primer Sprint)</a:t>
            </a:r>
          </a:p>
          <a:p>
            <a:pPr algn="just">
              <a:lnSpc>
                <a:spcPts val="2940"/>
              </a:lnSpc>
            </a:pPr>
            <a:endParaRPr lang="en-US" sz="2100" dirty="0">
              <a:solidFill>
                <a:srgbClr val="5B312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just">
              <a:lnSpc>
                <a:spcPts val="2940"/>
              </a:lnSpc>
            </a:pPr>
            <a:r>
              <a:rPr lang="en-US" sz="2100" dirty="0" err="1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Resultado</a:t>
            </a:r>
            <a:r>
              <a:rPr lang="en-US" sz="2100" dirty="0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 principal:</a:t>
            </a:r>
          </a:p>
          <a:p>
            <a:pPr algn="just">
              <a:lnSpc>
                <a:spcPts val="2940"/>
              </a:lnSpc>
            </a:pPr>
            <a:r>
              <a:rPr lang="en-US" sz="2100" dirty="0" err="1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Finalización</a:t>
            </a:r>
            <a:r>
              <a:rPr lang="en-US" sz="2100" dirty="0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00" dirty="0" err="1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exitosa</a:t>
            </a:r>
            <a:r>
              <a:rPr lang="en-US" sz="2100" dirty="0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 del Primer Sprint y </a:t>
            </a:r>
            <a:r>
              <a:rPr lang="en-US" sz="2100" dirty="0" err="1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entrega</a:t>
            </a:r>
            <a:r>
              <a:rPr lang="en-US" sz="2100" dirty="0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 de un </a:t>
            </a:r>
            <a:r>
              <a:rPr lang="en-US" sz="2100" dirty="0" err="1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Producto</a:t>
            </a:r>
            <a:r>
              <a:rPr lang="en-US" sz="2100" dirty="0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00" dirty="0" err="1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Mínimo</a:t>
            </a:r>
            <a:r>
              <a:rPr lang="en-US" sz="2100" dirty="0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 Viable (MVP) </a:t>
            </a:r>
            <a:r>
              <a:rPr lang="en-US" sz="2100" dirty="0" err="1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funcional</a:t>
            </a:r>
            <a:r>
              <a:rPr lang="en-US" sz="2100" dirty="0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algn="just">
              <a:lnSpc>
                <a:spcPts val="2940"/>
              </a:lnSpc>
            </a:pPr>
            <a:endParaRPr lang="en-US" sz="2100" dirty="0">
              <a:solidFill>
                <a:srgbClr val="5B312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just">
              <a:lnSpc>
                <a:spcPts val="2940"/>
              </a:lnSpc>
            </a:pPr>
            <a:r>
              <a:rPr lang="en-US" sz="2100" dirty="0" err="1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Logros</a:t>
            </a:r>
            <a:r>
              <a:rPr lang="en-US" sz="2100" dirty="0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:</a:t>
            </a:r>
          </a:p>
          <a:p>
            <a:pPr marL="453390" lvl="1" indent="-226695" algn="just">
              <a:lnSpc>
                <a:spcPts val="2940"/>
              </a:lnSpc>
              <a:buFont typeface="Arial"/>
              <a:buChar char="•"/>
            </a:pPr>
            <a:r>
              <a:rPr lang="en-US" sz="2100" dirty="0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Desarrollo </a:t>
            </a:r>
            <a:r>
              <a:rPr lang="en-US" sz="2100" dirty="0" err="1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completo</a:t>
            </a:r>
            <a:r>
              <a:rPr lang="en-US" sz="2100" dirty="0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 del </a:t>
            </a:r>
            <a:r>
              <a:rPr lang="en-US" sz="2100" dirty="0" err="1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módulo</a:t>
            </a:r>
            <a:r>
              <a:rPr lang="en-US" sz="2100" dirty="0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2100" dirty="0" err="1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gestión</a:t>
            </a:r>
            <a:r>
              <a:rPr lang="en-US" sz="2100" dirty="0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2100" dirty="0" err="1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usuarios</a:t>
            </a:r>
            <a:r>
              <a:rPr lang="en-US" sz="2100" dirty="0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,</a:t>
            </a:r>
          </a:p>
          <a:p>
            <a:pPr marL="453390" lvl="1" indent="-226695" algn="just">
              <a:lnSpc>
                <a:spcPts val="2940"/>
              </a:lnSpc>
              <a:buFont typeface="Arial"/>
              <a:buChar char="•"/>
            </a:pPr>
            <a:r>
              <a:rPr lang="en-US" sz="2100" dirty="0" err="1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construcción</a:t>
            </a:r>
            <a:r>
              <a:rPr lang="en-US" sz="2100" dirty="0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 del </a:t>
            </a:r>
            <a:r>
              <a:rPr lang="en-US" sz="2100" dirty="0" err="1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módulo</a:t>
            </a:r>
            <a:r>
              <a:rPr lang="en-US" sz="2100" dirty="0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 central de </a:t>
            </a:r>
            <a:r>
              <a:rPr lang="en-US" sz="2100" dirty="0" err="1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gestión</a:t>
            </a:r>
            <a:r>
              <a:rPr lang="en-US" sz="2100" dirty="0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2100" dirty="0" err="1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mascotas</a:t>
            </a:r>
            <a:r>
              <a:rPr lang="en-US" sz="2100" dirty="0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,</a:t>
            </a:r>
          </a:p>
          <a:p>
            <a:pPr marL="453390" lvl="1" indent="-226695" algn="just">
              <a:lnSpc>
                <a:spcPts val="2940"/>
              </a:lnSpc>
              <a:buFont typeface="Arial"/>
              <a:buChar char="•"/>
            </a:pPr>
            <a:r>
              <a:rPr lang="en-US" sz="2100" dirty="0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y </a:t>
            </a:r>
            <a:r>
              <a:rPr lang="en-US" sz="2100" dirty="0" err="1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entrega</a:t>
            </a:r>
            <a:r>
              <a:rPr lang="en-US" sz="2100" dirty="0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2100" dirty="0" err="1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una</a:t>
            </a:r>
            <a:r>
              <a:rPr lang="en-US" sz="2100" dirty="0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 base </a:t>
            </a:r>
            <a:r>
              <a:rPr lang="en-US" sz="2100" dirty="0" err="1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sólida</a:t>
            </a:r>
            <a:r>
              <a:rPr lang="en-US" sz="2100" dirty="0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 del </a:t>
            </a:r>
            <a:r>
              <a:rPr lang="en-US" sz="2100" dirty="0" err="1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sistema</a:t>
            </a:r>
            <a:r>
              <a:rPr lang="en-US" sz="2100" dirty="0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00" dirty="0" err="1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continuar</a:t>
            </a:r>
            <a:r>
              <a:rPr lang="en-US" sz="2100" dirty="0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 la </a:t>
            </a:r>
            <a:r>
              <a:rPr lang="en-US" sz="2100" dirty="0" err="1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expansión</a:t>
            </a:r>
            <a:r>
              <a:rPr lang="en-US" sz="2100" dirty="0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2100" dirty="0" err="1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funcionalidades</a:t>
            </a:r>
            <a:r>
              <a:rPr lang="en-US" sz="2100" dirty="0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algn="just">
              <a:lnSpc>
                <a:spcPts val="2940"/>
              </a:lnSpc>
            </a:pPr>
            <a:endParaRPr lang="en-US" sz="2100" dirty="0">
              <a:solidFill>
                <a:srgbClr val="5B312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just">
              <a:lnSpc>
                <a:spcPts val="2940"/>
              </a:lnSpc>
            </a:pPr>
            <a:endParaRPr lang="en-US" sz="2100" dirty="0">
              <a:solidFill>
                <a:srgbClr val="5B312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just">
              <a:lnSpc>
                <a:spcPts val="2940"/>
              </a:lnSpc>
            </a:pPr>
            <a:endParaRPr lang="en-US" sz="2100" dirty="0">
              <a:solidFill>
                <a:srgbClr val="5B312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2940"/>
              </a:lnSpc>
            </a:pPr>
            <a:endParaRPr lang="en-US" sz="2100" dirty="0">
              <a:solidFill>
                <a:srgbClr val="5B312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6" name="Freeform 16"/>
          <p:cNvSpPr/>
          <p:nvPr/>
        </p:nvSpPr>
        <p:spPr>
          <a:xfrm>
            <a:off x="14351620" y="76583"/>
            <a:ext cx="3868919" cy="952117"/>
          </a:xfrm>
          <a:custGeom>
            <a:avLst/>
            <a:gdLst/>
            <a:ahLst/>
            <a:cxnLst/>
            <a:rect l="l" t="t" r="r" b="b"/>
            <a:pathLst>
              <a:path w="3868919" h="952117">
                <a:moveTo>
                  <a:pt x="0" y="0"/>
                </a:moveTo>
                <a:lnTo>
                  <a:pt x="3868920" y="0"/>
                </a:lnTo>
                <a:lnTo>
                  <a:pt x="3868920" y="952117"/>
                </a:lnTo>
                <a:lnTo>
                  <a:pt x="0" y="95211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657745" y="-832936"/>
            <a:ext cx="7307231" cy="7349691"/>
            <a:chOff x="0" y="0"/>
            <a:chExt cx="1924538" cy="193572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924538" cy="1935721"/>
            </a:xfrm>
            <a:custGeom>
              <a:avLst/>
              <a:gdLst/>
              <a:ahLst/>
              <a:cxnLst/>
              <a:rect l="l" t="t" r="r" b="b"/>
              <a:pathLst>
                <a:path w="1924538" h="1935721">
                  <a:moveTo>
                    <a:pt x="31785" y="0"/>
                  </a:moveTo>
                  <a:lnTo>
                    <a:pt x="1892753" y="0"/>
                  </a:lnTo>
                  <a:cubicBezTo>
                    <a:pt x="1910308" y="0"/>
                    <a:pt x="1924538" y="14230"/>
                    <a:pt x="1924538" y="31785"/>
                  </a:cubicBezTo>
                  <a:lnTo>
                    <a:pt x="1924538" y="1903936"/>
                  </a:lnTo>
                  <a:cubicBezTo>
                    <a:pt x="1924538" y="1921491"/>
                    <a:pt x="1910308" y="1935721"/>
                    <a:pt x="1892753" y="1935721"/>
                  </a:cubicBezTo>
                  <a:lnTo>
                    <a:pt x="31785" y="1935721"/>
                  </a:lnTo>
                  <a:cubicBezTo>
                    <a:pt x="14230" y="1935721"/>
                    <a:pt x="0" y="1921491"/>
                    <a:pt x="0" y="1903936"/>
                  </a:cubicBezTo>
                  <a:lnTo>
                    <a:pt x="0" y="31785"/>
                  </a:lnTo>
                  <a:cubicBezTo>
                    <a:pt x="0" y="14230"/>
                    <a:pt x="14230" y="0"/>
                    <a:pt x="31785" y="0"/>
                  </a:cubicBezTo>
                  <a:close/>
                </a:path>
              </a:pathLst>
            </a:custGeom>
            <a:solidFill>
              <a:srgbClr val="5B3121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1924538" cy="19928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-1420549">
            <a:off x="7998660" y="8089183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5"/>
                </a:lnTo>
                <a:lnTo>
                  <a:pt x="0" y="9246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6" name="TextBox 6"/>
          <p:cNvSpPr txBox="1"/>
          <p:nvPr/>
        </p:nvSpPr>
        <p:spPr>
          <a:xfrm>
            <a:off x="1028700" y="897540"/>
            <a:ext cx="6580374" cy="1944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800"/>
              </a:lnSpc>
            </a:pPr>
            <a:r>
              <a:rPr lang="en-US" sz="6800" b="1">
                <a:solidFill>
                  <a:srgbClr val="5B3121"/>
                </a:solidFill>
                <a:latin typeface="Agrandir Bold"/>
                <a:ea typeface="Agrandir Bold"/>
                <a:cs typeface="Agrandir Bold"/>
                <a:sym typeface="Agrandir Bold"/>
              </a:rPr>
              <a:t>Resultado Obtenido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-685800" y="8179217"/>
            <a:ext cx="2221798" cy="2107783"/>
            <a:chOff x="0" y="0"/>
            <a:chExt cx="585165" cy="555136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85165" cy="555136"/>
            </a:xfrm>
            <a:custGeom>
              <a:avLst/>
              <a:gdLst/>
              <a:ahLst/>
              <a:cxnLst/>
              <a:rect l="l" t="t" r="r" b="b"/>
              <a:pathLst>
                <a:path w="585165" h="555136">
                  <a:moveTo>
                    <a:pt x="104536" y="0"/>
                  </a:moveTo>
                  <a:lnTo>
                    <a:pt x="480629" y="0"/>
                  </a:lnTo>
                  <a:cubicBezTo>
                    <a:pt x="508354" y="0"/>
                    <a:pt x="534943" y="11014"/>
                    <a:pt x="554547" y="30618"/>
                  </a:cubicBezTo>
                  <a:cubicBezTo>
                    <a:pt x="574151" y="50222"/>
                    <a:pt x="585165" y="76811"/>
                    <a:pt x="585165" y="104536"/>
                  </a:cubicBezTo>
                  <a:lnTo>
                    <a:pt x="585165" y="450600"/>
                  </a:lnTo>
                  <a:cubicBezTo>
                    <a:pt x="585165" y="508334"/>
                    <a:pt x="538362" y="555136"/>
                    <a:pt x="480629" y="555136"/>
                  </a:cubicBezTo>
                  <a:lnTo>
                    <a:pt x="104536" y="555136"/>
                  </a:lnTo>
                  <a:cubicBezTo>
                    <a:pt x="46802" y="555136"/>
                    <a:pt x="0" y="508334"/>
                    <a:pt x="0" y="450600"/>
                  </a:cubicBezTo>
                  <a:lnTo>
                    <a:pt x="0" y="104536"/>
                  </a:lnTo>
                  <a:cubicBezTo>
                    <a:pt x="0" y="46802"/>
                    <a:pt x="46802" y="0"/>
                    <a:pt x="104536" y="0"/>
                  </a:cubicBezTo>
                  <a:close/>
                </a:path>
              </a:pathLst>
            </a:custGeom>
            <a:solidFill>
              <a:srgbClr val="5B3121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85165" cy="6122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0"/>
                </a:lnSpc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 rot="-1825997">
            <a:off x="5687123" y="531766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1" name="Freeform 11"/>
          <p:cNvSpPr/>
          <p:nvPr/>
        </p:nvSpPr>
        <p:spPr>
          <a:xfrm rot="167058">
            <a:off x="14856387" y="9292365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1"/>
                </a:lnTo>
                <a:lnTo>
                  <a:pt x="0" y="10968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2" name="Freeform 12"/>
          <p:cNvSpPr/>
          <p:nvPr/>
        </p:nvSpPr>
        <p:spPr>
          <a:xfrm rot="-1858074">
            <a:off x="-289489" y="8737740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6" y="0"/>
                </a:lnTo>
                <a:lnTo>
                  <a:pt x="1429176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3" name="Freeform 13"/>
          <p:cNvSpPr/>
          <p:nvPr/>
        </p:nvSpPr>
        <p:spPr>
          <a:xfrm rot="-1420549">
            <a:off x="117658" y="2648597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5"/>
                </a:lnTo>
                <a:lnTo>
                  <a:pt x="0" y="9246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4" name="Freeform 14"/>
          <p:cNvSpPr/>
          <p:nvPr/>
        </p:nvSpPr>
        <p:spPr>
          <a:xfrm>
            <a:off x="5242238" y="1649521"/>
            <a:ext cx="531069" cy="531069"/>
          </a:xfrm>
          <a:custGeom>
            <a:avLst/>
            <a:gdLst/>
            <a:ahLst/>
            <a:cxnLst/>
            <a:rect l="l" t="t" r="r" b="b"/>
            <a:pathLst>
              <a:path w="531069" h="531069">
                <a:moveTo>
                  <a:pt x="0" y="0"/>
                </a:moveTo>
                <a:lnTo>
                  <a:pt x="531069" y="0"/>
                </a:lnTo>
                <a:lnTo>
                  <a:pt x="531069" y="531069"/>
                </a:lnTo>
                <a:lnTo>
                  <a:pt x="0" y="53106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5" name="Freeform 15"/>
          <p:cNvSpPr/>
          <p:nvPr/>
        </p:nvSpPr>
        <p:spPr>
          <a:xfrm>
            <a:off x="14351620" y="76583"/>
            <a:ext cx="3868919" cy="952117"/>
          </a:xfrm>
          <a:custGeom>
            <a:avLst/>
            <a:gdLst/>
            <a:ahLst/>
            <a:cxnLst/>
            <a:rect l="l" t="t" r="r" b="b"/>
            <a:pathLst>
              <a:path w="3868919" h="952117">
                <a:moveTo>
                  <a:pt x="0" y="0"/>
                </a:moveTo>
                <a:lnTo>
                  <a:pt x="3868920" y="0"/>
                </a:lnTo>
                <a:lnTo>
                  <a:pt x="3868920" y="952117"/>
                </a:lnTo>
                <a:lnTo>
                  <a:pt x="0" y="95211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6" name="TextBox 16"/>
          <p:cNvSpPr txBox="1"/>
          <p:nvPr/>
        </p:nvSpPr>
        <p:spPr>
          <a:xfrm>
            <a:off x="1028700" y="3310890"/>
            <a:ext cx="12990434" cy="5947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5B3121"/>
                </a:solidFill>
                <a:latin typeface="Poppins"/>
                <a:ea typeface="Poppins"/>
                <a:cs typeface="Poppins"/>
                <a:sym typeface="Poppins"/>
              </a:rPr>
              <a:t>Fase 2: Desarrollo de Funcionalidades Avanzadas (Sprints 2 y 3)</a:t>
            </a:r>
          </a:p>
          <a:p>
            <a:pPr algn="l">
              <a:lnSpc>
                <a:spcPts val="2940"/>
              </a:lnSpc>
            </a:pPr>
            <a:endParaRPr lang="en-US" sz="2100">
              <a:solidFill>
                <a:srgbClr val="5B312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5B3121"/>
                </a:solidFill>
                <a:latin typeface="Poppins"/>
                <a:ea typeface="Poppins"/>
                <a:cs typeface="Poppins"/>
                <a:sym typeface="Poppins"/>
              </a:rPr>
              <a:t>Resultado principal</a:t>
            </a:r>
          </a:p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5B3121"/>
                </a:solidFill>
                <a:latin typeface="Poppins"/>
                <a:ea typeface="Poppins"/>
                <a:cs typeface="Poppins"/>
                <a:sym typeface="Poppins"/>
              </a:rPr>
              <a:t>Se implementaron las funcionalidades avanzadas de PetCare.</a:t>
            </a:r>
          </a:p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5B312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</a:p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5B3121"/>
                </a:solidFill>
                <a:latin typeface="Poppins"/>
                <a:ea typeface="Poppins"/>
                <a:cs typeface="Poppins"/>
                <a:sym typeface="Poppins"/>
              </a:rPr>
              <a:t>Funciones implementadas:</a:t>
            </a:r>
          </a:p>
          <a:p>
            <a:pPr marL="453390" lvl="1" indent="-226695" algn="l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>
                <a:solidFill>
                  <a:srgbClr val="5B3121"/>
                </a:solidFill>
                <a:latin typeface="Poppins"/>
                <a:ea typeface="Poppins"/>
                <a:cs typeface="Poppins"/>
                <a:sym typeface="Poppins"/>
              </a:rPr>
              <a:t>Registro de bitácora clínica por mascota.</a:t>
            </a:r>
          </a:p>
          <a:p>
            <a:pPr marL="453390" lvl="1" indent="-226695" algn="l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>
                <a:solidFill>
                  <a:srgbClr val="5B3121"/>
                </a:solidFill>
                <a:latin typeface="Poppins"/>
                <a:ea typeface="Poppins"/>
                <a:cs typeface="Poppins"/>
                <a:sym typeface="Poppins"/>
              </a:rPr>
              <a:t>Subida y almacenamiento de documentos médicos en PDF.</a:t>
            </a:r>
          </a:p>
          <a:p>
            <a:pPr marL="453390" lvl="1" indent="-226695" algn="l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5B3121"/>
                </a:solidFill>
                <a:latin typeface="Poppins"/>
                <a:ea typeface="Poppins"/>
                <a:cs typeface="Poppins"/>
                <a:sym typeface="Poppins"/>
              </a:rPr>
              <a:t>Gestión de Rutinas y Alertas</a:t>
            </a:r>
          </a:p>
          <a:p>
            <a:pPr marL="453390" lvl="1" indent="-226695" algn="l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5B3121"/>
                </a:solidFill>
                <a:latin typeface="Poppins"/>
                <a:ea typeface="Poppins"/>
                <a:cs typeface="Poppins"/>
                <a:sym typeface="Poppins"/>
              </a:rPr>
              <a:t>Colaboración y Compartición de Perfiles</a:t>
            </a:r>
          </a:p>
          <a:p>
            <a:pPr marL="453390" lvl="1" indent="-226695" algn="l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>
                <a:solidFill>
                  <a:srgbClr val="5B3121"/>
                </a:solidFill>
                <a:latin typeface="Poppins"/>
                <a:ea typeface="Poppins"/>
                <a:cs typeface="Poppins"/>
                <a:sym typeface="Poppins"/>
              </a:rPr>
              <a:t>Posibilidad de compartir el perfil de la mascota con cuidadores o veterinarios.</a:t>
            </a:r>
          </a:p>
          <a:p>
            <a:pPr marL="906780" lvl="2" indent="-302260" algn="l">
              <a:lnSpc>
                <a:spcPts val="2940"/>
              </a:lnSpc>
              <a:spcBef>
                <a:spcPct val="0"/>
              </a:spcBef>
              <a:buFont typeface="Arial"/>
              <a:buChar char="⚬"/>
            </a:pPr>
            <a:r>
              <a:rPr lang="en-US" sz="2100">
                <a:solidFill>
                  <a:srgbClr val="5B3121"/>
                </a:solidFill>
                <a:latin typeface="Poppins"/>
                <a:ea typeface="Poppins"/>
                <a:cs typeface="Poppins"/>
                <a:sym typeface="Poppins"/>
              </a:rPr>
              <a:t>Los cuidadores pueden:</a:t>
            </a:r>
          </a:p>
          <a:p>
            <a:pPr marL="1360170" lvl="3" indent="-340042" algn="l">
              <a:lnSpc>
                <a:spcPts val="2940"/>
              </a:lnSpc>
              <a:spcBef>
                <a:spcPct val="0"/>
              </a:spcBef>
              <a:buFont typeface="Arial"/>
              <a:buChar char="￭"/>
            </a:pPr>
            <a:r>
              <a:rPr lang="en-US" sz="2100">
                <a:solidFill>
                  <a:srgbClr val="5B3121"/>
                </a:solidFill>
                <a:latin typeface="Poppins"/>
                <a:ea typeface="Poppins"/>
                <a:cs typeface="Poppins"/>
                <a:sym typeface="Poppins"/>
              </a:rPr>
              <a:t>Registrar actividades realizadas.</a:t>
            </a:r>
          </a:p>
          <a:p>
            <a:pPr marL="1360170" lvl="3" indent="-340042" algn="l">
              <a:lnSpc>
                <a:spcPts val="2940"/>
              </a:lnSpc>
              <a:spcBef>
                <a:spcPct val="0"/>
              </a:spcBef>
              <a:buFont typeface="Arial"/>
              <a:buChar char="￭"/>
            </a:pPr>
            <a:r>
              <a:rPr lang="en-US" sz="2100">
                <a:solidFill>
                  <a:srgbClr val="5B3121"/>
                </a:solidFill>
                <a:latin typeface="Poppins"/>
                <a:ea typeface="Poppins"/>
                <a:cs typeface="Poppins"/>
                <a:sym typeface="Poppins"/>
              </a:rPr>
              <a:t>Reportar incidencias.</a:t>
            </a:r>
          </a:p>
          <a:p>
            <a:pPr marL="906780" lvl="2" indent="-302260" algn="l">
              <a:lnSpc>
                <a:spcPts val="2940"/>
              </a:lnSpc>
              <a:spcBef>
                <a:spcPct val="0"/>
              </a:spcBef>
              <a:buFont typeface="Arial"/>
              <a:buChar char="⚬"/>
            </a:pPr>
            <a:r>
              <a:rPr lang="en-US" sz="2100">
                <a:solidFill>
                  <a:srgbClr val="5B3121"/>
                </a:solidFill>
                <a:latin typeface="Poppins"/>
                <a:ea typeface="Poppins"/>
                <a:cs typeface="Poppins"/>
                <a:sym typeface="Poppins"/>
              </a:rPr>
              <a:t>El dueño recibe notificaciones en tiempo real ante cualquier actividad o evento registrado.</a:t>
            </a:r>
          </a:p>
          <a:p>
            <a:pPr algn="l">
              <a:lnSpc>
                <a:spcPts val="2940"/>
              </a:lnSpc>
              <a:spcBef>
                <a:spcPct val="0"/>
              </a:spcBef>
            </a:pPr>
            <a:endParaRPr lang="en-US" sz="2100">
              <a:solidFill>
                <a:srgbClr val="5B312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242291" y="178692"/>
            <a:ext cx="4361213" cy="4248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>
                <a:solidFill>
                  <a:srgbClr val="5B3121">
                    <a:alpha val="60000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Proyecto “PetCare”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695085" y="454025"/>
            <a:ext cx="7307231" cy="7349691"/>
            <a:chOff x="0" y="0"/>
            <a:chExt cx="1924538" cy="193572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924538" cy="1935721"/>
            </a:xfrm>
            <a:custGeom>
              <a:avLst/>
              <a:gdLst/>
              <a:ahLst/>
              <a:cxnLst/>
              <a:rect l="l" t="t" r="r" b="b"/>
              <a:pathLst>
                <a:path w="1924538" h="1935721">
                  <a:moveTo>
                    <a:pt x="31785" y="0"/>
                  </a:moveTo>
                  <a:lnTo>
                    <a:pt x="1892753" y="0"/>
                  </a:lnTo>
                  <a:cubicBezTo>
                    <a:pt x="1910308" y="0"/>
                    <a:pt x="1924538" y="14230"/>
                    <a:pt x="1924538" y="31785"/>
                  </a:cubicBezTo>
                  <a:lnTo>
                    <a:pt x="1924538" y="1903936"/>
                  </a:lnTo>
                  <a:cubicBezTo>
                    <a:pt x="1924538" y="1921491"/>
                    <a:pt x="1910308" y="1935721"/>
                    <a:pt x="1892753" y="1935721"/>
                  </a:cubicBezTo>
                  <a:lnTo>
                    <a:pt x="31785" y="1935721"/>
                  </a:lnTo>
                  <a:cubicBezTo>
                    <a:pt x="14230" y="1935721"/>
                    <a:pt x="0" y="1921491"/>
                    <a:pt x="0" y="1903936"/>
                  </a:cubicBezTo>
                  <a:lnTo>
                    <a:pt x="0" y="31785"/>
                  </a:lnTo>
                  <a:cubicBezTo>
                    <a:pt x="0" y="14230"/>
                    <a:pt x="14230" y="0"/>
                    <a:pt x="31785" y="0"/>
                  </a:cubicBezTo>
                  <a:close/>
                </a:path>
              </a:pathLst>
            </a:custGeom>
            <a:solidFill>
              <a:srgbClr val="5B3121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1924538" cy="19928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-1420549">
            <a:off x="7998660" y="8089183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5"/>
                </a:lnTo>
                <a:lnTo>
                  <a:pt x="0" y="9246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grpSp>
        <p:nvGrpSpPr>
          <p:cNvPr id="6" name="Group 6"/>
          <p:cNvGrpSpPr/>
          <p:nvPr/>
        </p:nvGrpSpPr>
        <p:grpSpPr>
          <a:xfrm>
            <a:off x="-895991" y="8113079"/>
            <a:ext cx="2179629" cy="2107783"/>
            <a:chOff x="0" y="0"/>
            <a:chExt cx="585165" cy="55513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5165" cy="555136"/>
            </a:xfrm>
            <a:custGeom>
              <a:avLst/>
              <a:gdLst/>
              <a:ahLst/>
              <a:cxnLst/>
              <a:rect l="l" t="t" r="r" b="b"/>
              <a:pathLst>
                <a:path w="585165" h="555136">
                  <a:moveTo>
                    <a:pt x="104536" y="0"/>
                  </a:moveTo>
                  <a:lnTo>
                    <a:pt x="480629" y="0"/>
                  </a:lnTo>
                  <a:cubicBezTo>
                    <a:pt x="508354" y="0"/>
                    <a:pt x="534943" y="11014"/>
                    <a:pt x="554547" y="30618"/>
                  </a:cubicBezTo>
                  <a:cubicBezTo>
                    <a:pt x="574151" y="50222"/>
                    <a:pt x="585165" y="76811"/>
                    <a:pt x="585165" y="104536"/>
                  </a:cubicBezTo>
                  <a:lnTo>
                    <a:pt x="585165" y="450600"/>
                  </a:lnTo>
                  <a:cubicBezTo>
                    <a:pt x="585165" y="508334"/>
                    <a:pt x="538362" y="555136"/>
                    <a:pt x="480629" y="555136"/>
                  </a:cubicBezTo>
                  <a:lnTo>
                    <a:pt x="104536" y="555136"/>
                  </a:lnTo>
                  <a:cubicBezTo>
                    <a:pt x="46802" y="555136"/>
                    <a:pt x="0" y="508334"/>
                    <a:pt x="0" y="450600"/>
                  </a:cubicBezTo>
                  <a:lnTo>
                    <a:pt x="0" y="104536"/>
                  </a:lnTo>
                  <a:cubicBezTo>
                    <a:pt x="0" y="46802"/>
                    <a:pt x="46802" y="0"/>
                    <a:pt x="104536" y="0"/>
                  </a:cubicBezTo>
                  <a:close/>
                </a:path>
              </a:pathLst>
            </a:custGeom>
            <a:solidFill>
              <a:srgbClr val="5B3121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57150"/>
              <a:ext cx="585165" cy="6122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 rot="-1825997">
            <a:off x="5687123" y="531766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0" name="Freeform 10"/>
          <p:cNvSpPr/>
          <p:nvPr/>
        </p:nvSpPr>
        <p:spPr>
          <a:xfrm rot="167058">
            <a:off x="14856387" y="9292365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1"/>
                </a:lnTo>
                <a:lnTo>
                  <a:pt x="0" y="10968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1" name="Freeform 11"/>
          <p:cNvSpPr/>
          <p:nvPr/>
        </p:nvSpPr>
        <p:spPr>
          <a:xfrm rot="-1858074">
            <a:off x="-264502" y="8540643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6" y="0"/>
                </a:lnTo>
                <a:lnTo>
                  <a:pt x="1429176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2" name="Freeform 12"/>
          <p:cNvSpPr/>
          <p:nvPr/>
        </p:nvSpPr>
        <p:spPr>
          <a:xfrm rot="-1420549">
            <a:off x="-704547" y="2379592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5"/>
                </a:lnTo>
                <a:lnTo>
                  <a:pt x="0" y="9246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3" name="Freeform 13"/>
          <p:cNvSpPr/>
          <p:nvPr/>
        </p:nvSpPr>
        <p:spPr>
          <a:xfrm>
            <a:off x="242291" y="1263557"/>
            <a:ext cx="531069" cy="531069"/>
          </a:xfrm>
          <a:custGeom>
            <a:avLst/>
            <a:gdLst/>
            <a:ahLst/>
            <a:cxnLst/>
            <a:rect l="l" t="t" r="r" b="b"/>
            <a:pathLst>
              <a:path w="531069" h="531069">
                <a:moveTo>
                  <a:pt x="0" y="0"/>
                </a:moveTo>
                <a:lnTo>
                  <a:pt x="531069" y="0"/>
                </a:lnTo>
                <a:lnTo>
                  <a:pt x="531069" y="531069"/>
                </a:lnTo>
                <a:lnTo>
                  <a:pt x="0" y="53106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4" name="Freeform 14"/>
          <p:cNvSpPr/>
          <p:nvPr/>
        </p:nvSpPr>
        <p:spPr>
          <a:xfrm>
            <a:off x="10542511" y="1697454"/>
            <a:ext cx="7612380" cy="8229600"/>
          </a:xfrm>
          <a:custGeom>
            <a:avLst/>
            <a:gdLst/>
            <a:ahLst/>
            <a:cxnLst/>
            <a:rect l="l" t="t" r="r" b="b"/>
            <a:pathLst>
              <a:path w="7612380" h="8229600">
                <a:moveTo>
                  <a:pt x="0" y="0"/>
                </a:moveTo>
                <a:lnTo>
                  <a:pt x="7612380" y="0"/>
                </a:lnTo>
                <a:lnTo>
                  <a:pt x="761238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5" name="TextBox 15"/>
          <p:cNvSpPr txBox="1"/>
          <p:nvPr/>
        </p:nvSpPr>
        <p:spPr>
          <a:xfrm>
            <a:off x="242291" y="178692"/>
            <a:ext cx="4361213" cy="4248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>
                <a:solidFill>
                  <a:srgbClr val="5B3121">
                    <a:alpha val="60000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Proyecto “PetCare”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94934" y="1013537"/>
            <a:ext cx="7304387" cy="4608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26"/>
              </a:lnSpc>
            </a:pPr>
            <a:r>
              <a:rPr lang="en-US" sz="6926" b="1">
                <a:solidFill>
                  <a:srgbClr val="5B3121"/>
                </a:solidFill>
                <a:latin typeface="Agrandir Bold"/>
                <a:ea typeface="Agrandir Bold"/>
                <a:cs typeface="Agrandir Bold"/>
                <a:sym typeface="Agrandir Bold"/>
              </a:rPr>
              <a:t>Obstáculos presentados durante el desarrollo</a:t>
            </a:r>
          </a:p>
          <a:p>
            <a:pPr algn="l">
              <a:lnSpc>
                <a:spcPts val="6926"/>
              </a:lnSpc>
            </a:pPr>
            <a:endParaRPr lang="en-US" sz="6926" b="1">
              <a:solidFill>
                <a:srgbClr val="5B3121"/>
              </a:solidFill>
              <a:latin typeface="Agrandir Bold"/>
              <a:ea typeface="Agrandir Bold"/>
              <a:cs typeface="Agrandir Bold"/>
              <a:sym typeface="Agrandir Bold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371566" y="5555688"/>
            <a:ext cx="8272413" cy="2980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React + Tailwind CSS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Utilización de Supabase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Asociar archivos al Bucket de Supabase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5B3121"/>
                </a:solidFill>
                <a:latin typeface="Open Sans"/>
                <a:ea typeface="Open Sans"/>
                <a:cs typeface="Open Sans"/>
                <a:sym typeface="Open Sans"/>
              </a:rPr>
              <a:t>Creación y configuración de alertas</a:t>
            </a:r>
          </a:p>
          <a:p>
            <a:pPr algn="l">
              <a:lnSpc>
                <a:spcPts val="4759"/>
              </a:lnSpc>
            </a:pPr>
            <a:endParaRPr lang="en-US" sz="3399">
              <a:solidFill>
                <a:srgbClr val="5B312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8" name="Freeform 18"/>
          <p:cNvSpPr/>
          <p:nvPr/>
        </p:nvSpPr>
        <p:spPr>
          <a:xfrm>
            <a:off x="14351620" y="76583"/>
            <a:ext cx="3868919" cy="952117"/>
          </a:xfrm>
          <a:custGeom>
            <a:avLst/>
            <a:gdLst/>
            <a:ahLst/>
            <a:cxnLst/>
            <a:rect l="l" t="t" r="r" b="b"/>
            <a:pathLst>
              <a:path w="3868919" h="952117">
                <a:moveTo>
                  <a:pt x="0" y="0"/>
                </a:moveTo>
                <a:lnTo>
                  <a:pt x="3868920" y="0"/>
                </a:lnTo>
                <a:lnTo>
                  <a:pt x="3868920" y="952117"/>
                </a:lnTo>
                <a:lnTo>
                  <a:pt x="0" y="95211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917359" y="-85152"/>
            <a:ext cx="7307231" cy="7349691"/>
            <a:chOff x="0" y="0"/>
            <a:chExt cx="1924538" cy="193572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924538" cy="1935721"/>
            </a:xfrm>
            <a:custGeom>
              <a:avLst/>
              <a:gdLst/>
              <a:ahLst/>
              <a:cxnLst/>
              <a:rect l="l" t="t" r="r" b="b"/>
              <a:pathLst>
                <a:path w="1924538" h="1935721">
                  <a:moveTo>
                    <a:pt x="31785" y="0"/>
                  </a:moveTo>
                  <a:lnTo>
                    <a:pt x="1892753" y="0"/>
                  </a:lnTo>
                  <a:cubicBezTo>
                    <a:pt x="1910308" y="0"/>
                    <a:pt x="1924538" y="14230"/>
                    <a:pt x="1924538" y="31785"/>
                  </a:cubicBezTo>
                  <a:lnTo>
                    <a:pt x="1924538" y="1903936"/>
                  </a:lnTo>
                  <a:cubicBezTo>
                    <a:pt x="1924538" y="1921491"/>
                    <a:pt x="1910308" y="1935721"/>
                    <a:pt x="1892753" y="1935721"/>
                  </a:cubicBezTo>
                  <a:lnTo>
                    <a:pt x="31785" y="1935721"/>
                  </a:lnTo>
                  <a:cubicBezTo>
                    <a:pt x="14230" y="1935721"/>
                    <a:pt x="0" y="1921491"/>
                    <a:pt x="0" y="1903936"/>
                  </a:cubicBezTo>
                  <a:lnTo>
                    <a:pt x="0" y="31785"/>
                  </a:lnTo>
                  <a:cubicBezTo>
                    <a:pt x="0" y="14230"/>
                    <a:pt x="14230" y="0"/>
                    <a:pt x="31785" y="0"/>
                  </a:cubicBezTo>
                  <a:close/>
                </a:path>
              </a:pathLst>
            </a:custGeom>
            <a:solidFill>
              <a:srgbClr val="5B3121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1924538" cy="19928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-1420549">
            <a:off x="7998660" y="8089183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5"/>
                </a:lnTo>
                <a:lnTo>
                  <a:pt x="0" y="9246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grpSp>
        <p:nvGrpSpPr>
          <p:cNvPr id="6" name="Group 6"/>
          <p:cNvGrpSpPr/>
          <p:nvPr/>
        </p:nvGrpSpPr>
        <p:grpSpPr>
          <a:xfrm>
            <a:off x="-1326863" y="8034813"/>
            <a:ext cx="2221798" cy="2107783"/>
            <a:chOff x="0" y="0"/>
            <a:chExt cx="585165" cy="55513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5165" cy="555136"/>
            </a:xfrm>
            <a:custGeom>
              <a:avLst/>
              <a:gdLst/>
              <a:ahLst/>
              <a:cxnLst/>
              <a:rect l="l" t="t" r="r" b="b"/>
              <a:pathLst>
                <a:path w="585165" h="555136">
                  <a:moveTo>
                    <a:pt x="104536" y="0"/>
                  </a:moveTo>
                  <a:lnTo>
                    <a:pt x="480629" y="0"/>
                  </a:lnTo>
                  <a:cubicBezTo>
                    <a:pt x="508354" y="0"/>
                    <a:pt x="534943" y="11014"/>
                    <a:pt x="554547" y="30618"/>
                  </a:cubicBezTo>
                  <a:cubicBezTo>
                    <a:pt x="574151" y="50222"/>
                    <a:pt x="585165" y="76811"/>
                    <a:pt x="585165" y="104536"/>
                  </a:cubicBezTo>
                  <a:lnTo>
                    <a:pt x="585165" y="450600"/>
                  </a:lnTo>
                  <a:cubicBezTo>
                    <a:pt x="585165" y="508334"/>
                    <a:pt x="538362" y="555136"/>
                    <a:pt x="480629" y="555136"/>
                  </a:cubicBezTo>
                  <a:lnTo>
                    <a:pt x="104536" y="555136"/>
                  </a:lnTo>
                  <a:cubicBezTo>
                    <a:pt x="46802" y="555136"/>
                    <a:pt x="0" y="508334"/>
                    <a:pt x="0" y="450600"/>
                  </a:cubicBezTo>
                  <a:lnTo>
                    <a:pt x="0" y="104536"/>
                  </a:lnTo>
                  <a:cubicBezTo>
                    <a:pt x="0" y="46802"/>
                    <a:pt x="46802" y="0"/>
                    <a:pt x="104536" y="0"/>
                  </a:cubicBezTo>
                  <a:close/>
                </a:path>
              </a:pathLst>
            </a:custGeom>
            <a:solidFill>
              <a:srgbClr val="5B3121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57150"/>
              <a:ext cx="585165" cy="6122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 rot="-1825997">
            <a:off x="5687123" y="531766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0" name="Freeform 10"/>
          <p:cNvSpPr/>
          <p:nvPr/>
        </p:nvSpPr>
        <p:spPr>
          <a:xfrm rot="167058">
            <a:off x="14856387" y="9292365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1"/>
                </a:lnTo>
                <a:lnTo>
                  <a:pt x="0" y="10968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1" name="Freeform 11"/>
          <p:cNvSpPr/>
          <p:nvPr/>
        </p:nvSpPr>
        <p:spPr>
          <a:xfrm rot="-1858074">
            <a:off x="-714588" y="8756186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6" y="0"/>
                </a:lnTo>
                <a:lnTo>
                  <a:pt x="1429176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2" name="Freeform 12"/>
          <p:cNvSpPr/>
          <p:nvPr/>
        </p:nvSpPr>
        <p:spPr>
          <a:xfrm rot="-1420549">
            <a:off x="87140" y="1832331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5"/>
                </a:lnTo>
                <a:lnTo>
                  <a:pt x="0" y="9246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3" name="Freeform 13"/>
          <p:cNvSpPr/>
          <p:nvPr/>
        </p:nvSpPr>
        <p:spPr>
          <a:xfrm>
            <a:off x="363865" y="4877966"/>
            <a:ext cx="531069" cy="531069"/>
          </a:xfrm>
          <a:custGeom>
            <a:avLst/>
            <a:gdLst/>
            <a:ahLst/>
            <a:cxnLst/>
            <a:rect l="l" t="t" r="r" b="b"/>
            <a:pathLst>
              <a:path w="531069" h="531069">
                <a:moveTo>
                  <a:pt x="0" y="0"/>
                </a:moveTo>
                <a:lnTo>
                  <a:pt x="531069" y="0"/>
                </a:lnTo>
                <a:lnTo>
                  <a:pt x="531069" y="531068"/>
                </a:lnTo>
                <a:lnTo>
                  <a:pt x="0" y="53106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4" name="Freeform 14"/>
          <p:cNvSpPr/>
          <p:nvPr/>
        </p:nvSpPr>
        <p:spPr>
          <a:xfrm>
            <a:off x="14351620" y="76583"/>
            <a:ext cx="3868919" cy="952117"/>
          </a:xfrm>
          <a:custGeom>
            <a:avLst/>
            <a:gdLst/>
            <a:ahLst/>
            <a:cxnLst/>
            <a:rect l="l" t="t" r="r" b="b"/>
            <a:pathLst>
              <a:path w="3868919" h="952117">
                <a:moveTo>
                  <a:pt x="0" y="0"/>
                </a:moveTo>
                <a:lnTo>
                  <a:pt x="3868920" y="0"/>
                </a:lnTo>
                <a:lnTo>
                  <a:pt x="3868920" y="952117"/>
                </a:lnTo>
                <a:lnTo>
                  <a:pt x="0" y="95211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5" name="Freeform 15"/>
          <p:cNvSpPr/>
          <p:nvPr/>
        </p:nvSpPr>
        <p:spPr>
          <a:xfrm>
            <a:off x="9344967" y="0"/>
            <a:ext cx="4640071" cy="10287000"/>
          </a:xfrm>
          <a:custGeom>
            <a:avLst/>
            <a:gdLst/>
            <a:ahLst/>
            <a:cxnLst/>
            <a:rect l="l" t="t" r="r" b="b"/>
            <a:pathLst>
              <a:path w="4640071" h="10287000">
                <a:moveTo>
                  <a:pt x="0" y="0"/>
                </a:moveTo>
                <a:lnTo>
                  <a:pt x="4640071" y="0"/>
                </a:lnTo>
                <a:lnTo>
                  <a:pt x="4640071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6" name="TextBox 16"/>
          <p:cNvSpPr txBox="1"/>
          <p:nvPr/>
        </p:nvSpPr>
        <p:spPr>
          <a:xfrm>
            <a:off x="242291" y="178692"/>
            <a:ext cx="4361213" cy="4248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>
                <a:solidFill>
                  <a:srgbClr val="5B3121">
                    <a:alpha val="60000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Proyecto “PetCare”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36676" y="3824237"/>
            <a:ext cx="7669778" cy="37355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26"/>
              </a:lnSpc>
            </a:pPr>
            <a:r>
              <a:rPr lang="en-US" sz="6926" b="1">
                <a:solidFill>
                  <a:srgbClr val="5B3121"/>
                </a:solidFill>
                <a:latin typeface="Agrandir Bold"/>
                <a:ea typeface="Agrandir Bold"/>
                <a:cs typeface="Agrandir Bold"/>
                <a:sym typeface="Agrandir Bold"/>
              </a:rPr>
              <a:t>DEMOSTRACIÓN DEL RESULTADO DEL PROYECTO</a:t>
            </a:r>
          </a:p>
          <a:p>
            <a:pPr algn="l">
              <a:lnSpc>
                <a:spcPts val="6926"/>
              </a:lnSpc>
            </a:pPr>
            <a:endParaRPr lang="en-US" sz="6926" b="1">
              <a:solidFill>
                <a:srgbClr val="5B3121"/>
              </a:solidFill>
              <a:latin typeface="Agrandir Bold"/>
              <a:ea typeface="Agrandir Bold"/>
              <a:cs typeface="Agrandir Bold"/>
              <a:sym typeface="Agrandir Bold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95068" y="1600448"/>
            <a:ext cx="6987981" cy="5049169"/>
            <a:chOff x="0" y="0"/>
            <a:chExt cx="946411" cy="68383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46411" cy="683830"/>
            </a:xfrm>
            <a:custGeom>
              <a:avLst/>
              <a:gdLst/>
              <a:ahLst/>
              <a:cxnLst/>
              <a:rect l="l" t="t" r="r" b="b"/>
              <a:pathLst>
                <a:path w="946411" h="683830">
                  <a:moveTo>
                    <a:pt x="38776" y="0"/>
                  </a:moveTo>
                  <a:lnTo>
                    <a:pt x="907635" y="0"/>
                  </a:lnTo>
                  <a:cubicBezTo>
                    <a:pt x="917919" y="0"/>
                    <a:pt x="927782" y="4085"/>
                    <a:pt x="935054" y="11357"/>
                  </a:cubicBezTo>
                  <a:cubicBezTo>
                    <a:pt x="942326" y="18629"/>
                    <a:pt x="946411" y="28492"/>
                    <a:pt x="946411" y="38776"/>
                  </a:cubicBezTo>
                  <a:lnTo>
                    <a:pt x="946411" y="645054"/>
                  </a:lnTo>
                  <a:cubicBezTo>
                    <a:pt x="946411" y="655338"/>
                    <a:pt x="942326" y="665201"/>
                    <a:pt x="935054" y="672473"/>
                  </a:cubicBezTo>
                  <a:cubicBezTo>
                    <a:pt x="927782" y="679745"/>
                    <a:pt x="917919" y="683830"/>
                    <a:pt x="907635" y="683830"/>
                  </a:cubicBezTo>
                  <a:lnTo>
                    <a:pt x="38776" y="683830"/>
                  </a:lnTo>
                  <a:cubicBezTo>
                    <a:pt x="28492" y="683830"/>
                    <a:pt x="18629" y="679745"/>
                    <a:pt x="11357" y="672473"/>
                  </a:cubicBezTo>
                  <a:cubicBezTo>
                    <a:pt x="4085" y="665201"/>
                    <a:pt x="0" y="655338"/>
                    <a:pt x="0" y="645054"/>
                  </a:cubicBezTo>
                  <a:lnTo>
                    <a:pt x="0" y="38776"/>
                  </a:lnTo>
                  <a:cubicBezTo>
                    <a:pt x="0" y="28492"/>
                    <a:pt x="4085" y="18629"/>
                    <a:pt x="11357" y="11357"/>
                  </a:cubicBezTo>
                  <a:cubicBezTo>
                    <a:pt x="18629" y="4085"/>
                    <a:pt x="28492" y="0"/>
                    <a:pt x="38776" y="0"/>
                  </a:cubicBezTo>
                  <a:close/>
                </a:path>
              </a:pathLst>
            </a:custGeom>
            <a:blipFill>
              <a:blip r:embed="rId2"/>
              <a:stretch>
                <a:fillRect t="-70133" b="-37594"/>
              </a:stretch>
            </a:blip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MX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2322816" y="6044376"/>
            <a:ext cx="5532484" cy="2727589"/>
            <a:chOff x="0" y="0"/>
            <a:chExt cx="1457151" cy="71841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457151" cy="718414"/>
            </a:xfrm>
            <a:custGeom>
              <a:avLst/>
              <a:gdLst/>
              <a:ahLst/>
              <a:cxnLst/>
              <a:rect l="l" t="t" r="r" b="b"/>
              <a:pathLst>
                <a:path w="1457151" h="718414">
                  <a:moveTo>
                    <a:pt x="1457151" y="48977"/>
                  </a:moveTo>
                  <a:lnTo>
                    <a:pt x="1457151" y="669437"/>
                  </a:lnTo>
                  <a:cubicBezTo>
                    <a:pt x="1457151" y="696486"/>
                    <a:pt x="1435223" y="718414"/>
                    <a:pt x="1408173" y="718414"/>
                  </a:cubicBezTo>
                  <a:lnTo>
                    <a:pt x="48977" y="718414"/>
                  </a:lnTo>
                  <a:cubicBezTo>
                    <a:pt x="35988" y="718414"/>
                    <a:pt x="23530" y="713254"/>
                    <a:pt x="14345" y="704069"/>
                  </a:cubicBezTo>
                  <a:cubicBezTo>
                    <a:pt x="5160" y="694884"/>
                    <a:pt x="0" y="682426"/>
                    <a:pt x="0" y="669437"/>
                  </a:cubicBezTo>
                  <a:lnTo>
                    <a:pt x="0" y="48977"/>
                  </a:lnTo>
                  <a:cubicBezTo>
                    <a:pt x="0" y="35988"/>
                    <a:pt x="5160" y="23530"/>
                    <a:pt x="14345" y="14345"/>
                  </a:cubicBezTo>
                  <a:cubicBezTo>
                    <a:pt x="23530" y="5160"/>
                    <a:pt x="35988" y="0"/>
                    <a:pt x="48977" y="0"/>
                  </a:cubicBezTo>
                  <a:lnTo>
                    <a:pt x="1408173" y="0"/>
                  </a:lnTo>
                  <a:cubicBezTo>
                    <a:pt x="1421163" y="0"/>
                    <a:pt x="1433621" y="5160"/>
                    <a:pt x="1442806" y="14345"/>
                  </a:cubicBezTo>
                  <a:cubicBezTo>
                    <a:pt x="1451991" y="23530"/>
                    <a:pt x="1457151" y="35988"/>
                    <a:pt x="1457151" y="48977"/>
                  </a:cubicBezTo>
                  <a:close/>
                </a:path>
              </a:pathLst>
            </a:custGeom>
            <a:solidFill>
              <a:srgbClr val="5B3121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1457151" cy="7755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0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1434596" y="-253211"/>
            <a:ext cx="7287671" cy="1433633"/>
            <a:chOff x="0" y="0"/>
            <a:chExt cx="1919387" cy="37758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919387" cy="377582"/>
            </a:xfrm>
            <a:custGeom>
              <a:avLst/>
              <a:gdLst/>
              <a:ahLst/>
              <a:cxnLst/>
              <a:rect l="l" t="t" r="r" b="b"/>
              <a:pathLst>
                <a:path w="1919387" h="377582">
                  <a:moveTo>
                    <a:pt x="31870" y="0"/>
                  </a:moveTo>
                  <a:lnTo>
                    <a:pt x="1887517" y="0"/>
                  </a:lnTo>
                  <a:cubicBezTo>
                    <a:pt x="1905118" y="0"/>
                    <a:pt x="1919387" y="14269"/>
                    <a:pt x="1919387" y="31870"/>
                  </a:cubicBezTo>
                  <a:lnTo>
                    <a:pt x="1919387" y="345712"/>
                  </a:lnTo>
                  <a:cubicBezTo>
                    <a:pt x="1919387" y="363314"/>
                    <a:pt x="1905118" y="377582"/>
                    <a:pt x="1887517" y="377582"/>
                  </a:cubicBezTo>
                  <a:lnTo>
                    <a:pt x="31870" y="377582"/>
                  </a:lnTo>
                  <a:cubicBezTo>
                    <a:pt x="14269" y="377582"/>
                    <a:pt x="0" y="363314"/>
                    <a:pt x="0" y="345712"/>
                  </a:cubicBezTo>
                  <a:lnTo>
                    <a:pt x="0" y="31870"/>
                  </a:lnTo>
                  <a:cubicBezTo>
                    <a:pt x="0" y="14269"/>
                    <a:pt x="14269" y="0"/>
                    <a:pt x="31870" y="0"/>
                  </a:cubicBezTo>
                  <a:close/>
                </a:path>
              </a:pathLst>
            </a:custGeom>
            <a:solidFill>
              <a:srgbClr val="5B3121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1919387" cy="4347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0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8670931" y="9221050"/>
            <a:ext cx="5527329" cy="1042446"/>
            <a:chOff x="0" y="0"/>
            <a:chExt cx="1455757" cy="274554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455757" cy="274554"/>
            </a:xfrm>
            <a:custGeom>
              <a:avLst/>
              <a:gdLst/>
              <a:ahLst/>
              <a:cxnLst/>
              <a:rect l="l" t="t" r="r" b="b"/>
              <a:pathLst>
                <a:path w="1455757" h="274554">
                  <a:moveTo>
                    <a:pt x="42020" y="0"/>
                  </a:moveTo>
                  <a:lnTo>
                    <a:pt x="1413738" y="0"/>
                  </a:lnTo>
                  <a:cubicBezTo>
                    <a:pt x="1424882" y="0"/>
                    <a:pt x="1435570" y="4427"/>
                    <a:pt x="1443450" y="12307"/>
                  </a:cubicBezTo>
                  <a:cubicBezTo>
                    <a:pt x="1451330" y="20188"/>
                    <a:pt x="1455757" y="30876"/>
                    <a:pt x="1455757" y="42020"/>
                  </a:cubicBezTo>
                  <a:lnTo>
                    <a:pt x="1455757" y="232534"/>
                  </a:lnTo>
                  <a:cubicBezTo>
                    <a:pt x="1455757" y="255741"/>
                    <a:pt x="1436945" y="274554"/>
                    <a:pt x="1413738" y="274554"/>
                  </a:cubicBezTo>
                  <a:lnTo>
                    <a:pt x="42020" y="274554"/>
                  </a:lnTo>
                  <a:cubicBezTo>
                    <a:pt x="18813" y="274554"/>
                    <a:pt x="0" y="255741"/>
                    <a:pt x="0" y="232534"/>
                  </a:cubicBezTo>
                  <a:lnTo>
                    <a:pt x="0" y="42020"/>
                  </a:lnTo>
                  <a:cubicBezTo>
                    <a:pt x="0" y="18813"/>
                    <a:pt x="18813" y="0"/>
                    <a:pt x="42020" y="0"/>
                  </a:cubicBezTo>
                  <a:close/>
                </a:path>
              </a:pathLst>
            </a:custGeom>
            <a:solidFill>
              <a:srgbClr val="5B3121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57150"/>
              <a:ext cx="1455757" cy="3317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0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 rot="-1825997">
            <a:off x="15650774" y="4160260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4" name="Freeform 14"/>
          <p:cNvSpPr/>
          <p:nvPr/>
        </p:nvSpPr>
        <p:spPr>
          <a:xfrm rot="2549672">
            <a:off x="314112" y="8851444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6" y="0"/>
                </a:lnTo>
                <a:lnTo>
                  <a:pt x="1429176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5" name="Freeform 15"/>
          <p:cNvSpPr/>
          <p:nvPr/>
        </p:nvSpPr>
        <p:spPr>
          <a:xfrm rot="733537">
            <a:off x="7331847" y="-365089"/>
            <a:ext cx="1429175" cy="1096892"/>
          </a:xfrm>
          <a:custGeom>
            <a:avLst/>
            <a:gdLst/>
            <a:ahLst/>
            <a:cxnLst/>
            <a:rect l="l" t="t" r="r" b="b"/>
            <a:pathLst>
              <a:path w="1429175" h="1096892">
                <a:moveTo>
                  <a:pt x="0" y="0"/>
                </a:moveTo>
                <a:lnTo>
                  <a:pt x="1429175" y="0"/>
                </a:lnTo>
                <a:lnTo>
                  <a:pt x="1429175" y="1096892"/>
                </a:lnTo>
                <a:lnTo>
                  <a:pt x="0" y="109689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6" name="Freeform 16"/>
          <p:cNvSpPr/>
          <p:nvPr/>
        </p:nvSpPr>
        <p:spPr>
          <a:xfrm rot="-1420549">
            <a:off x="589570" y="749072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5"/>
                </a:lnTo>
                <a:lnTo>
                  <a:pt x="0" y="92463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7" name="Freeform 17"/>
          <p:cNvSpPr/>
          <p:nvPr/>
        </p:nvSpPr>
        <p:spPr>
          <a:xfrm rot="1896309">
            <a:off x="16087654" y="8794657"/>
            <a:ext cx="1615588" cy="924635"/>
          </a:xfrm>
          <a:custGeom>
            <a:avLst/>
            <a:gdLst/>
            <a:ahLst/>
            <a:cxnLst/>
            <a:rect l="l" t="t" r="r" b="b"/>
            <a:pathLst>
              <a:path w="1615588" h="924635">
                <a:moveTo>
                  <a:pt x="0" y="0"/>
                </a:moveTo>
                <a:lnTo>
                  <a:pt x="1615588" y="0"/>
                </a:lnTo>
                <a:lnTo>
                  <a:pt x="1615588" y="924635"/>
                </a:lnTo>
                <a:lnTo>
                  <a:pt x="0" y="92463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8" name="Freeform 18"/>
          <p:cNvSpPr/>
          <p:nvPr/>
        </p:nvSpPr>
        <p:spPr>
          <a:xfrm flipH="1">
            <a:off x="1063999" y="9258300"/>
            <a:ext cx="531069" cy="531069"/>
          </a:xfrm>
          <a:custGeom>
            <a:avLst/>
            <a:gdLst/>
            <a:ahLst/>
            <a:cxnLst/>
            <a:rect l="l" t="t" r="r" b="b"/>
            <a:pathLst>
              <a:path w="531069" h="531069">
                <a:moveTo>
                  <a:pt x="531069" y="0"/>
                </a:moveTo>
                <a:lnTo>
                  <a:pt x="0" y="0"/>
                </a:lnTo>
                <a:lnTo>
                  <a:pt x="0" y="531069"/>
                </a:lnTo>
                <a:lnTo>
                  <a:pt x="531069" y="531069"/>
                </a:lnTo>
                <a:lnTo>
                  <a:pt x="531069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9" name="TextBox 19"/>
          <p:cNvSpPr txBox="1"/>
          <p:nvPr/>
        </p:nvSpPr>
        <p:spPr>
          <a:xfrm>
            <a:off x="9654411" y="3305175"/>
            <a:ext cx="5799699" cy="2238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8160"/>
              </a:lnSpc>
            </a:pPr>
            <a:r>
              <a:rPr lang="en-US" sz="6800" b="1">
                <a:solidFill>
                  <a:srgbClr val="5B3121"/>
                </a:solidFill>
                <a:latin typeface="Agrandir Bold"/>
                <a:ea typeface="Agrandir Bold"/>
                <a:cs typeface="Agrandir Bold"/>
                <a:sym typeface="Agrandir Bold"/>
              </a:rPr>
              <a:t>Comentario final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242291" y="178692"/>
            <a:ext cx="4361213" cy="4248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>
                <a:solidFill>
                  <a:srgbClr val="5B3121">
                    <a:alpha val="60000"/>
                  </a:srgbClr>
                </a:solidFill>
                <a:latin typeface="Poppins Bold"/>
                <a:ea typeface="Poppins Bold"/>
                <a:cs typeface="Poppins Bold"/>
                <a:sym typeface="Poppins Bold"/>
              </a:rPr>
              <a:t>Proyecto “PetCare”</a:t>
            </a:r>
          </a:p>
        </p:txBody>
      </p:sp>
      <p:sp>
        <p:nvSpPr>
          <p:cNvPr id="21" name="Freeform 21"/>
          <p:cNvSpPr/>
          <p:nvPr/>
        </p:nvSpPr>
        <p:spPr>
          <a:xfrm>
            <a:off x="14351620" y="76583"/>
            <a:ext cx="3868919" cy="952117"/>
          </a:xfrm>
          <a:custGeom>
            <a:avLst/>
            <a:gdLst/>
            <a:ahLst/>
            <a:cxnLst/>
            <a:rect l="l" t="t" r="r" b="b"/>
            <a:pathLst>
              <a:path w="3868919" h="952117">
                <a:moveTo>
                  <a:pt x="0" y="0"/>
                </a:moveTo>
                <a:lnTo>
                  <a:pt x="3868920" y="0"/>
                </a:lnTo>
                <a:lnTo>
                  <a:pt x="3868920" y="952117"/>
                </a:lnTo>
                <a:lnTo>
                  <a:pt x="0" y="95211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1523</Words>
  <Application>Microsoft Office PowerPoint</Application>
  <PresentationFormat>Personalizado</PresentationFormat>
  <Paragraphs>199</Paragraphs>
  <Slides>24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24</vt:i4>
      </vt:variant>
    </vt:vector>
  </HeadingPairs>
  <TitlesOfParts>
    <vt:vector size="32" baseType="lpstr">
      <vt:lpstr>Poppins Italics</vt:lpstr>
      <vt:lpstr>Poppins</vt:lpstr>
      <vt:lpstr>Calibri</vt:lpstr>
      <vt:lpstr>Agrandir Bold</vt:lpstr>
      <vt:lpstr>Arial</vt:lpstr>
      <vt:lpstr>Poppins Bold</vt:lpstr>
      <vt:lpstr>Open Sans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Proyecto</dc:title>
  <cp:lastModifiedBy>Cristobal Mendez Bastias</cp:lastModifiedBy>
  <cp:revision>13</cp:revision>
  <dcterms:created xsi:type="dcterms:W3CDTF">2006-08-16T00:00:00Z</dcterms:created>
  <dcterms:modified xsi:type="dcterms:W3CDTF">2025-11-16T03:33:21Z</dcterms:modified>
  <dc:identifier>DAG3p5dE7o8</dc:identifier>
</cp:coreProperties>
</file>